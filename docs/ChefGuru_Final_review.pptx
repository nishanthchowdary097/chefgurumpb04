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3">
  <p:sldMasterIdLst>
    <p:sldMasterId id="2147483715" r:id="rId1"/>
  </p:sldMasterIdLst>
  <p:notesMasterIdLst>
    <p:notesMasterId r:id="rId42"/>
  </p:notesMasterIdLst>
  <p:sldIdLst>
    <p:sldId id="257" r:id="rId2"/>
    <p:sldId id="258" r:id="rId3"/>
    <p:sldId id="276" r:id="rId4"/>
    <p:sldId id="277" r:id="rId5"/>
    <p:sldId id="259" r:id="rId6"/>
    <p:sldId id="280" r:id="rId7"/>
    <p:sldId id="281" r:id="rId8"/>
    <p:sldId id="260" r:id="rId9"/>
    <p:sldId id="282" r:id="rId10"/>
    <p:sldId id="261" r:id="rId11"/>
    <p:sldId id="313" r:id="rId12"/>
    <p:sldId id="306" r:id="rId13"/>
    <p:sldId id="307" r:id="rId14"/>
    <p:sldId id="284" r:id="rId15"/>
    <p:sldId id="308" r:id="rId16"/>
    <p:sldId id="309" r:id="rId17"/>
    <p:sldId id="285" r:id="rId18"/>
    <p:sldId id="311" r:id="rId19"/>
    <p:sldId id="271" r:id="rId20"/>
    <p:sldId id="298" r:id="rId21"/>
    <p:sldId id="312" r:id="rId22"/>
    <p:sldId id="287" r:id="rId23"/>
    <p:sldId id="290" r:id="rId24"/>
    <p:sldId id="289" r:id="rId25"/>
    <p:sldId id="274" r:id="rId26"/>
    <p:sldId id="293" r:id="rId27"/>
    <p:sldId id="294" r:id="rId28"/>
    <p:sldId id="295" r:id="rId29"/>
    <p:sldId id="296" r:id="rId30"/>
    <p:sldId id="262" r:id="rId31"/>
    <p:sldId id="299" r:id="rId32"/>
    <p:sldId id="310" r:id="rId33"/>
    <p:sldId id="269" r:id="rId34"/>
    <p:sldId id="275" r:id="rId35"/>
    <p:sldId id="270" r:id="rId36"/>
    <p:sldId id="263" r:id="rId37"/>
    <p:sldId id="304" r:id="rId38"/>
    <p:sldId id="264" r:id="rId39"/>
    <p:sldId id="266" r:id="rId40"/>
    <p:sldId id="267"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hams imran" initials="si" lastIdx="1" clrIdx="0">
    <p:extLst>
      <p:ext uri="{19B8F6BF-5375-455C-9EA6-DF929625EA0E}">
        <p15:presenceInfo xmlns:p15="http://schemas.microsoft.com/office/powerpoint/2012/main" userId="d1b58f74f830b9d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5F5"/>
    <a:srgbClr val="EBEBEB"/>
    <a:srgbClr val="C2C2C2"/>
    <a:srgbClr val="E3E3E3"/>
    <a:srgbClr val="EDEDED"/>
    <a:srgbClr val="FAFAFA"/>
    <a:srgbClr val="1ED9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4B3B1A-193A-A06F-2B7C-6DC3A4BDE372}" v="11" dt="2026-04-11T11:19:12.436"/>
    <p1510:client id="{6CE3892C-791A-43EC-A428-651D01F96BA5}" v="446" dt="2026-04-11T15:54:55.656"/>
    <p1510:client id="{7B8C6614-42F9-4F26-BF07-E623F27C0B32}" v="265" dt="2026-04-10T21:19:54.147"/>
    <p1510:client id="{CE4ABC38-C187-4879-BD4C-53F4944F1EB4}" v="1173" dt="2026-04-10T21:23:22.641"/>
    <p1510:client id="{E8855089-20E3-60EB-4AED-9A29AB6D9672}" v="2" dt="2026-04-10T20:00:59.266"/>
  </p1510:revLst>
</p1510:revInfo>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700"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commentAuthors" Target="commentAuthors.xml"/><Relationship Id="rId48"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52170FF-13D7-4686-A292-847321B78B0B}" type="doc">
      <dgm:prSet loTypeId="urn:microsoft.com/office/officeart/2005/8/layout/chevron2" loCatId="process" qsTypeId="urn:microsoft.com/office/officeart/2005/8/quickstyle/simple1" qsCatId="simple" csTypeId="urn:microsoft.com/office/officeart/2005/8/colors/accent0_1" csCatId="mainScheme" phldr="1"/>
      <dgm:spPr/>
      <dgm:t>
        <a:bodyPr/>
        <a:lstStyle/>
        <a:p>
          <a:endParaRPr lang="en-IN"/>
        </a:p>
      </dgm:t>
    </dgm:pt>
    <dgm:pt modelId="{AB8EE361-DE7A-4409-AD5B-3CEBB6727B26}">
      <dgm:prSet custT="1"/>
      <dgm:spPr/>
      <dgm:t>
        <a:bodyPr/>
        <a:lstStyle/>
        <a:p>
          <a:r>
            <a:rPr lang="en-IN" sz="1400" dirty="0">
              <a:latin typeface="Times New Roman" panose="02020603050405020304" pitchFamily="18" charset="0"/>
              <a:cs typeface="Times New Roman" panose="02020603050405020304" pitchFamily="18" charset="0"/>
            </a:rPr>
            <a:t>Functional Validation</a:t>
          </a:r>
        </a:p>
      </dgm:t>
    </dgm:pt>
    <dgm:pt modelId="{6F0C6959-B208-447D-A859-230DA0B99CA9}" type="parTrans" cxnId="{E3F70A8A-AFB4-49C4-B2CD-B3049F199445}">
      <dgm:prSet/>
      <dgm:spPr/>
      <dgm:t>
        <a:bodyPr/>
        <a:lstStyle/>
        <a:p>
          <a:endParaRPr lang="en-IN" sz="2000">
            <a:latin typeface="Times New Roman" panose="02020603050405020304" pitchFamily="18" charset="0"/>
            <a:cs typeface="Times New Roman" panose="02020603050405020304" pitchFamily="18" charset="0"/>
          </a:endParaRPr>
        </a:p>
      </dgm:t>
    </dgm:pt>
    <dgm:pt modelId="{3353F5F7-C835-4220-96F8-2A237439CA47}" type="sibTrans" cxnId="{E3F70A8A-AFB4-49C4-B2CD-B3049F199445}">
      <dgm:prSet/>
      <dgm:spPr/>
      <dgm:t>
        <a:bodyPr/>
        <a:lstStyle/>
        <a:p>
          <a:endParaRPr lang="en-IN" sz="2000">
            <a:latin typeface="Times New Roman" panose="02020603050405020304" pitchFamily="18" charset="0"/>
            <a:cs typeface="Times New Roman" panose="02020603050405020304" pitchFamily="18" charset="0"/>
          </a:endParaRPr>
        </a:p>
      </dgm:t>
    </dgm:pt>
    <dgm:pt modelId="{389B2154-8C33-4C66-BEEB-5D8857D73F84}">
      <dgm:prSet custT="1"/>
      <dgm:spPr/>
      <dgm:t>
        <a:bodyPr/>
        <a:lstStyle/>
        <a:p>
          <a:r>
            <a:rPr lang="en-IN" sz="1400" dirty="0">
              <a:latin typeface="Times New Roman" panose="02020603050405020304" pitchFamily="18" charset="0"/>
              <a:cs typeface="Times New Roman" panose="02020603050405020304" pitchFamily="18" charset="0"/>
            </a:rPr>
            <a:t>Model Validation</a:t>
          </a:r>
        </a:p>
      </dgm:t>
    </dgm:pt>
    <dgm:pt modelId="{21B17A9A-162D-4136-8AF8-04AFED2636A5}" type="parTrans" cxnId="{856A8E85-A7D5-4C96-ADE8-C7420C403D3A}">
      <dgm:prSet/>
      <dgm:spPr/>
      <dgm:t>
        <a:bodyPr/>
        <a:lstStyle/>
        <a:p>
          <a:endParaRPr lang="en-IN" sz="2000">
            <a:latin typeface="Times New Roman" panose="02020603050405020304" pitchFamily="18" charset="0"/>
            <a:cs typeface="Times New Roman" panose="02020603050405020304" pitchFamily="18" charset="0"/>
          </a:endParaRPr>
        </a:p>
      </dgm:t>
    </dgm:pt>
    <dgm:pt modelId="{5C7C339F-E0DA-4468-BF37-ED6B5C83E4F1}" type="sibTrans" cxnId="{856A8E85-A7D5-4C96-ADE8-C7420C403D3A}">
      <dgm:prSet/>
      <dgm:spPr/>
      <dgm:t>
        <a:bodyPr/>
        <a:lstStyle/>
        <a:p>
          <a:endParaRPr lang="en-IN" sz="2000">
            <a:latin typeface="Times New Roman" panose="02020603050405020304" pitchFamily="18" charset="0"/>
            <a:cs typeface="Times New Roman" panose="02020603050405020304" pitchFamily="18" charset="0"/>
          </a:endParaRPr>
        </a:p>
      </dgm:t>
    </dgm:pt>
    <dgm:pt modelId="{0C7D1C7A-6CE2-48B8-BBE7-8E192A228593}">
      <dgm:prSet custT="1"/>
      <dgm:spPr/>
      <dgm:t>
        <a:bodyPr/>
        <a:lstStyle/>
        <a:p>
          <a:pPr algn="l"/>
          <a:r>
            <a:rPr lang="en-US" sz="2000" dirty="0">
              <a:latin typeface="Times New Roman" panose="02020603050405020304" pitchFamily="18" charset="0"/>
              <a:cs typeface="Times New Roman" panose="02020603050405020304" pitchFamily="18" charset="0"/>
            </a:rPr>
            <a:t>Validates ingredient inputs for missing or incorrect entries and ensures preprocessing steps such as normalization and query expansion are correctly applied before recipe generation.</a:t>
          </a:r>
          <a:endParaRPr lang="en-IN" sz="2000" dirty="0">
            <a:latin typeface="Times New Roman" panose="02020603050405020304" pitchFamily="18" charset="0"/>
            <a:cs typeface="Times New Roman" panose="02020603050405020304" pitchFamily="18" charset="0"/>
          </a:endParaRPr>
        </a:p>
      </dgm:t>
    </dgm:pt>
    <dgm:pt modelId="{79EA80AA-2D3A-4040-92C7-9AD390CB0741}" type="parTrans" cxnId="{480D9582-DF52-451E-BD7C-BA54298B5754}">
      <dgm:prSet/>
      <dgm:spPr/>
      <dgm:t>
        <a:bodyPr/>
        <a:lstStyle/>
        <a:p>
          <a:endParaRPr lang="en-IN" sz="2000">
            <a:latin typeface="Times New Roman" panose="02020603050405020304" pitchFamily="18" charset="0"/>
            <a:cs typeface="Times New Roman" panose="02020603050405020304" pitchFamily="18" charset="0"/>
          </a:endParaRPr>
        </a:p>
      </dgm:t>
    </dgm:pt>
    <dgm:pt modelId="{88B1B90E-E4E3-47F5-9F6C-BF6D9AF06783}" type="sibTrans" cxnId="{480D9582-DF52-451E-BD7C-BA54298B5754}">
      <dgm:prSet/>
      <dgm:spPr/>
      <dgm:t>
        <a:bodyPr/>
        <a:lstStyle/>
        <a:p>
          <a:endParaRPr lang="en-IN" sz="2000">
            <a:latin typeface="Times New Roman" panose="02020603050405020304" pitchFamily="18" charset="0"/>
            <a:cs typeface="Times New Roman" panose="02020603050405020304" pitchFamily="18" charset="0"/>
          </a:endParaRPr>
        </a:p>
      </dgm:t>
    </dgm:pt>
    <dgm:pt modelId="{4B7435C9-4158-4A32-995B-35B54EE15EA1}">
      <dgm:prSet custT="1"/>
      <dgm:spPr/>
      <dgm:t>
        <a:bodyPr/>
        <a:lstStyle/>
        <a:p>
          <a:r>
            <a:rPr lang="en-IN" sz="1400" dirty="0">
              <a:latin typeface="Times New Roman" panose="02020603050405020304" pitchFamily="18" charset="0"/>
              <a:cs typeface="Times New Roman" panose="02020603050405020304" pitchFamily="18" charset="0"/>
            </a:rPr>
            <a:t>Performance Validation</a:t>
          </a:r>
        </a:p>
      </dgm:t>
    </dgm:pt>
    <dgm:pt modelId="{9A0D9CCE-CEF9-42CE-B086-2DB51FDA22D2}" type="parTrans" cxnId="{4FB2DA60-F1A1-42B7-940D-1087AEF8FE66}">
      <dgm:prSet/>
      <dgm:spPr/>
      <dgm:t>
        <a:bodyPr/>
        <a:lstStyle/>
        <a:p>
          <a:endParaRPr lang="en-IN" sz="2000">
            <a:latin typeface="Times New Roman" panose="02020603050405020304" pitchFamily="18" charset="0"/>
            <a:cs typeface="Times New Roman" panose="02020603050405020304" pitchFamily="18" charset="0"/>
          </a:endParaRPr>
        </a:p>
      </dgm:t>
    </dgm:pt>
    <dgm:pt modelId="{99543DE2-FC9E-4645-9F54-3A65E6741761}" type="sibTrans" cxnId="{4FB2DA60-F1A1-42B7-940D-1087AEF8FE66}">
      <dgm:prSet/>
      <dgm:spPr/>
      <dgm:t>
        <a:bodyPr/>
        <a:lstStyle/>
        <a:p>
          <a:endParaRPr lang="en-IN" sz="2000">
            <a:latin typeface="Times New Roman" panose="02020603050405020304" pitchFamily="18" charset="0"/>
            <a:cs typeface="Times New Roman" panose="02020603050405020304" pitchFamily="18" charset="0"/>
          </a:endParaRPr>
        </a:p>
      </dgm:t>
    </dgm:pt>
    <dgm:pt modelId="{544B9B90-FCFB-49C2-A866-38A65613CCFE}">
      <dgm:prSet custT="1"/>
      <dgm:spPr/>
      <dgm:t>
        <a:bodyPr/>
        <a:lstStyle/>
        <a:p>
          <a:r>
            <a:rPr lang="en-US" sz="2000" dirty="0">
              <a:latin typeface="Times New Roman" panose="02020603050405020304" pitchFamily="18" charset="0"/>
              <a:cs typeface="Times New Roman" panose="02020603050405020304" pitchFamily="18" charset="0"/>
            </a:rPr>
            <a:t>Evaluates the ability of the system to generate accurate and relevant recipes from different ingredient inputs. Ensures the reliability and consistency of the retrieval and generation pipeline across diverse ingredient combinations.</a:t>
          </a:r>
          <a:endParaRPr lang="en-IN" sz="2000" dirty="0">
            <a:latin typeface="Times New Roman" panose="02020603050405020304" pitchFamily="18" charset="0"/>
            <a:cs typeface="Times New Roman" panose="02020603050405020304" pitchFamily="18" charset="0"/>
          </a:endParaRPr>
        </a:p>
      </dgm:t>
    </dgm:pt>
    <dgm:pt modelId="{95A67C17-758E-49E8-8922-A18D5E7FFB8A}" type="parTrans" cxnId="{56278110-E101-4655-88B0-60E30B3D7377}">
      <dgm:prSet/>
      <dgm:spPr/>
      <dgm:t>
        <a:bodyPr/>
        <a:lstStyle/>
        <a:p>
          <a:endParaRPr lang="en-IN" sz="2000">
            <a:latin typeface="Times New Roman" panose="02020603050405020304" pitchFamily="18" charset="0"/>
            <a:cs typeface="Times New Roman" panose="02020603050405020304" pitchFamily="18" charset="0"/>
          </a:endParaRPr>
        </a:p>
      </dgm:t>
    </dgm:pt>
    <dgm:pt modelId="{8BA87F3D-3BA7-4089-A55E-8347811FFAB3}" type="sibTrans" cxnId="{56278110-E101-4655-88B0-60E30B3D7377}">
      <dgm:prSet/>
      <dgm:spPr/>
      <dgm:t>
        <a:bodyPr/>
        <a:lstStyle/>
        <a:p>
          <a:endParaRPr lang="en-IN" sz="2000">
            <a:latin typeface="Times New Roman" panose="02020603050405020304" pitchFamily="18" charset="0"/>
            <a:cs typeface="Times New Roman" panose="02020603050405020304" pitchFamily="18" charset="0"/>
          </a:endParaRPr>
        </a:p>
      </dgm:t>
    </dgm:pt>
    <dgm:pt modelId="{7E5D09E6-DEB1-4C71-B90E-4A3F707084E6}">
      <dgm:prSet custT="1"/>
      <dgm:spPr/>
      <dgm:t>
        <a:bodyPr/>
        <a:lstStyle/>
        <a:p>
          <a:r>
            <a:rPr lang="en-IN" sz="1400" dirty="0">
              <a:latin typeface="Times New Roman" panose="02020603050405020304" pitchFamily="18" charset="0"/>
              <a:cs typeface="Times New Roman" panose="02020603050405020304" pitchFamily="18" charset="0"/>
            </a:rPr>
            <a:t>Integration Testing</a:t>
          </a:r>
        </a:p>
      </dgm:t>
    </dgm:pt>
    <dgm:pt modelId="{27847047-9E93-4258-A8DA-477213E2AC5A}" type="parTrans" cxnId="{CB512F66-8A04-46B0-8044-9FD1BE202D43}">
      <dgm:prSet/>
      <dgm:spPr/>
      <dgm:t>
        <a:bodyPr/>
        <a:lstStyle/>
        <a:p>
          <a:endParaRPr lang="en-IN" sz="2000">
            <a:latin typeface="Times New Roman" panose="02020603050405020304" pitchFamily="18" charset="0"/>
            <a:cs typeface="Times New Roman" panose="02020603050405020304" pitchFamily="18" charset="0"/>
          </a:endParaRPr>
        </a:p>
      </dgm:t>
    </dgm:pt>
    <dgm:pt modelId="{996E7AA7-2EB3-4E8C-BC06-6692D3FF51A2}" type="sibTrans" cxnId="{CB512F66-8A04-46B0-8044-9FD1BE202D43}">
      <dgm:prSet/>
      <dgm:spPr/>
      <dgm:t>
        <a:bodyPr/>
        <a:lstStyle/>
        <a:p>
          <a:endParaRPr lang="en-IN" sz="2000">
            <a:latin typeface="Times New Roman" panose="02020603050405020304" pitchFamily="18" charset="0"/>
            <a:cs typeface="Times New Roman" panose="02020603050405020304" pitchFamily="18" charset="0"/>
          </a:endParaRPr>
        </a:p>
      </dgm:t>
    </dgm:pt>
    <dgm:pt modelId="{69823482-62EF-4D3E-8DF7-821115D945F3}">
      <dgm:prSet custT="1"/>
      <dgm:spPr/>
      <dgm:t>
        <a:bodyPr/>
        <a:lstStyle/>
        <a:p>
          <a:r>
            <a:rPr lang="en-US" sz="2000" dirty="0">
              <a:latin typeface="Times New Roman" panose="02020603050405020304" pitchFamily="18" charset="0"/>
              <a:cs typeface="Times New Roman" panose="02020603050405020304" pitchFamily="18" charset="0"/>
            </a:rPr>
            <a:t>Measures system efficiency by evaluating recipe generation time for ingredient inputs and overall processing time of the retrieval and generation pipeline, ensuring responses are delivered without significant delay.</a:t>
          </a:r>
          <a:endParaRPr lang="en-IN" sz="2000" dirty="0">
            <a:latin typeface="Times New Roman" panose="02020603050405020304" pitchFamily="18" charset="0"/>
            <a:cs typeface="Times New Roman" panose="02020603050405020304" pitchFamily="18" charset="0"/>
          </a:endParaRPr>
        </a:p>
      </dgm:t>
    </dgm:pt>
    <dgm:pt modelId="{098C54AA-0204-4CEB-924A-14A41F2A881E}" type="parTrans" cxnId="{08DE58FC-B77F-40F9-8448-095D4895F385}">
      <dgm:prSet/>
      <dgm:spPr/>
      <dgm:t>
        <a:bodyPr/>
        <a:lstStyle/>
        <a:p>
          <a:endParaRPr lang="en-IN" sz="2000">
            <a:latin typeface="Times New Roman" panose="02020603050405020304" pitchFamily="18" charset="0"/>
            <a:cs typeface="Times New Roman" panose="02020603050405020304" pitchFamily="18" charset="0"/>
          </a:endParaRPr>
        </a:p>
      </dgm:t>
    </dgm:pt>
    <dgm:pt modelId="{424C954A-5313-4CFC-8395-653D19F18DB3}" type="sibTrans" cxnId="{08DE58FC-B77F-40F9-8448-095D4895F385}">
      <dgm:prSet/>
      <dgm:spPr/>
      <dgm:t>
        <a:bodyPr/>
        <a:lstStyle/>
        <a:p>
          <a:endParaRPr lang="en-IN" sz="2000">
            <a:latin typeface="Times New Roman" panose="02020603050405020304" pitchFamily="18" charset="0"/>
            <a:cs typeface="Times New Roman" panose="02020603050405020304" pitchFamily="18" charset="0"/>
          </a:endParaRPr>
        </a:p>
      </dgm:t>
    </dgm:pt>
    <dgm:pt modelId="{D70C7A0F-F815-44B1-9FE3-380351C5DDAB}">
      <dgm:prSet custT="1"/>
      <dgm:spPr/>
      <dgm:t>
        <a:bodyPr/>
        <a:lstStyle/>
        <a:p>
          <a:r>
            <a:rPr lang="en-IN" sz="1400" dirty="0">
              <a:latin typeface="Times New Roman" panose="02020603050405020304" pitchFamily="18" charset="0"/>
              <a:cs typeface="Times New Roman" panose="02020603050405020304" pitchFamily="18" charset="0"/>
            </a:rPr>
            <a:t>Evaluation Metrics</a:t>
          </a:r>
        </a:p>
      </dgm:t>
    </dgm:pt>
    <dgm:pt modelId="{F5CA3EF0-292D-44D1-8062-21D4505BFA7C}" type="parTrans" cxnId="{2C5C9C34-2838-4D86-A7C3-59E1EDD9604D}">
      <dgm:prSet/>
      <dgm:spPr/>
      <dgm:t>
        <a:bodyPr/>
        <a:lstStyle/>
        <a:p>
          <a:endParaRPr lang="en-IN" sz="2000">
            <a:latin typeface="Times New Roman" panose="02020603050405020304" pitchFamily="18" charset="0"/>
            <a:cs typeface="Times New Roman" panose="02020603050405020304" pitchFamily="18" charset="0"/>
          </a:endParaRPr>
        </a:p>
      </dgm:t>
    </dgm:pt>
    <dgm:pt modelId="{1DF625ED-3251-4E0C-A68D-7F0CDB395E78}" type="sibTrans" cxnId="{2C5C9C34-2838-4D86-A7C3-59E1EDD9604D}">
      <dgm:prSet/>
      <dgm:spPr/>
      <dgm:t>
        <a:bodyPr/>
        <a:lstStyle/>
        <a:p>
          <a:endParaRPr lang="en-IN" sz="2000">
            <a:latin typeface="Times New Roman" panose="02020603050405020304" pitchFamily="18" charset="0"/>
            <a:cs typeface="Times New Roman" panose="02020603050405020304" pitchFamily="18" charset="0"/>
          </a:endParaRPr>
        </a:p>
      </dgm:t>
    </dgm:pt>
    <dgm:pt modelId="{3D9ABBB9-6320-4337-927D-4B248E360192}">
      <dgm:prSet custT="1"/>
      <dgm:spPr/>
      <dgm:t>
        <a:bodyPr/>
        <a:lstStyle/>
        <a:p>
          <a:r>
            <a:rPr lang="en-US" sz="2000" dirty="0">
              <a:latin typeface="Times New Roman" panose="02020603050405020304" pitchFamily="18" charset="0"/>
              <a:cs typeface="Times New Roman" panose="02020603050405020304" pitchFamily="18" charset="0"/>
            </a:rPr>
            <a:t>Verifies seamless communication between the React frontend, backend API, and AI modules, ensuring smooth data flow, correct API responses, and proper synchronization of generated recipes.</a:t>
          </a:r>
          <a:endParaRPr lang="en-IN" sz="2000" dirty="0">
            <a:latin typeface="Times New Roman" panose="02020603050405020304" pitchFamily="18" charset="0"/>
            <a:cs typeface="Times New Roman" panose="02020603050405020304" pitchFamily="18" charset="0"/>
          </a:endParaRPr>
        </a:p>
      </dgm:t>
    </dgm:pt>
    <dgm:pt modelId="{03BBC9C0-95E6-4B42-9C4A-8D4042796ACF}" type="parTrans" cxnId="{164AF0B3-AD62-48E7-9476-BCFE0D6CF904}">
      <dgm:prSet/>
      <dgm:spPr/>
      <dgm:t>
        <a:bodyPr/>
        <a:lstStyle/>
        <a:p>
          <a:endParaRPr lang="en-IN" sz="2000">
            <a:latin typeface="Times New Roman" panose="02020603050405020304" pitchFamily="18" charset="0"/>
            <a:cs typeface="Times New Roman" panose="02020603050405020304" pitchFamily="18" charset="0"/>
          </a:endParaRPr>
        </a:p>
      </dgm:t>
    </dgm:pt>
    <dgm:pt modelId="{E9472DFA-7FC6-49FE-86F6-CEBBD8080549}" type="sibTrans" cxnId="{164AF0B3-AD62-48E7-9476-BCFE0D6CF904}">
      <dgm:prSet/>
      <dgm:spPr/>
      <dgm:t>
        <a:bodyPr/>
        <a:lstStyle/>
        <a:p>
          <a:endParaRPr lang="en-IN" sz="2000">
            <a:latin typeface="Times New Roman" panose="02020603050405020304" pitchFamily="18" charset="0"/>
            <a:cs typeface="Times New Roman" panose="02020603050405020304" pitchFamily="18" charset="0"/>
          </a:endParaRPr>
        </a:p>
      </dgm:t>
    </dgm:pt>
    <dgm:pt modelId="{6E8E35E8-69F1-4207-8A61-219D5A875B27}">
      <dgm:prSet custT="1"/>
      <dgm:spPr/>
      <dgm:t>
        <a:bodyPr/>
        <a:lstStyle/>
        <a:p>
          <a:r>
            <a:rPr lang="en-US" sz="2000" dirty="0">
              <a:latin typeface="Times New Roman" panose="02020603050405020304" pitchFamily="18" charset="0"/>
              <a:cs typeface="Times New Roman" panose="02020603050405020304" pitchFamily="18" charset="0"/>
            </a:rPr>
            <a:t>Assesses system performance by evaluating the relevance, coherence, and ingredient consistency of generated recipes to ensure reliable and practical outputs.</a:t>
          </a:r>
          <a:endParaRPr lang="en-IN" sz="2000" dirty="0">
            <a:latin typeface="Times New Roman" panose="02020603050405020304" pitchFamily="18" charset="0"/>
            <a:cs typeface="Times New Roman" panose="02020603050405020304" pitchFamily="18" charset="0"/>
          </a:endParaRPr>
        </a:p>
      </dgm:t>
    </dgm:pt>
    <dgm:pt modelId="{E7AA10BE-1FFE-4483-B6DB-3BEEEF91CACB}" type="parTrans" cxnId="{B59056A0-C2A9-440B-BADF-2E9DF760B7CC}">
      <dgm:prSet/>
      <dgm:spPr/>
      <dgm:t>
        <a:bodyPr/>
        <a:lstStyle/>
        <a:p>
          <a:endParaRPr lang="en-IN" sz="2000">
            <a:latin typeface="Times New Roman" panose="02020603050405020304" pitchFamily="18" charset="0"/>
            <a:cs typeface="Times New Roman" panose="02020603050405020304" pitchFamily="18" charset="0"/>
          </a:endParaRPr>
        </a:p>
      </dgm:t>
    </dgm:pt>
    <dgm:pt modelId="{77B799D5-80AD-4EFF-9FBB-D469E21CDDA4}" type="sibTrans" cxnId="{B59056A0-C2A9-440B-BADF-2E9DF760B7CC}">
      <dgm:prSet/>
      <dgm:spPr/>
      <dgm:t>
        <a:bodyPr/>
        <a:lstStyle/>
        <a:p>
          <a:endParaRPr lang="en-IN" sz="2000">
            <a:latin typeface="Times New Roman" panose="02020603050405020304" pitchFamily="18" charset="0"/>
            <a:cs typeface="Times New Roman" panose="02020603050405020304" pitchFamily="18" charset="0"/>
          </a:endParaRPr>
        </a:p>
      </dgm:t>
    </dgm:pt>
    <dgm:pt modelId="{B93A2C3E-B073-4DEE-B60A-117DCF97230B}" type="pres">
      <dgm:prSet presAssocID="{F52170FF-13D7-4686-A292-847321B78B0B}" presName="linearFlow" presStyleCnt="0">
        <dgm:presLayoutVars>
          <dgm:dir/>
          <dgm:animLvl val="lvl"/>
          <dgm:resizeHandles val="exact"/>
        </dgm:presLayoutVars>
      </dgm:prSet>
      <dgm:spPr/>
    </dgm:pt>
    <dgm:pt modelId="{BF2A0267-057C-4AF7-BE19-84A27DAF2CD4}" type="pres">
      <dgm:prSet presAssocID="{AB8EE361-DE7A-4409-AD5B-3CEBB6727B26}" presName="composite" presStyleCnt="0"/>
      <dgm:spPr/>
    </dgm:pt>
    <dgm:pt modelId="{A9D27FFB-386D-4BB8-9E3F-1A724B084178}" type="pres">
      <dgm:prSet presAssocID="{AB8EE361-DE7A-4409-AD5B-3CEBB6727B26}" presName="parentText" presStyleLbl="alignNode1" presStyleIdx="0" presStyleCnt="5">
        <dgm:presLayoutVars>
          <dgm:chMax val="1"/>
          <dgm:bulletEnabled val="1"/>
        </dgm:presLayoutVars>
      </dgm:prSet>
      <dgm:spPr/>
    </dgm:pt>
    <dgm:pt modelId="{CDF7260F-7598-4623-9553-8A6D6BC28579}" type="pres">
      <dgm:prSet presAssocID="{AB8EE361-DE7A-4409-AD5B-3CEBB6727B26}" presName="descendantText" presStyleLbl="alignAcc1" presStyleIdx="0" presStyleCnt="5">
        <dgm:presLayoutVars>
          <dgm:bulletEnabled val="1"/>
        </dgm:presLayoutVars>
      </dgm:prSet>
      <dgm:spPr/>
    </dgm:pt>
    <dgm:pt modelId="{D2C2BFB7-37AB-4311-86C1-0B0AFD8A11B8}" type="pres">
      <dgm:prSet presAssocID="{3353F5F7-C835-4220-96F8-2A237439CA47}" presName="sp" presStyleCnt="0"/>
      <dgm:spPr/>
    </dgm:pt>
    <dgm:pt modelId="{5E032CA1-325C-42AE-AC48-A455AC84CD9D}" type="pres">
      <dgm:prSet presAssocID="{389B2154-8C33-4C66-BEEB-5D8857D73F84}" presName="composite" presStyleCnt="0"/>
      <dgm:spPr/>
    </dgm:pt>
    <dgm:pt modelId="{A2DD2C1B-0F32-4CD4-B7EB-AD42A1288F62}" type="pres">
      <dgm:prSet presAssocID="{389B2154-8C33-4C66-BEEB-5D8857D73F84}" presName="parentText" presStyleLbl="alignNode1" presStyleIdx="1" presStyleCnt="5">
        <dgm:presLayoutVars>
          <dgm:chMax val="1"/>
          <dgm:bulletEnabled val="1"/>
        </dgm:presLayoutVars>
      </dgm:prSet>
      <dgm:spPr/>
    </dgm:pt>
    <dgm:pt modelId="{96D8F76E-5A13-4DA9-AAC8-4494458C8499}" type="pres">
      <dgm:prSet presAssocID="{389B2154-8C33-4C66-BEEB-5D8857D73F84}" presName="descendantText" presStyleLbl="alignAcc1" presStyleIdx="1" presStyleCnt="5">
        <dgm:presLayoutVars>
          <dgm:bulletEnabled val="1"/>
        </dgm:presLayoutVars>
      </dgm:prSet>
      <dgm:spPr/>
    </dgm:pt>
    <dgm:pt modelId="{61D5755B-3138-4163-944E-1CADE2CAE910}" type="pres">
      <dgm:prSet presAssocID="{5C7C339F-E0DA-4468-BF37-ED6B5C83E4F1}" presName="sp" presStyleCnt="0"/>
      <dgm:spPr/>
    </dgm:pt>
    <dgm:pt modelId="{F48C69F8-379D-47F1-8882-58E20E8E4579}" type="pres">
      <dgm:prSet presAssocID="{4B7435C9-4158-4A32-995B-35B54EE15EA1}" presName="composite" presStyleCnt="0"/>
      <dgm:spPr/>
    </dgm:pt>
    <dgm:pt modelId="{AC1E46F9-640F-4506-8FF8-6F19851ABE64}" type="pres">
      <dgm:prSet presAssocID="{4B7435C9-4158-4A32-995B-35B54EE15EA1}" presName="parentText" presStyleLbl="alignNode1" presStyleIdx="2" presStyleCnt="5">
        <dgm:presLayoutVars>
          <dgm:chMax val="1"/>
          <dgm:bulletEnabled val="1"/>
        </dgm:presLayoutVars>
      </dgm:prSet>
      <dgm:spPr/>
    </dgm:pt>
    <dgm:pt modelId="{A73703FA-5268-4B01-B9B9-A40D0D758639}" type="pres">
      <dgm:prSet presAssocID="{4B7435C9-4158-4A32-995B-35B54EE15EA1}" presName="descendantText" presStyleLbl="alignAcc1" presStyleIdx="2" presStyleCnt="5">
        <dgm:presLayoutVars>
          <dgm:bulletEnabled val="1"/>
        </dgm:presLayoutVars>
      </dgm:prSet>
      <dgm:spPr/>
    </dgm:pt>
    <dgm:pt modelId="{F812F416-26E1-43A8-B5B5-36EFE4792483}" type="pres">
      <dgm:prSet presAssocID="{99543DE2-FC9E-4645-9F54-3A65E6741761}" presName="sp" presStyleCnt="0"/>
      <dgm:spPr/>
    </dgm:pt>
    <dgm:pt modelId="{F91BEC7C-86FE-483A-ABB3-AF21703898DF}" type="pres">
      <dgm:prSet presAssocID="{7E5D09E6-DEB1-4C71-B90E-4A3F707084E6}" presName="composite" presStyleCnt="0"/>
      <dgm:spPr/>
    </dgm:pt>
    <dgm:pt modelId="{D27F798E-B26C-4DB1-8881-7A857CDBBD6B}" type="pres">
      <dgm:prSet presAssocID="{7E5D09E6-DEB1-4C71-B90E-4A3F707084E6}" presName="parentText" presStyleLbl="alignNode1" presStyleIdx="3" presStyleCnt="5">
        <dgm:presLayoutVars>
          <dgm:chMax val="1"/>
          <dgm:bulletEnabled val="1"/>
        </dgm:presLayoutVars>
      </dgm:prSet>
      <dgm:spPr/>
    </dgm:pt>
    <dgm:pt modelId="{7DCA6C1D-B4C1-4A9F-A525-3B8944C9C931}" type="pres">
      <dgm:prSet presAssocID="{7E5D09E6-DEB1-4C71-B90E-4A3F707084E6}" presName="descendantText" presStyleLbl="alignAcc1" presStyleIdx="3" presStyleCnt="5">
        <dgm:presLayoutVars>
          <dgm:bulletEnabled val="1"/>
        </dgm:presLayoutVars>
      </dgm:prSet>
      <dgm:spPr/>
    </dgm:pt>
    <dgm:pt modelId="{66628102-D384-46E0-9F6B-932E932F2802}" type="pres">
      <dgm:prSet presAssocID="{996E7AA7-2EB3-4E8C-BC06-6692D3FF51A2}" presName="sp" presStyleCnt="0"/>
      <dgm:spPr/>
    </dgm:pt>
    <dgm:pt modelId="{119474B7-3F3D-4F7B-9DF6-F38FC51991CC}" type="pres">
      <dgm:prSet presAssocID="{D70C7A0F-F815-44B1-9FE3-380351C5DDAB}" presName="composite" presStyleCnt="0"/>
      <dgm:spPr/>
    </dgm:pt>
    <dgm:pt modelId="{01686A9C-E45D-41D6-866B-9035B2F6A159}" type="pres">
      <dgm:prSet presAssocID="{D70C7A0F-F815-44B1-9FE3-380351C5DDAB}" presName="parentText" presStyleLbl="alignNode1" presStyleIdx="4" presStyleCnt="5">
        <dgm:presLayoutVars>
          <dgm:chMax val="1"/>
          <dgm:bulletEnabled val="1"/>
        </dgm:presLayoutVars>
      </dgm:prSet>
      <dgm:spPr/>
    </dgm:pt>
    <dgm:pt modelId="{EBC239B4-62E1-4161-88F8-DCCF6089A7E0}" type="pres">
      <dgm:prSet presAssocID="{D70C7A0F-F815-44B1-9FE3-380351C5DDAB}" presName="descendantText" presStyleLbl="alignAcc1" presStyleIdx="4" presStyleCnt="5">
        <dgm:presLayoutVars>
          <dgm:bulletEnabled val="1"/>
        </dgm:presLayoutVars>
      </dgm:prSet>
      <dgm:spPr/>
    </dgm:pt>
  </dgm:ptLst>
  <dgm:cxnLst>
    <dgm:cxn modelId="{C0041201-9343-4A7D-86EB-555811415F88}" type="presOf" srcId="{F52170FF-13D7-4686-A292-847321B78B0B}" destId="{B93A2C3E-B073-4DEE-B60A-117DCF97230B}" srcOrd="0" destOrd="0" presId="urn:microsoft.com/office/officeart/2005/8/layout/chevron2"/>
    <dgm:cxn modelId="{56278110-E101-4655-88B0-60E30B3D7377}" srcId="{389B2154-8C33-4C66-BEEB-5D8857D73F84}" destId="{544B9B90-FCFB-49C2-A866-38A65613CCFE}" srcOrd="0" destOrd="0" parTransId="{95A67C17-758E-49E8-8922-A18D5E7FFB8A}" sibTransId="{8BA87F3D-3BA7-4089-A55E-8347811FFAB3}"/>
    <dgm:cxn modelId="{2C5C9C34-2838-4D86-A7C3-59E1EDD9604D}" srcId="{F52170FF-13D7-4686-A292-847321B78B0B}" destId="{D70C7A0F-F815-44B1-9FE3-380351C5DDAB}" srcOrd="4" destOrd="0" parTransId="{F5CA3EF0-292D-44D1-8062-21D4505BFA7C}" sibTransId="{1DF625ED-3251-4E0C-A68D-7F0CDB395E78}"/>
    <dgm:cxn modelId="{4FB2DA60-F1A1-42B7-940D-1087AEF8FE66}" srcId="{F52170FF-13D7-4686-A292-847321B78B0B}" destId="{4B7435C9-4158-4A32-995B-35B54EE15EA1}" srcOrd="2" destOrd="0" parTransId="{9A0D9CCE-CEF9-42CE-B086-2DB51FDA22D2}" sibTransId="{99543DE2-FC9E-4645-9F54-3A65E6741761}"/>
    <dgm:cxn modelId="{CB512F66-8A04-46B0-8044-9FD1BE202D43}" srcId="{F52170FF-13D7-4686-A292-847321B78B0B}" destId="{7E5D09E6-DEB1-4C71-B90E-4A3F707084E6}" srcOrd="3" destOrd="0" parTransId="{27847047-9E93-4258-A8DA-477213E2AC5A}" sibTransId="{996E7AA7-2EB3-4E8C-BC06-6692D3FF51A2}"/>
    <dgm:cxn modelId="{0EEC3A4D-EBBD-4719-8DCB-3BE383728445}" type="presOf" srcId="{AB8EE361-DE7A-4409-AD5B-3CEBB6727B26}" destId="{A9D27FFB-386D-4BB8-9E3F-1A724B084178}" srcOrd="0" destOrd="0" presId="urn:microsoft.com/office/officeart/2005/8/layout/chevron2"/>
    <dgm:cxn modelId="{480D9582-DF52-451E-BD7C-BA54298B5754}" srcId="{AB8EE361-DE7A-4409-AD5B-3CEBB6727B26}" destId="{0C7D1C7A-6CE2-48B8-BBE7-8E192A228593}" srcOrd="0" destOrd="0" parTransId="{79EA80AA-2D3A-4040-92C7-9AD390CB0741}" sibTransId="{88B1B90E-E4E3-47F5-9F6C-BF6D9AF06783}"/>
    <dgm:cxn modelId="{856A8E85-A7D5-4C96-ADE8-C7420C403D3A}" srcId="{F52170FF-13D7-4686-A292-847321B78B0B}" destId="{389B2154-8C33-4C66-BEEB-5D8857D73F84}" srcOrd="1" destOrd="0" parTransId="{21B17A9A-162D-4136-8AF8-04AFED2636A5}" sibTransId="{5C7C339F-E0DA-4468-BF37-ED6B5C83E4F1}"/>
    <dgm:cxn modelId="{2D791288-BD00-4BAA-ADA2-FAD2E6C87F54}" type="presOf" srcId="{6E8E35E8-69F1-4207-8A61-219D5A875B27}" destId="{EBC239B4-62E1-4161-88F8-DCCF6089A7E0}" srcOrd="0" destOrd="0" presId="urn:microsoft.com/office/officeart/2005/8/layout/chevron2"/>
    <dgm:cxn modelId="{E3F70A8A-AFB4-49C4-B2CD-B3049F199445}" srcId="{F52170FF-13D7-4686-A292-847321B78B0B}" destId="{AB8EE361-DE7A-4409-AD5B-3CEBB6727B26}" srcOrd="0" destOrd="0" parTransId="{6F0C6959-B208-447D-A859-230DA0B99CA9}" sibTransId="{3353F5F7-C835-4220-96F8-2A237439CA47}"/>
    <dgm:cxn modelId="{71D9888C-90D2-40DC-9407-5D216DA2473B}" type="presOf" srcId="{544B9B90-FCFB-49C2-A866-38A65613CCFE}" destId="{96D8F76E-5A13-4DA9-AAC8-4494458C8499}" srcOrd="0" destOrd="0" presId="urn:microsoft.com/office/officeart/2005/8/layout/chevron2"/>
    <dgm:cxn modelId="{7382968E-AE96-428E-AFAE-EA2C25A75AC2}" type="presOf" srcId="{4B7435C9-4158-4A32-995B-35B54EE15EA1}" destId="{AC1E46F9-640F-4506-8FF8-6F19851ABE64}" srcOrd="0" destOrd="0" presId="urn:microsoft.com/office/officeart/2005/8/layout/chevron2"/>
    <dgm:cxn modelId="{6AACFF98-CA67-40E7-8C1D-13BAF3BAD729}" type="presOf" srcId="{7E5D09E6-DEB1-4C71-B90E-4A3F707084E6}" destId="{D27F798E-B26C-4DB1-8881-7A857CDBBD6B}" srcOrd="0" destOrd="0" presId="urn:microsoft.com/office/officeart/2005/8/layout/chevron2"/>
    <dgm:cxn modelId="{B59056A0-C2A9-440B-BADF-2E9DF760B7CC}" srcId="{D70C7A0F-F815-44B1-9FE3-380351C5DDAB}" destId="{6E8E35E8-69F1-4207-8A61-219D5A875B27}" srcOrd="0" destOrd="0" parTransId="{E7AA10BE-1FFE-4483-B6DB-3BEEEF91CACB}" sibTransId="{77B799D5-80AD-4EFF-9FBB-D469E21CDDA4}"/>
    <dgm:cxn modelId="{164AF0B3-AD62-48E7-9476-BCFE0D6CF904}" srcId="{7E5D09E6-DEB1-4C71-B90E-4A3F707084E6}" destId="{3D9ABBB9-6320-4337-927D-4B248E360192}" srcOrd="0" destOrd="0" parTransId="{03BBC9C0-95E6-4B42-9C4A-8D4042796ACF}" sibTransId="{E9472DFA-7FC6-49FE-86F6-CEBBD8080549}"/>
    <dgm:cxn modelId="{0A3803BD-1499-4BCF-AAFC-EA1BF016498A}" type="presOf" srcId="{3D9ABBB9-6320-4337-927D-4B248E360192}" destId="{7DCA6C1D-B4C1-4A9F-A525-3B8944C9C931}" srcOrd="0" destOrd="0" presId="urn:microsoft.com/office/officeart/2005/8/layout/chevron2"/>
    <dgm:cxn modelId="{EC4A02C2-9F72-4FCB-BC79-09470F63976D}" type="presOf" srcId="{0C7D1C7A-6CE2-48B8-BBE7-8E192A228593}" destId="{CDF7260F-7598-4623-9553-8A6D6BC28579}" srcOrd="0" destOrd="0" presId="urn:microsoft.com/office/officeart/2005/8/layout/chevron2"/>
    <dgm:cxn modelId="{8AE627C5-F014-4841-AFD1-62771ABAC3B9}" type="presOf" srcId="{389B2154-8C33-4C66-BEEB-5D8857D73F84}" destId="{A2DD2C1B-0F32-4CD4-B7EB-AD42A1288F62}" srcOrd="0" destOrd="0" presId="urn:microsoft.com/office/officeart/2005/8/layout/chevron2"/>
    <dgm:cxn modelId="{F3C4A5EA-49DE-4905-A56B-ECC8486ED84F}" type="presOf" srcId="{69823482-62EF-4D3E-8DF7-821115D945F3}" destId="{A73703FA-5268-4B01-B9B9-A40D0D758639}" srcOrd="0" destOrd="0" presId="urn:microsoft.com/office/officeart/2005/8/layout/chevron2"/>
    <dgm:cxn modelId="{B09531F5-A10A-4631-947C-C1E10259B793}" type="presOf" srcId="{D70C7A0F-F815-44B1-9FE3-380351C5DDAB}" destId="{01686A9C-E45D-41D6-866B-9035B2F6A159}" srcOrd="0" destOrd="0" presId="urn:microsoft.com/office/officeart/2005/8/layout/chevron2"/>
    <dgm:cxn modelId="{08DE58FC-B77F-40F9-8448-095D4895F385}" srcId="{4B7435C9-4158-4A32-995B-35B54EE15EA1}" destId="{69823482-62EF-4D3E-8DF7-821115D945F3}" srcOrd="0" destOrd="0" parTransId="{098C54AA-0204-4CEB-924A-14A41F2A881E}" sibTransId="{424C954A-5313-4CFC-8395-653D19F18DB3}"/>
    <dgm:cxn modelId="{9A5BDC05-5CEF-4508-8618-F796954F9C68}" type="presParOf" srcId="{B93A2C3E-B073-4DEE-B60A-117DCF97230B}" destId="{BF2A0267-057C-4AF7-BE19-84A27DAF2CD4}" srcOrd="0" destOrd="0" presId="urn:microsoft.com/office/officeart/2005/8/layout/chevron2"/>
    <dgm:cxn modelId="{CF42C612-DE7E-47A8-9E70-97BFE203DCDB}" type="presParOf" srcId="{BF2A0267-057C-4AF7-BE19-84A27DAF2CD4}" destId="{A9D27FFB-386D-4BB8-9E3F-1A724B084178}" srcOrd="0" destOrd="0" presId="urn:microsoft.com/office/officeart/2005/8/layout/chevron2"/>
    <dgm:cxn modelId="{9564F01E-5735-41EB-84EC-30FC3E87881A}" type="presParOf" srcId="{BF2A0267-057C-4AF7-BE19-84A27DAF2CD4}" destId="{CDF7260F-7598-4623-9553-8A6D6BC28579}" srcOrd="1" destOrd="0" presId="urn:microsoft.com/office/officeart/2005/8/layout/chevron2"/>
    <dgm:cxn modelId="{43614578-9B96-4067-B4B2-B6547F6CD153}" type="presParOf" srcId="{B93A2C3E-B073-4DEE-B60A-117DCF97230B}" destId="{D2C2BFB7-37AB-4311-86C1-0B0AFD8A11B8}" srcOrd="1" destOrd="0" presId="urn:microsoft.com/office/officeart/2005/8/layout/chevron2"/>
    <dgm:cxn modelId="{4F3FD6C9-978D-488B-957F-A913AA75BFE3}" type="presParOf" srcId="{B93A2C3E-B073-4DEE-B60A-117DCF97230B}" destId="{5E032CA1-325C-42AE-AC48-A455AC84CD9D}" srcOrd="2" destOrd="0" presId="urn:microsoft.com/office/officeart/2005/8/layout/chevron2"/>
    <dgm:cxn modelId="{A7771967-41E6-40CB-BE72-870E793C0ABC}" type="presParOf" srcId="{5E032CA1-325C-42AE-AC48-A455AC84CD9D}" destId="{A2DD2C1B-0F32-4CD4-B7EB-AD42A1288F62}" srcOrd="0" destOrd="0" presId="urn:microsoft.com/office/officeart/2005/8/layout/chevron2"/>
    <dgm:cxn modelId="{3A7969C3-AC7D-4B19-BC0B-827DC9F3431E}" type="presParOf" srcId="{5E032CA1-325C-42AE-AC48-A455AC84CD9D}" destId="{96D8F76E-5A13-4DA9-AAC8-4494458C8499}" srcOrd="1" destOrd="0" presId="urn:microsoft.com/office/officeart/2005/8/layout/chevron2"/>
    <dgm:cxn modelId="{91916348-ACCC-4C2E-98EB-A47694A1AFD8}" type="presParOf" srcId="{B93A2C3E-B073-4DEE-B60A-117DCF97230B}" destId="{61D5755B-3138-4163-944E-1CADE2CAE910}" srcOrd="3" destOrd="0" presId="urn:microsoft.com/office/officeart/2005/8/layout/chevron2"/>
    <dgm:cxn modelId="{437983B2-7D91-4C92-925C-C031FD97ECC5}" type="presParOf" srcId="{B93A2C3E-B073-4DEE-B60A-117DCF97230B}" destId="{F48C69F8-379D-47F1-8882-58E20E8E4579}" srcOrd="4" destOrd="0" presId="urn:microsoft.com/office/officeart/2005/8/layout/chevron2"/>
    <dgm:cxn modelId="{A1F931FE-5AB0-4966-B220-6E62490BC5E5}" type="presParOf" srcId="{F48C69F8-379D-47F1-8882-58E20E8E4579}" destId="{AC1E46F9-640F-4506-8FF8-6F19851ABE64}" srcOrd="0" destOrd="0" presId="urn:microsoft.com/office/officeart/2005/8/layout/chevron2"/>
    <dgm:cxn modelId="{AFCBD68B-3300-4DF4-BC93-C7AAD5CE5975}" type="presParOf" srcId="{F48C69F8-379D-47F1-8882-58E20E8E4579}" destId="{A73703FA-5268-4B01-B9B9-A40D0D758639}" srcOrd="1" destOrd="0" presId="urn:microsoft.com/office/officeart/2005/8/layout/chevron2"/>
    <dgm:cxn modelId="{116E0585-485C-41F1-BA1F-1500AEA3D753}" type="presParOf" srcId="{B93A2C3E-B073-4DEE-B60A-117DCF97230B}" destId="{F812F416-26E1-43A8-B5B5-36EFE4792483}" srcOrd="5" destOrd="0" presId="urn:microsoft.com/office/officeart/2005/8/layout/chevron2"/>
    <dgm:cxn modelId="{4D54E378-6067-4BEE-A289-92A2644597A0}" type="presParOf" srcId="{B93A2C3E-B073-4DEE-B60A-117DCF97230B}" destId="{F91BEC7C-86FE-483A-ABB3-AF21703898DF}" srcOrd="6" destOrd="0" presId="urn:microsoft.com/office/officeart/2005/8/layout/chevron2"/>
    <dgm:cxn modelId="{BBB341FE-DEA1-4B30-A7BB-02BC9570DADB}" type="presParOf" srcId="{F91BEC7C-86FE-483A-ABB3-AF21703898DF}" destId="{D27F798E-B26C-4DB1-8881-7A857CDBBD6B}" srcOrd="0" destOrd="0" presId="urn:microsoft.com/office/officeart/2005/8/layout/chevron2"/>
    <dgm:cxn modelId="{1EAB8FF1-9463-46BA-A998-B6874FF699D9}" type="presParOf" srcId="{F91BEC7C-86FE-483A-ABB3-AF21703898DF}" destId="{7DCA6C1D-B4C1-4A9F-A525-3B8944C9C931}" srcOrd="1" destOrd="0" presId="urn:microsoft.com/office/officeart/2005/8/layout/chevron2"/>
    <dgm:cxn modelId="{5167F5D4-E9D3-4087-A175-0D702F404B7C}" type="presParOf" srcId="{B93A2C3E-B073-4DEE-B60A-117DCF97230B}" destId="{66628102-D384-46E0-9F6B-932E932F2802}" srcOrd="7" destOrd="0" presId="urn:microsoft.com/office/officeart/2005/8/layout/chevron2"/>
    <dgm:cxn modelId="{2BB2E355-5751-42D2-B35B-16AF51AA66F2}" type="presParOf" srcId="{B93A2C3E-B073-4DEE-B60A-117DCF97230B}" destId="{119474B7-3F3D-4F7B-9DF6-F38FC51991CC}" srcOrd="8" destOrd="0" presId="urn:microsoft.com/office/officeart/2005/8/layout/chevron2"/>
    <dgm:cxn modelId="{A657F4A5-D927-428D-8BF9-DFC00DE297BC}" type="presParOf" srcId="{119474B7-3F3D-4F7B-9DF6-F38FC51991CC}" destId="{01686A9C-E45D-41D6-866B-9035B2F6A159}" srcOrd="0" destOrd="0" presId="urn:microsoft.com/office/officeart/2005/8/layout/chevron2"/>
    <dgm:cxn modelId="{3F1C5B8D-7A39-4C11-A1F8-1FE5068A00EF}" type="presParOf" srcId="{119474B7-3F3D-4F7B-9DF6-F38FC51991CC}" destId="{EBC239B4-62E1-4161-88F8-DCCF6089A7E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D27FFB-386D-4BB8-9E3F-1A724B084178}">
      <dsp:nvSpPr>
        <dsp:cNvPr id="0" name=""/>
        <dsp:cNvSpPr/>
      </dsp:nvSpPr>
      <dsp:spPr>
        <a:xfrm rot="5400000">
          <a:off x="-191018" y="194609"/>
          <a:ext cx="1273458" cy="891421"/>
        </a:xfrm>
        <a:prstGeom prst="chevron">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IN" sz="1400" kern="1200" dirty="0">
              <a:latin typeface="Times New Roman" panose="02020603050405020304" pitchFamily="18" charset="0"/>
              <a:cs typeface="Times New Roman" panose="02020603050405020304" pitchFamily="18" charset="0"/>
            </a:rPr>
            <a:t>Functional Validation</a:t>
          </a:r>
        </a:p>
      </dsp:txBody>
      <dsp:txXfrm rot="-5400000">
        <a:off x="1" y="449302"/>
        <a:ext cx="891421" cy="382037"/>
      </dsp:txXfrm>
    </dsp:sp>
    <dsp:sp modelId="{CDF7260F-7598-4623-9553-8A6D6BC28579}">
      <dsp:nvSpPr>
        <dsp:cNvPr id="0" name=""/>
        <dsp:cNvSpPr/>
      </dsp:nvSpPr>
      <dsp:spPr>
        <a:xfrm rot="5400000">
          <a:off x="5197978" y="-4302966"/>
          <a:ext cx="828183" cy="9441298"/>
        </a:xfrm>
        <a:prstGeom prst="round2SameRect">
          <a:avLst/>
        </a:prstGeom>
        <a:solidFill>
          <a:schemeClr val="dk1">
            <a:alpha val="90000"/>
            <a:tint val="40000"/>
            <a:hueOff val="0"/>
            <a:satOff val="0"/>
            <a:lumOff val="0"/>
            <a:alphaOff val="0"/>
          </a:schemeClr>
        </a:solidFill>
        <a:ln w="12700" cap="flat" cmpd="sng" algn="ctr">
          <a:solidFill>
            <a:schemeClr val="dk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latin typeface="Times New Roman" panose="02020603050405020304" pitchFamily="18" charset="0"/>
              <a:cs typeface="Times New Roman" panose="02020603050405020304" pitchFamily="18" charset="0"/>
            </a:rPr>
            <a:t>Validates ingredient inputs for missing or incorrect entries and ensures preprocessing steps such as normalization and query expansion are correctly applied before recipe generation.</a:t>
          </a:r>
          <a:endParaRPr lang="en-IN" sz="2000" kern="1200" dirty="0">
            <a:latin typeface="Times New Roman" panose="02020603050405020304" pitchFamily="18" charset="0"/>
            <a:cs typeface="Times New Roman" panose="02020603050405020304" pitchFamily="18" charset="0"/>
          </a:endParaRPr>
        </a:p>
      </dsp:txBody>
      <dsp:txXfrm rot="-5400000">
        <a:off x="891421" y="44020"/>
        <a:ext cx="9400869" cy="747325"/>
      </dsp:txXfrm>
    </dsp:sp>
    <dsp:sp modelId="{A2DD2C1B-0F32-4CD4-B7EB-AD42A1288F62}">
      <dsp:nvSpPr>
        <dsp:cNvPr id="0" name=""/>
        <dsp:cNvSpPr/>
      </dsp:nvSpPr>
      <dsp:spPr>
        <a:xfrm rot="5400000">
          <a:off x="-191018" y="1352701"/>
          <a:ext cx="1273458" cy="891421"/>
        </a:xfrm>
        <a:prstGeom prst="chevron">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IN" sz="1400" kern="1200" dirty="0">
              <a:latin typeface="Times New Roman" panose="02020603050405020304" pitchFamily="18" charset="0"/>
              <a:cs typeface="Times New Roman" panose="02020603050405020304" pitchFamily="18" charset="0"/>
            </a:rPr>
            <a:t>Model Validation</a:t>
          </a:r>
        </a:p>
      </dsp:txBody>
      <dsp:txXfrm rot="-5400000">
        <a:off x="1" y="1607394"/>
        <a:ext cx="891421" cy="382037"/>
      </dsp:txXfrm>
    </dsp:sp>
    <dsp:sp modelId="{96D8F76E-5A13-4DA9-AAC8-4494458C8499}">
      <dsp:nvSpPr>
        <dsp:cNvPr id="0" name=""/>
        <dsp:cNvSpPr/>
      </dsp:nvSpPr>
      <dsp:spPr>
        <a:xfrm rot="5400000">
          <a:off x="5198196" y="-3145092"/>
          <a:ext cx="827748" cy="9441298"/>
        </a:xfrm>
        <a:prstGeom prst="round2SameRect">
          <a:avLst/>
        </a:prstGeom>
        <a:solidFill>
          <a:schemeClr val="dk1">
            <a:alpha val="90000"/>
            <a:tint val="40000"/>
            <a:hueOff val="0"/>
            <a:satOff val="0"/>
            <a:lumOff val="0"/>
            <a:alphaOff val="0"/>
          </a:schemeClr>
        </a:solidFill>
        <a:ln w="12700" cap="flat" cmpd="sng" algn="ctr">
          <a:solidFill>
            <a:schemeClr val="dk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latin typeface="Times New Roman" panose="02020603050405020304" pitchFamily="18" charset="0"/>
              <a:cs typeface="Times New Roman" panose="02020603050405020304" pitchFamily="18" charset="0"/>
            </a:rPr>
            <a:t>Evaluates the ability of the system to generate accurate and relevant recipes from different ingredient inputs. Ensures the reliability and consistency of the retrieval and generation pipeline across diverse ingredient combinations.</a:t>
          </a:r>
          <a:endParaRPr lang="en-IN" sz="2000" kern="1200" dirty="0">
            <a:latin typeface="Times New Roman" panose="02020603050405020304" pitchFamily="18" charset="0"/>
            <a:cs typeface="Times New Roman" panose="02020603050405020304" pitchFamily="18" charset="0"/>
          </a:endParaRPr>
        </a:p>
      </dsp:txBody>
      <dsp:txXfrm rot="-5400000">
        <a:off x="891422" y="1202089"/>
        <a:ext cx="9400891" cy="746934"/>
      </dsp:txXfrm>
    </dsp:sp>
    <dsp:sp modelId="{AC1E46F9-640F-4506-8FF8-6F19851ABE64}">
      <dsp:nvSpPr>
        <dsp:cNvPr id="0" name=""/>
        <dsp:cNvSpPr/>
      </dsp:nvSpPr>
      <dsp:spPr>
        <a:xfrm rot="5400000">
          <a:off x="-191018" y="2510793"/>
          <a:ext cx="1273458" cy="891421"/>
        </a:xfrm>
        <a:prstGeom prst="chevron">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IN" sz="1400" kern="1200" dirty="0">
              <a:latin typeface="Times New Roman" panose="02020603050405020304" pitchFamily="18" charset="0"/>
              <a:cs typeface="Times New Roman" panose="02020603050405020304" pitchFamily="18" charset="0"/>
            </a:rPr>
            <a:t>Performance Validation</a:t>
          </a:r>
        </a:p>
      </dsp:txBody>
      <dsp:txXfrm rot="-5400000">
        <a:off x="1" y="2765486"/>
        <a:ext cx="891421" cy="382037"/>
      </dsp:txXfrm>
    </dsp:sp>
    <dsp:sp modelId="{A73703FA-5268-4B01-B9B9-A40D0D758639}">
      <dsp:nvSpPr>
        <dsp:cNvPr id="0" name=""/>
        <dsp:cNvSpPr/>
      </dsp:nvSpPr>
      <dsp:spPr>
        <a:xfrm rot="5400000">
          <a:off x="5198196" y="-1987000"/>
          <a:ext cx="827748" cy="9441298"/>
        </a:xfrm>
        <a:prstGeom prst="round2SameRect">
          <a:avLst/>
        </a:prstGeom>
        <a:solidFill>
          <a:schemeClr val="dk1">
            <a:alpha val="90000"/>
            <a:tint val="40000"/>
            <a:hueOff val="0"/>
            <a:satOff val="0"/>
            <a:lumOff val="0"/>
            <a:alphaOff val="0"/>
          </a:schemeClr>
        </a:solidFill>
        <a:ln w="12700" cap="flat" cmpd="sng" algn="ctr">
          <a:solidFill>
            <a:schemeClr val="dk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latin typeface="Times New Roman" panose="02020603050405020304" pitchFamily="18" charset="0"/>
              <a:cs typeface="Times New Roman" panose="02020603050405020304" pitchFamily="18" charset="0"/>
            </a:rPr>
            <a:t>Measures system efficiency by evaluating recipe generation time for ingredient inputs and overall processing time of the retrieval and generation pipeline, ensuring responses are delivered without significant delay.</a:t>
          </a:r>
          <a:endParaRPr lang="en-IN" sz="2000" kern="1200" dirty="0">
            <a:latin typeface="Times New Roman" panose="02020603050405020304" pitchFamily="18" charset="0"/>
            <a:cs typeface="Times New Roman" panose="02020603050405020304" pitchFamily="18" charset="0"/>
          </a:endParaRPr>
        </a:p>
      </dsp:txBody>
      <dsp:txXfrm rot="-5400000">
        <a:off x="891422" y="2360181"/>
        <a:ext cx="9400891" cy="746934"/>
      </dsp:txXfrm>
    </dsp:sp>
    <dsp:sp modelId="{D27F798E-B26C-4DB1-8881-7A857CDBBD6B}">
      <dsp:nvSpPr>
        <dsp:cNvPr id="0" name=""/>
        <dsp:cNvSpPr/>
      </dsp:nvSpPr>
      <dsp:spPr>
        <a:xfrm rot="5400000">
          <a:off x="-191018" y="3668885"/>
          <a:ext cx="1273458" cy="891421"/>
        </a:xfrm>
        <a:prstGeom prst="chevron">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IN" sz="1400" kern="1200" dirty="0">
              <a:latin typeface="Times New Roman" panose="02020603050405020304" pitchFamily="18" charset="0"/>
              <a:cs typeface="Times New Roman" panose="02020603050405020304" pitchFamily="18" charset="0"/>
            </a:rPr>
            <a:t>Integration Testing</a:t>
          </a:r>
        </a:p>
      </dsp:txBody>
      <dsp:txXfrm rot="-5400000">
        <a:off x="1" y="3923578"/>
        <a:ext cx="891421" cy="382037"/>
      </dsp:txXfrm>
    </dsp:sp>
    <dsp:sp modelId="{7DCA6C1D-B4C1-4A9F-A525-3B8944C9C931}">
      <dsp:nvSpPr>
        <dsp:cNvPr id="0" name=""/>
        <dsp:cNvSpPr/>
      </dsp:nvSpPr>
      <dsp:spPr>
        <a:xfrm rot="5400000">
          <a:off x="5198196" y="-828908"/>
          <a:ext cx="827748" cy="9441298"/>
        </a:xfrm>
        <a:prstGeom prst="round2SameRect">
          <a:avLst/>
        </a:prstGeom>
        <a:solidFill>
          <a:schemeClr val="dk1">
            <a:alpha val="90000"/>
            <a:tint val="40000"/>
            <a:hueOff val="0"/>
            <a:satOff val="0"/>
            <a:lumOff val="0"/>
            <a:alphaOff val="0"/>
          </a:schemeClr>
        </a:solidFill>
        <a:ln w="12700" cap="flat" cmpd="sng" algn="ctr">
          <a:solidFill>
            <a:schemeClr val="dk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latin typeface="Times New Roman" panose="02020603050405020304" pitchFamily="18" charset="0"/>
              <a:cs typeface="Times New Roman" panose="02020603050405020304" pitchFamily="18" charset="0"/>
            </a:rPr>
            <a:t>Verifies seamless communication between the React frontend, backend API, and AI modules, ensuring smooth data flow, correct API responses, and proper synchronization of generated recipes.</a:t>
          </a:r>
          <a:endParaRPr lang="en-IN" sz="2000" kern="1200" dirty="0">
            <a:latin typeface="Times New Roman" panose="02020603050405020304" pitchFamily="18" charset="0"/>
            <a:cs typeface="Times New Roman" panose="02020603050405020304" pitchFamily="18" charset="0"/>
          </a:endParaRPr>
        </a:p>
      </dsp:txBody>
      <dsp:txXfrm rot="-5400000">
        <a:off x="891422" y="3518273"/>
        <a:ext cx="9400891" cy="746934"/>
      </dsp:txXfrm>
    </dsp:sp>
    <dsp:sp modelId="{01686A9C-E45D-41D6-866B-9035B2F6A159}">
      <dsp:nvSpPr>
        <dsp:cNvPr id="0" name=""/>
        <dsp:cNvSpPr/>
      </dsp:nvSpPr>
      <dsp:spPr>
        <a:xfrm rot="5400000">
          <a:off x="-191018" y="4826976"/>
          <a:ext cx="1273458" cy="891421"/>
        </a:xfrm>
        <a:prstGeom prst="chevron">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IN" sz="1400" kern="1200" dirty="0">
              <a:latin typeface="Times New Roman" panose="02020603050405020304" pitchFamily="18" charset="0"/>
              <a:cs typeface="Times New Roman" panose="02020603050405020304" pitchFamily="18" charset="0"/>
            </a:rPr>
            <a:t>Evaluation Metrics</a:t>
          </a:r>
        </a:p>
      </dsp:txBody>
      <dsp:txXfrm rot="-5400000">
        <a:off x="1" y="5081669"/>
        <a:ext cx="891421" cy="382037"/>
      </dsp:txXfrm>
    </dsp:sp>
    <dsp:sp modelId="{EBC239B4-62E1-4161-88F8-DCCF6089A7E0}">
      <dsp:nvSpPr>
        <dsp:cNvPr id="0" name=""/>
        <dsp:cNvSpPr/>
      </dsp:nvSpPr>
      <dsp:spPr>
        <a:xfrm rot="5400000">
          <a:off x="5198196" y="329182"/>
          <a:ext cx="827748" cy="9441298"/>
        </a:xfrm>
        <a:prstGeom prst="round2SameRect">
          <a:avLst/>
        </a:prstGeom>
        <a:solidFill>
          <a:schemeClr val="dk1">
            <a:alpha val="90000"/>
            <a:tint val="40000"/>
            <a:hueOff val="0"/>
            <a:satOff val="0"/>
            <a:lumOff val="0"/>
            <a:alphaOff val="0"/>
          </a:schemeClr>
        </a:solidFill>
        <a:ln w="12700" cap="flat" cmpd="sng" algn="ctr">
          <a:solidFill>
            <a:schemeClr val="dk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latin typeface="Times New Roman" panose="02020603050405020304" pitchFamily="18" charset="0"/>
              <a:cs typeface="Times New Roman" panose="02020603050405020304" pitchFamily="18" charset="0"/>
            </a:rPr>
            <a:t>Assesses system performance by evaluating the relevance, coherence, and ingredient consistency of generated recipes to ensure reliable and practical outputs.</a:t>
          </a:r>
          <a:endParaRPr lang="en-IN" sz="2000" kern="1200" dirty="0">
            <a:latin typeface="Times New Roman" panose="02020603050405020304" pitchFamily="18" charset="0"/>
            <a:cs typeface="Times New Roman" panose="02020603050405020304" pitchFamily="18" charset="0"/>
          </a:endParaRPr>
        </a:p>
      </dsp:txBody>
      <dsp:txXfrm rot="-5400000">
        <a:off x="891422" y="4676364"/>
        <a:ext cx="9400891" cy="746934"/>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44DF12-0994-4271-BD41-6E56B7C98B8C}" type="datetimeFigureOut">
              <a:rPr lang="en-US" smtClean="0"/>
              <a:t>4/18/2026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FE85E1-DC80-42BE-8F0C-357667C01093}" type="slidenum">
              <a:rPr lang="en-US" smtClean="0"/>
              <a:t>‹#›</a:t>
            </a:fld>
            <a:endParaRPr lang="en-US" dirty="0"/>
          </a:p>
        </p:txBody>
      </p:sp>
    </p:spTree>
    <p:extLst>
      <p:ext uri="{BB962C8B-B14F-4D97-AF65-F5344CB8AC3E}">
        <p14:creationId xmlns:p14="http://schemas.microsoft.com/office/powerpoint/2010/main" val="27551712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0" name="Google Shape;170;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1" name="Google Shape;171;p1: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4" name="Google Shape;19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a:extLst>
            <a:ext uri="{FF2B5EF4-FFF2-40B4-BE49-F238E27FC236}">
              <a16:creationId xmlns:a16="http://schemas.microsoft.com/office/drawing/2014/main" id="{A101EA40-91F3-BBE8-AF8F-5142638D3E98}"/>
            </a:ext>
          </a:extLst>
        </p:cNvPr>
        <p:cNvGrpSpPr/>
        <p:nvPr/>
      </p:nvGrpSpPr>
      <p:grpSpPr>
        <a:xfrm>
          <a:off x="0" y="0"/>
          <a:ext cx="0" cy="0"/>
          <a:chOff x="0" y="0"/>
          <a:chExt cx="0" cy="0"/>
        </a:xfrm>
      </p:grpSpPr>
      <p:sp>
        <p:nvSpPr>
          <p:cNvPr id="200" name="Google Shape;200;p5:notes">
            <a:extLst>
              <a:ext uri="{FF2B5EF4-FFF2-40B4-BE49-F238E27FC236}">
                <a16:creationId xmlns:a16="http://schemas.microsoft.com/office/drawing/2014/main" id="{B5952564-3BA7-4EAA-5FDE-9B30DBAC73E5}"/>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5:notes">
            <a:extLst>
              <a:ext uri="{FF2B5EF4-FFF2-40B4-BE49-F238E27FC236}">
                <a16:creationId xmlns:a16="http://schemas.microsoft.com/office/drawing/2014/main" id="{CB000126-C268-8260-059B-2D50BF52523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560069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a:extLst>
            <a:ext uri="{FF2B5EF4-FFF2-40B4-BE49-F238E27FC236}">
              <a16:creationId xmlns:a16="http://schemas.microsoft.com/office/drawing/2014/main" id="{281FAB37-65B0-C361-218D-EF4CC7B2C8B4}"/>
            </a:ext>
          </a:extLst>
        </p:cNvPr>
        <p:cNvGrpSpPr/>
        <p:nvPr/>
      </p:nvGrpSpPr>
      <p:grpSpPr>
        <a:xfrm>
          <a:off x="0" y="0"/>
          <a:ext cx="0" cy="0"/>
          <a:chOff x="0" y="0"/>
          <a:chExt cx="0" cy="0"/>
        </a:xfrm>
      </p:grpSpPr>
      <p:sp>
        <p:nvSpPr>
          <p:cNvPr id="200" name="Google Shape;200;p5:notes">
            <a:extLst>
              <a:ext uri="{FF2B5EF4-FFF2-40B4-BE49-F238E27FC236}">
                <a16:creationId xmlns:a16="http://schemas.microsoft.com/office/drawing/2014/main" id="{A9D87C6A-AA20-D34F-3B6B-A02C286D219C}"/>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5:notes">
            <a:extLst>
              <a:ext uri="{FF2B5EF4-FFF2-40B4-BE49-F238E27FC236}">
                <a16:creationId xmlns:a16="http://schemas.microsoft.com/office/drawing/2014/main" id="{7014A457-7C8C-1A3E-8062-FCBE31AE2F9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649212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a:extLst>
            <a:ext uri="{FF2B5EF4-FFF2-40B4-BE49-F238E27FC236}">
              <a16:creationId xmlns:a16="http://schemas.microsoft.com/office/drawing/2014/main" id="{CDF67C79-FA2A-AEA2-C9EA-53CE00696EF0}"/>
            </a:ext>
          </a:extLst>
        </p:cNvPr>
        <p:cNvGrpSpPr/>
        <p:nvPr/>
      </p:nvGrpSpPr>
      <p:grpSpPr>
        <a:xfrm>
          <a:off x="0" y="0"/>
          <a:ext cx="0" cy="0"/>
          <a:chOff x="0" y="0"/>
          <a:chExt cx="0" cy="0"/>
        </a:xfrm>
      </p:grpSpPr>
      <p:sp>
        <p:nvSpPr>
          <p:cNvPr id="200" name="Google Shape;200;p5:notes">
            <a:extLst>
              <a:ext uri="{FF2B5EF4-FFF2-40B4-BE49-F238E27FC236}">
                <a16:creationId xmlns:a16="http://schemas.microsoft.com/office/drawing/2014/main" id="{CD191617-174E-83B6-243A-007393C23D43}"/>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5:notes">
            <a:extLst>
              <a:ext uri="{FF2B5EF4-FFF2-40B4-BE49-F238E27FC236}">
                <a16:creationId xmlns:a16="http://schemas.microsoft.com/office/drawing/2014/main" id="{144FDBD8-1DDC-C03C-976A-5374524D80F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001014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a:extLst>
            <a:ext uri="{FF2B5EF4-FFF2-40B4-BE49-F238E27FC236}">
              <a16:creationId xmlns:a16="http://schemas.microsoft.com/office/drawing/2014/main" id="{5992751C-1FBE-CE76-5A89-79ADCEE8B977}"/>
            </a:ext>
          </a:extLst>
        </p:cNvPr>
        <p:cNvGrpSpPr/>
        <p:nvPr/>
      </p:nvGrpSpPr>
      <p:grpSpPr>
        <a:xfrm>
          <a:off x="0" y="0"/>
          <a:ext cx="0" cy="0"/>
          <a:chOff x="0" y="0"/>
          <a:chExt cx="0" cy="0"/>
        </a:xfrm>
      </p:grpSpPr>
      <p:sp>
        <p:nvSpPr>
          <p:cNvPr id="200" name="Google Shape;200;p5:notes">
            <a:extLst>
              <a:ext uri="{FF2B5EF4-FFF2-40B4-BE49-F238E27FC236}">
                <a16:creationId xmlns:a16="http://schemas.microsoft.com/office/drawing/2014/main" id="{053B8239-7B0C-ED41-B0FA-0C2426B758B3}"/>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5:notes">
            <a:extLst>
              <a:ext uri="{FF2B5EF4-FFF2-40B4-BE49-F238E27FC236}">
                <a16:creationId xmlns:a16="http://schemas.microsoft.com/office/drawing/2014/main" id="{7C0D8316-87D5-14E9-35D7-8BD553521E1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483129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a:extLst>
            <a:ext uri="{FF2B5EF4-FFF2-40B4-BE49-F238E27FC236}">
              <a16:creationId xmlns:a16="http://schemas.microsoft.com/office/drawing/2014/main" id="{E6068A2F-D61D-5DA0-B47A-CA9B7BB2A5F9}"/>
            </a:ext>
          </a:extLst>
        </p:cNvPr>
        <p:cNvGrpSpPr/>
        <p:nvPr/>
      </p:nvGrpSpPr>
      <p:grpSpPr>
        <a:xfrm>
          <a:off x="0" y="0"/>
          <a:ext cx="0" cy="0"/>
          <a:chOff x="0" y="0"/>
          <a:chExt cx="0" cy="0"/>
        </a:xfrm>
      </p:grpSpPr>
      <p:sp>
        <p:nvSpPr>
          <p:cNvPr id="200" name="Google Shape;200;p5:notes">
            <a:extLst>
              <a:ext uri="{FF2B5EF4-FFF2-40B4-BE49-F238E27FC236}">
                <a16:creationId xmlns:a16="http://schemas.microsoft.com/office/drawing/2014/main" id="{A5D43057-748C-D218-1E41-FD387C653682}"/>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5:notes">
            <a:extLst>
              <a:ext uri="{FF2B5EF4-FFF2-40B4-BE49-F238E27FC236}">
                <a16:creationId xmlns:a16="http://schemas.microsoft.com/office/drawing/2014/main" id="{9F1D7DB3-B6C7-459A-5828-9A17061D6A6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412726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8" name="Google Shape;208;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a:extLst>
            <a:ext uri="{FF2B5EF4-FFF2-40B4-BE49-F238E27FC236}">
              <a16:creationId xmlns:a16="http://schemas.microsoft.com/office/drawing/2014/main" id="{17B7D5DA-12AA-DB54-A611-B86C0C04FC42}"/>
            </a:ext>
          </a:extLst>
        </p:cNvPr>
        <p:cNvGrpSpPr/>
        <p:nvPr/>
      </p:nvGrpSpPr>
      <p:grpSpPr>
        <a:xfrm>
          <a:off x="0" y="0"/>
          <a:ext cx="0" cy="0"/>
          <a:chOff x="0" y="0"/>
          <a:chExt cx="0" cy="0"/>
        </a:xfrm>
      </p:grpSpPr>
      <p:sp>
        <p:nvSpPr>
          <p:cNvPr id="207" name="Google Shape;207;p6:notes">
            <a:extLst>
              <a:ext uri="{FF2B5EF4-FFF2-40B4-BE49-F238E27FC236}">
                <a16:creationId xmlns:a16="http://schemas.microsoft.com/office/drawing/2014/main" id="{102652F2-3775-9D5A-49BC-F3DF90695DF7}"/>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8" name="Google Shape;208;p6:notes">
            <a:extLst>
              <a:ext uri="{FF2B5EF4-FFF2-40B4-BE49-F238E27FC236}">
                <a16:creationId xmlns:a16="http://schemas.microsoft.com/office/drawing/2014/main" id="{92EC5B21-5F41-7C71-8982-B72FFA26D33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485401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a:extLst>
            <a:ext uri="{FF2B5EF4-FFF2-40B4-BE49-F238E27FC236}">
              <a16:creationId xmlns:a16="http://schemas.microsoft.com/office/drawing/2014/main" id="{F25C355B-6009-5DFA-958B-E47242A9F645}"/>
            </a:ext>
          </a:extLst>
        </p:cNvPr>
        <p:cNvGrpSpPr/>
        <p:nvPr/>
      </p:nvGrpSpPr>
      <p:grpSpPr>
        <a:xfrm>
          <a:off x="0" y="0"/>
          <a:ext cx="0" cy="0"/>
          <a:chOff x="0" y="0"/>
          <a:chExt cx="0" cy="0"/>
        </a:xfrm>
      </p:grpSpPr>
      <p:sp>
        <p:nvSpPr>
          <p:cNvPr id="207" name="Google Shape;207;p6:notes">
            <a:extLst>
              <a:ext uri="{FF2B5EF4-FFF2-40B4-BE49-F238E27FC236}">
                <a16:creationId xmlns:a16="http://schemas.microsoft.com/office/drawing/2014/main" id="{19E9C355-6899-F680-96CC-9744421F4834}"/>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8" name="Google Shape;208;p6:notes">
            <a:extLst>
              <a:ext uri="{FF2B5EF4-FFF2-40B4-BE49-F238E27FC236}">
                <a16:creationId xmlns:a16="http://schemas.microsoft.com/office/drawing/2014/main" id="{04D0FF27-818F-3931-E9A4-FA5BBE50315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461230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a:extLst>
            <a:ext uri="{FF2B5EF4-FFF2-40B4-BE49-F238E27FC236}">
              <a16:creationId xmlns:a16="http://schemas.microsoft.com/office/drawing/2014/main" id="{D6160D72-F00C-36B7-5EE6-A6CA31D92371}"/>
            </a:ext>
          </a:extLst>
        </p:cNvPr>
        <p:cNvGrpSpPr/>
        <p:nvPr/>
      </p:nvGrpSpPr>
      <p:grpSpPr>
        <a:xfrm>
          <a:off x="0" y="0"/>
          <a:ext cx="0" cy="0"/>
          <a:chOff x="0" y="0"/>
          <a:chExt cx="0" cy="0"/>
        </a:xfrm>
      </p:grpSpPr>
      <p:sp>
        <p:nvSpPr>
          <p:cNvPr id="207" name="Google Shape;207;p6:notes">
            <a:extLst>
              <a:ext uri="{FF2B5EF4-FFF2-40B4-BE49-F238E27FC236}">
                <a16:creationId xmlns:a16="http://schemas.microsoft.com/office/drawing/2014/main" id="{C1242121-DCDC-9BCE-F19C-756AEE0AB810}"/>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8" name="Google Shape;208;p6:notes">
            <a:extLst>
              <a:ext uri="{FF2B5EF4-FFF2-40B4-BE49-F238E27FC236}">
                <a16:creationId xmlns:a16="http://schemas.microsoft.com/office/drawing/2014/main" id="{A1ED9E6C-1831-EB07-5383-D3F36E9B6C9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106249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a:extLst>
            <a:ext uri="{FF2B5EF4-FFF2-40B4-BE49-F238E27FC236}">
              <a16:creationId xmlns:a16="http://schemas.microsoft.com/office/drawing/2014/main" id="{3CB0EB42-CA44-1714-9FFD-60D8278D28FA}"/>
            </a:ext>
          </a:extLst>
        </p:cNvPr>
        <p:cNvGrpSpPr/>
        <p:nvPr/>
      </p:nvGrpSpPr>
      <p:grpSpPr>
        <a:xfrm>
          <a:off x="0" y="0"/>
          <a:ext cx="0" cy="0"/>
          <a:chOff x="0" y="0"/>
          <a:chExt cx="0" cy="0"/>
        </a:xfrm>
      </p:grpSpPr>
      <p:sp>
        <p:nvSpPr>
          <p:cNvPr id="207" name="Google Shape;207;p6:notes">
            <a:extLst>
              <a:ext uri="{FF2B5EF4-FFF2-40B4-BE49-F238E27FC236}">
                <a16:creationId xmlns:a16="http://schemas.microsoft.com/office/drawing/2014/main" id="{8E503146-A43A-9F7B-38FA-2BB733A865D6}"/>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8" name="Google Shape;208;p6:notes">
            <a:extLst>
              <a:ext uri="{FF2B5EF4-FFF2-40B4-BE49-F238E27FC236}">
                <a16:creationId xmlns:a16="http://schemas.microsoft.com/office/drawing/2014/main" id="{C8958092-14C3-3BF2-33E2-422DD94DE9C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2698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5" name="Google Shape;215;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a:extLst>
            <a:ext uri="{FF2B5EF4-FFF2-40B4-BE49-F238E27FC236}">
              <a16:creationId xmlns:a16="http://schemas.microsoft.com/office/drawing/2014/main" id="{A0D0CB5F-C740-42BA-0212-75492C16F875}"/>
            </a:ext>
          </a:extLst>
        </p:cNvPr>
        <p:cNvGrpSpPr/>
        <p:nvPr/>
      </p:nvGrpSpPr>
      <p:grpSpPr>
        <a:xfrm>
          <a:off x="0" y="0"/>
          <a:ext cx="0" cy="0"/>
          <a:chOff x="0" y="0"/>
          <a:chExt cx="0" cy="0"/>
        </a:xfrm>
      </p:grpSpPr>
      <p:sp>
        <p:nvSpPr>
          <p:cNvPr id="214" name="Google Shape;214;p7:notes">
            <a:extLst>
              <a:ext uri="{FF2B5EF4-FFF2-40B4-BE49-F238E27FC236}">
                <a16:creationId xmlns:a16="http://schemas.microsoft.com/office/drawing/2014/main" id="{91E119A5-E5C3-A229-054E-974D75E0AD34}"/>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5" name="Google Shape;215;p7:notes">
            <a:extLst>
              <a:ext uri="{FF2B5EF4-FFF2-40B4-BE49-F238E27FC236}">
                <a16:creationId xmlns:a16="http://schemas.microsoft.com/office/drawing/2014/main" id="{8F29174F-B3FE-828B-728A-577507DA42E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535019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a:extLst>
            <a:ext uri="{FF2B5EF4-FFF2-40B4-BE49-F238E27FC236}">
              <a16:creationId xmlns:a16="http://schemas.microsoft.com/office/drawing/2014/main" id="{DE238E0C-97A4-1A08-115C-EBBB4E9D7173}"/>
            </a:ext>
          </a:extLst>
        </p:cNvPr>
        <p:cNvGrpSpPr/>
        <p:nvPr/>
      </p:nvGrpSpPr>
      <p:grpSpPr>
        <a:xfrm>
          <a:off x="0" y="0"/>
          <a:ext cx="0" cy="0"/>
          <a:chOff x="0" y="0"/>
          <a:chExt cx="0" cy="0"/>
        </a:xfrm>
      </p:grpSpPr>
      <p:sp>
        <p:nvSpPr>
          <p:cNvPr id="214" name="Google Shape;214;p7:notes">
            <a:extLst>
              <a:ext uri="{FF2B5EF4-FFF2-40B4-BE49-F238E27FC236}">
                <a16:creationId xmlns:a16="http://schemas.microsoft.com/office/drawing/2014/main" id="{B26BED82-108B-50D8-E31B-BAD9D17F0C7F}"/>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5" name="Google Shape;215;p7:notes">
            <a:extLst>
              <a:ext uri="{FF2B5EF4-FFF2-40B4-BE49-F238E27FC236}">
                <a16:creationId xmlns:a16="http://schemas.microsoft.com/office/drawing/2014/main" id="{EBA49463-D2DF-27C9-2113-7A3BE83F79B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535490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a:extLst>
            <a:ext uri="{FF2B5EF4-FFF2-40B4-BE49-F238E27FC236}">
              <a16:creationId xmlns:a16="http://schemas.microsoft.com/office/drawing/2014/main" id="{9ABF7497-D073-6327-8936-31973EC00F7A}"/>
            </a:ext>
          </a:extLst>
        </p:cNvPr>
        <p:cNvGrpSpPr/>
        <p:nvPr/>
      </p:nvGrpSpPr>
      <p:grpSpPr>
        <a:xfrm>
          <a:off x="0" y="0"/>
          <a:ext cx="0" cy="0"/>
          <a:chOff x="0" y="0"/>
          <a:chExt cx="0" cy="0"/>
        </a:xfrm>
      </p:grpSpPr>
      <p:sp>
        <p:nvSpPr>
          <p:cNvPr id="214" name="Google Shape;214;p7:notes">
            <a:extLst>
              <a:ext uri="{FF2B5EF4-FFF2-40B4-BE49-F238E27FC236}">
                <a16:creationId xmlns:a16="http://schemas.microsoft.com/office/drawing/2014/main" id="{89AD90B4-1DCB-6399-F472-8F29BA82A593}"/>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5" name="Google Shape;215;p7:notes">
            <a:extLst>
              <a:ext uri="{FF2B5EF4-FFF2-40B4-BE49-F238E27FC236}">
                <a16:creationId xmlns:a16="http://schemas.microsoft.com/office/drawing/2014/main" id="{E93054C8-2E56-1F08-A0C1-7E1AF426D7D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693961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a:extLst>
            <a:ext uri="{FF2B5EF4-FFF2-40B4-BE49-F238E27FC236}">
              <a16:creationId xmlns:a16="http://schemas.microsoft.com/office/drawing/2014/main" id="{D8DB32C9-988A-8BEA-1452-381F19FF49B3}"/>
            </a:ext>
          </a:extLst>
        </p:cNvPr>
        <p:cNvGrpSpPr/>
        <p:nvPr/>
      </p:nvGrpSpPr>
      <p:grpSpPr>
        <a:xfrm>
          <a:off x="0" y="0"/>
          <a:ext cx="0" cy="0"/>
          <a:chOff x="0" y="0"/>
          <a:chExt cx="0" cy="0"/>
        </a:xfrm>
      </p:grpSpPr>
      <p:sp>
        <p:nvSpPr>
          <p:cNvPr id="214" name="Google Shape;214;p7:notes">
            <a:extLst>
              <a:ext uri="{FF2B5EF4-FFF2-40B4-BE49-F238E27FC236}">
                <a16:creationId xmlns:a16="http://schemas.microsoft.com/office/drawing/2014/main" id="{4E1CBBCD-E253-1342-67FF-F2C2ED1286BE}"/>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5" name="Google Shape;215;p7:notes">
            <a:extLst>
              <a:ext uri="{FF2B5EF4-FFF2-40B4-BE49-F238E27FC236}">
                <a16:creationId xmlns:a16="http://schemas.microsoft.com/office/drawing/2014/main" id="{708F54CF-2209-0F4D-631D-82334213DA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655493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a:extLst>
            <a:ext uri="{FF2B5EF4-FFF2-40B4-BE49-F238E27FC236}">
              <a16:creationId xmlns:a16="http://schemas.microsoft.com/office/drawing/2014/main" id="{355A1CEF-1FA9-9867-DAB2-1A86445DE1D6}"/>
            </a:ext>
          </a:extLst>
        </p:cNvPr>
        <p:cNvGrpSpPr/>
        <p:nvPr/>
      </p:nvGrpSpPr>
      <p:grpSpPr>
        <a:xfrm>
          <a:off x="0" y="0"/>
          <a:ext cx="0" cy="0"/>
          <a:chOff x="0" y="0"/>
          <a:chExt cx="0" cy="0"/>
        </a:xfrm>
      </p:grpSpPr>
      <p:sp>
        <p:nvSpPr>
          <p:cNvPr id="221" name="Google Shape;221;p8:notes">
            <a:extLst>
              <a:ext uri="{FF2B5EF4-FFF2-40B4-BE49-F238E27FC236}">
                <a16:creationId xmlns:a16="http://schemas.microsoft.com/office/drawing/2014/main" id="{16C3F7C7-B7C9-9C08-1CA9-42774D838717}"/>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p8:notes">
            <a:extLst>
              <a:ext uri="{FF2B5EF4-FFF2-40B4-BE49-F238E27FC236}">
                <a16:creationId xmlns:a16="http://schemas.microsoft.com/office/drawing/2014/main" id="{81FD5EC3-40EF-42E6-E28A-879CC5A10CA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628073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9" name="Google Shape;22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1" name="Google Shape;241;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47" name="Google Shape;247;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4" name="Date Placeholder 3"/>
          <p:cNvSpPr>
            <a:spLocks noGrp="1"/>
          </p:cNvSpPr>
          <p:nvPr>
            <p:ph type="dt" sz="half" idx="10"/>
          </p:nvPr>
        </p:nvSpPr>
        <p:spPr/>
        <p:txBody>
          <a:bodyPr/>
          <a:lstStyle/>
          <a:p>
            <a:fld id="{AD4DB23D-2FC1-4C00-88BD-FE154F8C3E74}" type="datetime1">
              <a:rPr lang="en-US" smtClean="0"/>
              <a:t>4/18/2026</a:t>
            </a:fld>
            <a:endParaRPr lang="en-US" dirty="0"/>
          </a:p>
        </p:txBody>
      </p:sp>
      <p:sp>
        <p:nvSpPr>
          <p:cNvPr id="5" name="Footer Placeholder 4"/>
          <p:cNvSpPr>
            <a:spLocks noGrp="1"/>
          </p:cNvSpPr>
          <p:nvPr>
            <p:ph type="ftr" sz="quarter" idx="11"/>
          </p:nvPr>
        </p:nvSpPr>
        <p:spPr/>
        <p:txBody>
          <a:bodyPr/>
          <a:lstStyle/>
          <a:p>
            <a:r>
              <a:rPr lang="en-US" dirty="0"/>
              <a:t>An Explainable Ensemble Machine Learning Framework for Intrusion Detection in IoT</a:t>
            </a:r>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FC6BEB0F-7D1A-4CFC-9A6C-0E77E068DA9D}" type="slidenum">
              <a:rPr lang="en-US" smtClean="0"/>
              <a:t>‹#›</a:t>
            </a:fld>
            <a:endParaRPr lang="en-US" dirty="0"/>
          </a:p>
        </p:txBody>
      </p:sp>
    </p:spTree>
    <p:extLst>
      <p:ext uri="{BB962C8B-B14F-4D97-AF65-F5344CB8AC3E}">
        <p14:creationId xmlns:p14="http://schemas.microsoft.com/office/powerpoint/2010/main" val="7829057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CD55AD0-26A6-4234-8808-6F0F8D534BD6}" type="datetime1">
              <a:rPr lang="en-US" smtClean="0"/>
              <a:t>4/18/2026</a:t>
            </a:fld>
            <a:endParaRPr lang="en-US" dirty="0"/>
          </a:p>
        </p:txBody>
      </p:sp>
      <p:sp>
        <p:nvSpPr>
          <p:cNvPr id="5" name="Footer Placeholder 4"/>
          <p:cNvSpPr>
            <a:spLocks noGrp="1"/>
          </p:cNvSpPr>
          <p:nvPr>
            <p:ph type="ftr" sz="quarter" idx="11"/>
          </p:nvPr>
        </p:nvSpPr>
        <p:spPr/>
        <p:txBody>
          <a:bodyPr/>
          <a:lstStyle/>
          <a:p>
            <a:r>
              <a:rPr lang="en-US" dirty="0"/>
              <a:t>An Explainable Ensemble Machine Learning Framework for Intrusion Detection in IoT</a:t>
            </a:r>
          </a:p>
        </p:txBody>
      </p:sp>
      <p:sp>
        <p:nvSpPr>
          <p:cNvPr id="6" name="Slide Number Placeholder 5"/>
          <p:cNvSpPr>
            <a:spLocks noGrp="1"/>
          </p:cNvSpPr>
          <p:nvPr>
            <p:ph type="sldNum" sz="quarter" idx="12"/>
          </p:nvPr>
        </p:nvSpPr>
        <p:spPr/>
        <p:txBody>
          <a:bodyPr/>
          <a:lstStyle/>
          <a:p>
            <a:fld id="{FC6BEB0F-7D1A-4CFC-9A6C-0E77E068DA9D}" type="slidenum">
              <a:rPr lang="en-US" smtClean="0"/>
              <a:t>‹#›</a:t>
            </a:fld>
            <a:endParaRPr lang="en-US" dirty="0"/>
          </a:p>
        </p:txBody>
      </p:sp>
    </p:spTree>
    <p:extLst>
      <p:ext uri="{BB962C8B-B14F-4D97-AF65-F5344CB8AC3E}">
        <p14:creationId xmlns:p14="http://schemas.microsoft.com/office/powerpoint/2010/main" val="4185893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F42D5946-F366-44D5-9C97-3CF653A55BE1}" type="datetime1">
              <a:rPr lang="en-US" smtClean="0"/>
              <a:t>4/18/2026</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r>
              <a:rPr lang="en-US" dirty="0"/>
              <a:t>An Explainable Ensemble Machine Learning Framework for Intrusion Detection in IoT</a:t>
            </a:r>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FC6BEB0F-7D1A-4CFC-9A6C-0E77E068DA9D}" type="slidenum">
              <a:rPr lang="en-US" smtClean="0"/>
              <a:t>‹#›</a:t>
            </a:fld>
            <a:endParaRPr lang="en-US" dirty="0"/>
          </a:p>
        </p:txBody>
      </p:sp>
    </p:spTree>
    <p:extLst>
      <p:ext uri="{BB962C8B-B14F-4D97-AF65-F5344CB8AC3E}">
        <p14:creationId xmlns:p14="http://schemas.microsoft.com/office/powerpoint/2010/main" val="20260514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0E5C577-9DCC-48C2-B331-07C09518DF4F}" type="datetime1">
              <a:rPr lang="en-US" smtClean="0"/>
              <a:t>4/18/2026</a:t>
            </a:fld>
            <a:endParaRPr lang="en-US" dirty="0"/>
          </a:p>
        </p:txBody>
      </p:sp>
      <p:sp>
        <p:nvSpPr>
          <p:cNvPr id="6" name="Footer Placeholder 5"/>
          <p:cNvSpPr>
            <a:spLocks noGrp="1"/>
          </p:cNvSpPr>
          <p:nvPr>
            <p:ph type="ftr" sz="quarter" idx="11"/>
          </p:nvPr>
        </p:nvSpPr>
        <p:spPr/>
        <p:txBody>
          <a:bodyPr/>
          <a:lstStyle/>
          <a:p>
            <a:r>
              <a:rPr lang="en-US" dirty="0"/>
              <a:t>An Explainable Ensemble Machine Learning Framework for Intrusion Detection in IoT</a:t>
            </a:r>
          </a:p>
        </p:txBody>
      </p:sp>
      <p:sp>
        <p:nvSpPr>
          <p:cNvPr id="7" name="Slide Number Placeholder 6"/>
          <p:cNvSpPr>
            <a:spLocks noGrp="1"/>
          </p:cNvSpPr>
          <p:nvPr>
            <p:ph type="sldNum" sz="quarter" idx="12"/>
          </p:nvPr>
        </p:nvSpPr>
        <p:spPr/>
        <p:txBody>
          <a:bodyPr/>
          <a:lstStyle/>
          <a:p>
            <a:fld id="{FC6BEB0F-7D1A-4CFC-9A6C-0E77E068DA9D}" type="slidenum">
              <a:rPr lang="en-US" smtClean="0"/>
              <a:t>‹#›</a:t>
            </a:fld>
            <a:endParaRPr lang="en-US" dirty="0"/>
          </a:p>
        </p:txBody>
      </p:sp>
    </p:spTree>
    <p:extLst>
      <p:ext uri="{BB962C8B-B14F-4D97-AF65-F5344CB8AC3E}">
        <p14:creationId xmlns:p14="http://schemas.microsoft.com/office/powerpoint/2010/main" val="37789352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19DF2D2-C58F-4795-AC7A-BED95CE3AAF3}" type="datetime1">
              <a:rPr lang="en-US" smtClean="0"/>
              <a:t>4/18/2026</a:t>
            </a:fld>
            <a:endParaRPr lang="en-US" dirty="0"/>
          </a:p>
        </p:txBody>
      </p:sp>
      <p:sp>
        <p:nvSpPr>
          <p:cNvPr id="8" name="Footer Placeholder 7"/>
          <p:cNvSpPr>
            <a:spLocks noGrp="1"/>
          </p:cNvSpPr>
          <p:nvPr>
            <p:ph type="ftr" sz="quarter" idx="11"/>
          </p:nvPr>
        </p:nvSpPr>
        <p:spPr/>
        <p:txBody>
          <a:bodyPr/>
          <a:lstStyle/>
          <a:p>
            <a:r>
              <a:rPr lang="en-US" dirty="0"/>
              <a:t>An Explainable Ensemble Machine Learning Framework for Intrusion Detection in IoT</a:t>
            </a:r>
          </a:p>
        </p:txBody>
      </p:sp>
      <p:sp>
        <p:nvSpPr>
          <p:cNvPr id="9" name="Slide Number Placeholder 8"/>
          <p:cNvSpPr>
            <a:spLocks noGrp="1"/>
          </p:cNvSpPr>
          <p:nvPr>
            <p:ph type="sldNum" sz="quarter" idx="12"/>
          </p:nvPr>
        </p:nvSpPr>
        <p:spPr/>
        <p:txBody>
          <a:bodyPr/>
          <a:lstStyle/>
          <a:p>
            <a:fld id="{FC6BEB0F-7D1A-4CFC-9A6C-0E77E068DA9D}" type="slidenum">
              <a:rPr lang="en-US" smtClean="0"/>
              <a:t>‹#›</a:t>
            </a:fld>
            <a:endParaRPr lang="en-US" dirty="0"/>
          </a:p>
        </p:txBody>
      </p:sp>
    </p:spTree>
    <p:extLst>
      <p:ext uri="{BB962C8B-B14F-4D97-AF65-F5344CB8AC3E}">
        <p14:creationId xmlns:p14="http://schemas.microsoft.com/office/powerpoint/2010/main" val="8804320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0E48E1D-E7B4-4BBB-8D8D-1D11388F8415}" type="datetime1">
              <a:rPr lang="en-US" smtClean="0"/>
              <a:t>4/18/2026</a:t>
            </a:fld>
            <a:endParaRPr lang="en-US" dirty="0"/>
          </a:p>
        </p:txBody>
      </p:sp>
      <p:sp>
        <p:nvSpPr>
          <p:cNvPr id="4" name="Footer Placeholder 3"/>
          <p:cNvSpPr>
            <a:spLocks noGrp="1"/>
          </p:cNvSpPr>
          <p:nvPr>
            <p:ph type="ftr" sz="quarter" idx="11"/>
          </p:nvPr>
        </p:nvSpPr>
        <p:spPr/>
        <p:txBody>
          <a:bodyPr/>
          <a:lstStyle/>
          <a:p>
            <a:r>
              <a:rPr lang="en-US" dirty="0"/>
              <a:t>An Explainable Ensemble Machine Learning Framework for Intrusion Detection in IoT</a:t>
            </a:r>
          </a:p>
        </p:txBody>
      </p:sp>
      <p:sp>
        <p:nvSpPr>
          <p:cNvPr id="5" name="Slide Number Placeholder 4"/>
          <p:cNvSpPr>
            <a:spLocks noGrp="1"/>
          </p:cNvSpPr>
          <p:nvPr>
            <p:ph type="sldNum" sz="quarter" idx="12"/>
          </p:nvPr>
        </p:nvSpPr>
        <p:spPr/>
        <p:txBody>
          <a:bodyPr/>
          <a:lstStyle/>
          <a:p>
            <a:fld id="{FC6BEB0F-7D1A-4CFC-9A6C-0E77E068DA9D}" type="slidenum">
              <a:rPr lang="en-US" smtClean="0"/>
              <a:t>‹#›</a:t>
            </a:fld>
            <a:endParaRPr lang="en-US" dirty="0"/>
          </a:p>
        </p:txBody>
      </p:sp>
    </p:spTree>
    <p:extLst>
      <p:ext uri="{BB962C8B-B14F-4D97-AF65-F5344CB8AC3E}">
        <p14:creationId xmlns:p14="http://schemas.microsoft.com/office/powerpoint/2010/main" val="10581018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DE66178-9BDE-41DB-80BB-D38A0E07CB87}" type="datetime1">
              <a:rPr lang="en-US" smtClean="0"/>
              <a:t>4/18/2026</a:t>
            </a:fld>
            <a:endParaRPr lang="en-US" dirty="0"/>
          </a:p>
        </p:txBody>
      </p:sp>
      <p:sp>
        <p:nvSpPr>
          <p:cNvPr id="3" name="Footer Placeholder 2"/>
          <p:cNvSpPr>
            <a:spLocks noGrp="1"/>
          </p:cNvSpPr>
          <p:nvPr>
            <p:ph type="ftr" sz="quarter" idx="11"/>
          </p:nvPr>
        </p:nvSpPr>
        <p:spPr/>
        <p:txBody>
          <a:bodyPr/>
          <a:lstStyle/>
          <a:p>
            <a:r>
              <a:rPr lang="en-US" dirty="0"/>
              <a:t>An Explainable Ensemble Machine Learning Framework for Intrusion Detection in IoT</a:t>
            </a:r>
          </a:p>
        </p:txBody>
      </p:sp>
      <p:sp>
        <p:nvSpPr>
          <p:cNvPr id="4" name="Slide Number Placeholder 3"/>
          <p:cNvSpPr>
            <a:spLocks noGrp="1"/>
          </p:cNvSpPr>
          <p:nvPr>
            <p:ph type="sldNum" sz="quarter" idx="12"/>
          </p:nvPr>
        </p:nvSpPr>
        <p:spPr/>
        <p:txBody>
          <a:bodyPr/>
          <a:lstStyle/>
          <a:p>
            <a:fld id="{FC6BEB0F-7D1A-4CFC-9A6C-0E77E068DA9D}" type="slidenum">
              <a:rPr lang="en-US" smtClean="0"/>
              <a:t>‹#›</a:t>
            </a:fld>
            <a:endParaRPr lang="en-US" dirty="0"/>
          </a:p>
        </p:txBody>
      </p:sp>
    </p:spTree>
    <p:extLst>
      <p:ext uri="{BB962C8B-B14F-4D97-AF65-F5344CB8AC3E}">
        <p14:creationId xmlns:p14="http://schemas.microsoft.com/office/powerpoint/2010/main" val="34724979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C2D67D3-CE06-4356-B8F4-88E2E484E17E}" type="datetime1">
              <a:rPr lang="en-US" smtClean="0"/>
              <a:t>4/18/2026</a:t>
            </a:fld>
            <a:endParaRPr lang="en-US" dirty="0"/>
          </a:p>
        </p:txBody>
      </p:sp>
      <p:sp>
        <p:nvSpPr>
          <p:cNvPr id="6" name="Footer Placeholder 5"/>
          <p:cNvSpPr>
            <a:spLocks noGrp="1"/>
          </p:cNvSpPr>
          <p:nvPr>
            <p:ph type="ftr" sz="quarter" idx="11"/>
          </p:nvPr>
        </p:nvSpPr>
        <p:spPr/>
        <p:txBody>
          <a:bodyPr/>
          <a:lstStyle/>
          <a:p>
            <a:r>
              <a:rPr lang="en-US" dirty="0"/>
              <a:t>An Explainable Ensemble Machine Learning Framework for Intrusion Detection in IoT</a:t>
            </a:r>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FC6BEB0F-7D1A-4CFC-9A6C-0E77E068DA9D}" type="slidenum">
              <a:rPr lang="en-US" smtClean="0"/>
              <a:t>‹#›</a:t>
            </a:fld>
            <a:endParaRPr lang="en-US" dirty="0"/>
          </a:p>
        </p:txBody>
      </p:sp>
    </p:spTree>
    <p:extLst>
      <p:ext uri="{BB962C8B-B14F-4D97-AF65-F5344CB8AC3E}">
        <p14:creationId xmlns:p14="http://schemas.microsoft.com/office/powerpoint/2010/main" val="19961877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1A3B781-DFCC-4CE0-9661-96D5E8C5F40D}" type="datetime1">
              <a:rPr lang="en-US" smtClean="0"/>
              <a:t>4/18/2026</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FC6BEB0F-7D1A-4CFC-9A6C-0E77E068DA9D}" type="slidenum">
              <a:rPr lang="en-US" smtClean="0"/>
              <a:t>‹#›</a:t>
            </a:fld>
            <a:endParaRPr lang="en-US" dirty="0"/>
          </a:p>
        </p:txBody>
      </p:sp>
    </p:spTree>
    <p:extLst>
      <p:ext uri="{BB962C8B-B14F-4D97-AF65-F5344CB8AC3E}">
        <p14:creationId xmlns:p14="http://schemas.microsoft.com/office/powerpoint/2010/main" val="10662006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5C139BB-E5FC-4A4E-BB6B-F4926375EB03}" type="datetime1">
              <a:rPr lang="en-US" smtClean="0"/>
              <a:t>4/18/2026</a:t>
            </a:fld>
            <a:endParaRPr lang="en-US" dirty="0"/>
          </a:p>
        </p:txBody>
      </p:sp>
      <p:sp>
        <p:nvSpPr>
          <p:cNvPr id="5" name="Footer Placeholder 4"/>
          <p:cNvSpPr>
            <a:spLocks noGrp="1"/>
          </p:cNvSpPr>
          <p:nvPr>
            <p:ph type="ftr" sz="quarter" idx="11"/>
          </p:nvPr>
        </p:nvSpPr>
        <p:spPr/>
        <p:txBody>
          <a:bodyPr/>
          <a:lstStyle/>
          <a:p>
            <a:r>
              <a:rPr lang="en-US" dirty="0"/>
              <a:t>An Explainable Ensemble Machine Learning Framework for Intrusion Detection in IoT</a:t>
            </a:r>
          </a:p>
        </p:txBody>
      </p:sp>
      <p:sp>
        <p:nvSpPr>
          <p:cNvPr id="6" name="Slide Number Placeholder 5"/>
          <p:cNvSpPr>
            <a:spLocks noGrp="1"/>
          </p:cNvSpPr>
          <p:nvPr>
            <p:ph type="sldNum" sz="quarter" idx="12"/>
          </p:nvPr>
        </p:nvSpPr>
        <p:spPr/>
        <p:txBody>
          <a:bodyPr/>
          <a:lstStyle/>
          <a:p>
            <a:fld id="{FC6BEB0F-7D1A-4CFC-9A6C-0E77E068DA9D}" type="slidenum">
              <a:rPr lang="en-US" smtClean="0"/>
              <a:t>‹#›</a:t>
            </a:fld>
            <a:endParaRPr lang="en-US" dirty="0"/>
          </a:p>
        </p:txBody>
      </p:sp>
    </p:spTree>
    <p:extLst>
      <p:ext uri="{BB962C8B-B14F-4D97-AF65-F5344CB8AC3E}">
        <p14:creationId xmlns:p14="http://schemas.microsoft.com/office/powerpoint/2010/main" val="32083154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25E17F4-1C7F-4BA3-B035-EE2F98887568}" type="datetime1">
              <a:rPr lang="en-US" smtClean="0"/>
              <a:t>4/18/2026</a:t>
            </a:fld>
            <a:endParaRPr lang="en-US" dirty="0"/>
          </a:p>
        </p:txBody>
      </p:sp>
      <p:sp>
        <p:nvSpPr>
          <p:cNvPr id="5" name="Footer Placeholder 4"/>
          <p:cNvSpPr>
            <a:spLocks noGrp="1"/>
          </p:cNvSpPr>
          <p:nvPr>
            <p:ph type="ftr" sz="quarter" idx="11"/>
          </p:nvPr>
        </p:nvSpPr>
        <p:spPr/>
        <p:txBody>
          <a:bodyPr/>
          <a:lstStyle/>
          <a:p>
            <a:r>
              <a:rPr lang="en-US" dirty="0"/>
              <a:t>An Explainable Ensemble Machine Learning Framework for Intrusion Detection in IoT</a:t>
            </a:r>
          </a:p>
        </p:txBody>
      </p:sp>
      <p:sp>
        <p:nvSpPr>
          <p:cNvPr id="6" name="Slide Number Placeholder 5"/>
          <p:cNvSpPr>
            <a:spLocks noGrp="1"/>
          </p:cNvSpPr>
          <p:nvPr>
            <p:ph type="sldNum" sz="quarter" idx="12"/>
          </p:nvPr>
        </p:nvSpPr>
        <p:spPr/>
        <p:txBody>
          <a:bodyPr/>
          <a:lstStyle/>
          <a:p>
            <a:fld id="{FC6BEB0F-7D1A-4CFC-9A6C-0E77E068DA9D}" type="slidenum">
              <a:rPr lang="en-US" smtClean="0"/>
              <a:t>‹#›</a:t>
            </a:fld>
            <a:endParaRPr lang="en-US" dirty="0"/>
          </a:p>
        </p:txBody>
      </p:sp>
    </p:spTree>
    <p:extLst>
      <p:ext uri="{BB962C8B-B14F-4D97-AF65-F5344CB8AC3E}">
        <p14:creationId xmlns:p14="http://schemas.microsoft.com/office/powerpoint/2010/main" val="7243419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787C7B94-60A3-4865-A873-863E990FB7DA}" type="datetime1">
              <a:rPr lang="en-US" smtClean="0"/>
              <a:t>4/18/2026</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r>
              <a:rPr lang="en-US" dirty="0"/>
              <a:t>An Explainable Ensemble Machine Learning Framework for Intrusion Detection in IoT</a:t>
            </a:r>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FC6BEB0F-7D1A-4CFC-9A6C-0E77E068DA9D}" type="slidenum">
              <a:rPr lang="en-US" smtClean="0"/>
              <a:t>‹#›</a:t>
            </a:fld>
            <a:endParaRPr lang="en-US" dirty="0"/>
          </a:p>
        </p:txBody>
      </p:sp>
      <p:pic>
        <p:nvPicPr>
          <p:cNvPr id="10" name="Picture 9">
            <a:extLst>
              <a:ext uri="{FF2B5EF4-FFF2-40B4-BE49-F238E27FC236}">
                <a16:creationId xmlns:a16="http://schemas.microsoft.com/office/drawing/2014/main" id="{2117413B-174B-AF9F-B945-DC1F7B82FA8D}"/>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0415587" y="136525"/>
            <a:ext cx="1524000" cy="1352550"/>
          </a:xfrm>
          <a:prstGeom prst="rect">
            <a:avLst/>
          </a:prstGeom>
        </p:spPr>
      </p:pic>
    </p:spTree>
    <p:extLst>
      <p:ext uri="{BB962C8B-B14F-4D97-AF65-F5344CB8AC3E}">
        <p14:creationId xmlns:p14="http://schemas.microsoft.com/office/powerpoint/2010/main" val="1213720181"/>
      </p:ext>
    </p:extLst>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Lst>
  <p:hf hdr="0" dt="0"/>
  <p:txStyles>
    <p:titleStyle>
      <a:lvl1pPr algn="l" defTabSz="914400" rtl="0" eaLnBrk="1" latinLnBrk="0" hangingPunct="1">
        <a:lnSpc>
          <a:spcPct val="90000"/>
        </a:lnSpc>
        <a:spcBef>
          <a:spcPct val="0"/>
        </a:spcBef>
        <a:buNone/>
        <a:defRPr sz="5400" kern="1200" cap="all" baseline="0">
          <a:blipFill>
            <a:blip r:embed="rId16">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4"/>
          <p:cNvSpPr txBox="1"/>
          <p:nvPr/>
        </p:nvSpPr>
        <p:spPr>
          <a:xfrm>
            <a:off x="1524000" y="1295400"/>
            <a:ext cx="9144000" cy="400200"/>
          </a:xfrm>
          <a:prstGeom prst="rect">
            <a:avLst/>
          </a:prstGeom>
          <a:noFill/>
          <a:ln>
            <a:noFill/>
          </a:ln>
        </p:spPr>
        <p:txBody>
          <a:bodyPr spcFirstLastPara="1" wrap="square" lIns="91425" tIns="45700" rIns="91425" bIns="45700" anchor="t" anchorCtr="0">
            <a:spAutoFit/>
          </a:bodyPr>
          <a:lstStyle/>
          <a:p>
            <a:pPr algn="ctr">
              <a:buClr>
                <a:schemeClr val="dk1"/>
              </a:buClr>
              <a:buSzPts val="2000"/>
            </a:pPr>
            <a:r>
              <a:rPr lang="en-US" sz="2000" b="1" dirty="0">
                <a:solidFill>
                  <a:schemeClr val="dk1"/>
                </a:solidFill>
                <a:latin typeface="Times New Roman"/>
                <a:ea typeface="Times New Roman"/>
                <a:cs typeface="Times New Roman"/>
                <a:sym typeface="Times New Roman"/>
              </a:rPr>
              <a:t>DEPARTMENT OF COMPUTER SCIENCE AND ENGINEERING</a:t>
            </a:r>
            <a:endParaRPr dirty="0"/>
          </a:p>
        </p:txBody>
      </p:sp>
      <p:sp>
        <p:nvSpPr>
          <p:cNvPr id="174" name="Google Shape;174;p24"/>
          <p:cNvSpPr txBox="1"/>
          <p:nvPr/>
        </p:nvSpPr>
        <p:spPr>
          <a:xfrm>
            <a:off x="2474042" y="1951415"/>
            <a:ext cx="7243916" cy="984845"/>
          </a:xfrm>
          <a:prstGeom prst="rect">
            <a:avLst/>
          </a:prstGeom>
          <a:noFill/>
          <a:ln>
            <a:noFill/>
          </a:ln>
        </p:spPr>
        <p:txBody>
          <a:bodyPr spcFirstLastPara="1" wrap="square" lIns="91425" tIns="45700" rIns="91425" bIns="45700" anchor="t" anchorCtr="0">
            <a:spAutoFit/>
          </a:bodyPr>
          <a:lstStyle/>
          <a:p>
            <a:pPr algn="ctr">
              <a:buClr>
                <a:schemeClr val="dk1"/>
              </a:buClr>
              <a:buSzPts val="2400"/>
            </a:pPr>
            <a:r>
              <a:rPr lang="en-US" sz="2000" dirty="0">
                <a:solidFill>
                  <a:schemeClr val="dk1"/>
                </a:solidFill>
                <a:latin typeface="Times New Roman"/>
                <a:ea typeface="Times New Roman"/>
                <a:cs typeface="Times New Roman"/>
                <a:sym typeface="Times New Roman"/>
              </a:rPr>
              <a:t>Chef Guru: A Hybrid RAG and Fine-Tuning Framework for Personalized AI-Powered Recipe Generation</a:t>
            </a:r>
            <a:endParaRPr lang="en-US" sz="2000" dirty="0"/>
          </a:p>
          <a:p>
            <a:pPr algn="ctr">
              <a:buClr>
                <a:schemeClr val="dk1"/>
              </a:buClr>
              <a:buSzPts val="2400"/>
            </a:pPr>
            <a:endParaRPr lang="en-US" dirty="0"/>
          </a:p>
        </p:txBody>
      </p:sp>
      <p:sp>
        <p:nvSpPr>
          <p:cNvPr id="176" name="Google Shape;176;p24"/>
          <p:cNvSpPr txBox="1"/>
          <p:nvPr/>
        </p:nvSpPr>
        <p:spPr>
          <a:xfrm>
            <a:off x="2679750" y="397675"/>
            <a:ext cx="6832500" cy="462000"/>
          </a:xfrm>
          <a:prstGeom prst="rect">
            <a:avLst/>
          </a:prstGeom>
          <a:noFill/>
          <a:ln>
            <a:noFill/>
          </a:ln>
        </p:spPr>
        <p:txBody>
          <a:bodyPr spcFirstLastPara="1" wrap="square" lIns="91425" tIns="45700" rIns="91425" bIns="45700" anchor="t" anchorCtr="0">
            <a:spAutoFit/>
          </a:bodyPr>
          <a:lstStyle/>
          <a:p>
            <a:pPr algn="ctr">
              <a:buClr>
                <a:srgbClr val="006600"/>
              </a:buClr>
              <a:buSzPts val="2400"/>
            </a:pPr>
            <a:r>
              <a:rPr lang="en-US" sz="2400" b="1" dirty="0">
                <a:solidFill>
                  <a:srgbClr val="006600"/>
                </a:solidFill>
                <a:latin typeface="Times New Roman"/>
                <a:ea typeface="Times New Roman"/>
                <a:cs typeface="Times New Roman"/>
                <a:sym typeface="Times New Roman"/>
              </a:rPr>
              <a:t>NEIL GOGTE INSTITUTE OF TECHNOLOGY</a:t>
            </a:r>
            <a:endParaRPr dirty="0"/>
          </a:p>
        </p:txBody>
      </p:sp>
      <p:sp>
        <p:nvSpPr>
          <p:cNvPr id="177" name="Google Shape;177;p24"/>
          <p:cNvSpPr txBox="1"/>
          <p:nvPr/>
        </p:nvSpPr>
        <p:spPr>
          <a:xfrm>
            <a:off x="3810000" y="2967037"/>
            <a:ext cx="4572000" cy="3477835"/>
          </a:xfrm>
          <a:prstGeom prst="rect">
            <a:avLst/>
          </a:prstGeom>
          <a:noFill/>
          <a:ln>
            <a:noFill/>
          </a:ln>
        </p:spPr>
        <p:txBody>
          <a:bodyPr spcFirstLastPara="1" wrap="square" lIns="91425" tIns="45700" rIns="91425" bIns="45700" anchor="t" anchorCtr="0">
            <a:spAutoFit/>
          </a:bodyPr>
          <a:lstStyle/>
          <a:p>
            <a:pPr algn="ctr">
              <a:buClr>
                <a:schemeClr val="dk1"/>
              </a:buClr>
              <a:buSzPts val="2000"/>
            </a:pPr>
            <a:r>
              <a:rPr lang="en-US" sz="2000" b="1" dirty="0">
                <a:solidFill>
                  <a:schemeClr val="dk1"/>
                </a:solidFill>
                <a:latin typeface="Times New Roman"/>
                <a:ea typeface="Times New Roman"/>
                <a:cs typeface="Times New Roman"/>
                <a:sym typeface="Times New Roman"/>
              </a:rPr>
              <a:t>Presented By:</a:t>
            </a:r>
            <a:endParaRPr sz="2000" dirty="0"/>
          </a:p>
          <a:p>
            <a:pPr algn="ctr">
              <a:buClr>
                <a:schemeClr val="dk1"/>
              </a:buClr>
              <a:buSzPts val="2000"/>
            </a:pPr>
            <a:endParaRPr sz="2000" b="1" dirty="0">
              <a:solidFill>
                <a:schemeClr val="dk1"/>
              </a:solidFill>
              <a:latin typeface="Times New Roman"/>
              <a:ea typeface="Times New Roman"/>
              <a:cs typeface="Times New Roman"/>
              <a:sym typeface="Times New Roman"/>
            </a:endParaRPr>
          </a:p>
          <a:p>
            <a:pPr algn="ctr">
              <a:buClr>
                <a:schemeClr val="dk1"/>
              </a:buClr>
              <a:buSzPts val="2000"/>
            </a:pPr>
            <a:r>
              <a:rPr lang="en-US" sz="2000" dirty="0" err="1">
                <a:solidFill>
                  <a:schemeClr val="dk1"/>
                </a:solidFill>
                <a:latin typeface="Times New Roman"/>
                <a:ea typeface="Times New Roman"/>
                <a:cs typeface="Times New Roman"/>
                <a:sym typeface="Times New Roman"/>
              </a:rPr>
              <a:t>Marneni</a:t>
            </a:r>
            <a:r>
              <a:rPr lang="en-US" sz="2000" dirty="0">
                <a:solidFill>
                  <a:schemeClr val="dk1"/>
                </a:solidFill>
                <a:latin typeface="Times New Roman"/>
                <a:ea typeface="Times New Roman"/>
                <a:cs typeface="Times New Roman"/>
                <a:sym typeface="Times New Roman"/>
              </a:rPr>
              <a:t> Nishanth 245322733097</a:t>
            </a:r>
            <a:endParaRPr sz="2000" dirty="0"/>
          </a:p>
          <a:p>
            <a:pPr algn="ctr">
              <a:buClr>
                <a:schemeClr val="dk1"/>
              </a:buClr>
              <a:buSzPts val="2000"/>
            </a:pPr>
            <a:r>
              <a:rPr lang="en-US" sz="2000" dirty="0" err="1">
                <a:solidFill>
                  <a:schemeClr val="dk1"/>
                </a:solidFill>
                <a:latin typeface="Times New Roman"/>
                <a:ea typeface="Times New Roman"/>
                <a:cs typeface="Times New Roman"/>
                <a:sym typeface="Times New Roman"/>
              </a:rPr>
              <a:t>Mohd</a:t>
            </a:r>
            <a:r>
              <a:rPr lang="en-US" sz="2000" dirty="0">
                <a:solidFill>
                  <a:schemeClr val="dk1"/>
                </a:solidFill>
                <a:latin typeface="Times New Roman"/>
                <a:ea typeface="Times New Roman"/>
                <a:cs typeface="Times New Roman"/>
                <a:sym typeface="Times New Roman"/>
              </a:rPr>
              <a:t> Fahad Ahmed 245322733098</a:t>
            </a:r>
          </a:p>
          <a:p>
            <a:pPr algn="ctr">
              <a:buClr>
                <a:schemeClr val="dk1"/>
              </a:buClr>
              <a:buSzPts val="2000"/>
            </a:pPr>
            <a:r>
              <a:rPr lang="en-US" sz="2000" dirty="0" err="1">
                <a:solidFill>
                  <a:schemeClr val="dk1"/>
                </a:solidFill>
                <a:latin typeface="Times New Roman"/>
                <a:cs typeface="Times New Roman"/>
                <a:sym typeface="Times New Roman"/>
              </a:rPr>
              <a:t>Mohith</a:t>
            </a:r>
            <a:r>
              <a:rPr lang="en-US" sz="2000" dirty="0">
                <a:solidFill>
                  <a:schemeClr val="dk1"/>
                </a:solidFill>
                <a:latin typeface="Times New Roman"/>
                <a:cs typeface="Times New Roman"/>
                <a:sym typeface="Times New Roman"/>
              </a:rPr>
              <a:t> Sai </a:t>
            </a:r>
            <a:r>
              <a:rPr lang="en-US" sz="2000" dirty="0" err="1">
                <a:solidFill>
                  <a:schemeClr val="dk1"/>
                </a:solidFill>
                <a:latin typeface="Times New Roman"/>
                <a:cs typeface="Times New Roman"/>
                <a:sym typeface="Times New Roman"/>
              </a:rPr>
              <a:t>Koganti</a:t>
            </a:r>
            <a:r>
              <a:rPr lang="en-US" sz="2000" dirty="0">
                <a:solidFill>
                  <a:schemeClr val="dk1"/>
                </a:solidFill>
                <a:latin typeface="Times New Roman"/>
                <a:cs typeface="Times New Roman"/>
                <a:sym typeface="Times New Roman"/>
              </a:rPr>
              <a:t> 245322733099</a:t>
            </a:r>
            <a:endParaRPr sz="2000" dirty="0"/>
          </a:p>
          <a:p>
            <a:pPr algn="ctr">
              <a:buClr>
                <a:schemeClr val="dk1"/>
              </a:buClr>
              <a:buSzPts val="2000"/>
            </a:pPr>
            <a:endParaRPr sz="2000" dirty="0">
              <a:solidFill>
                <a:schemeClr val="dk1"/>
              </a:solidFill>
              <a:latin typeface="Times New Roman"/>
              <a:ea typeface="Times New Roman"/>
              <a:cs typeface="Times New Roman"/>
              <a:sym typeface="Times New Roman"/>
            </a:endParaRPr>
          </a:p>
          <a:p>
            <a:pPr algn="ctr">
              <a:buClr>
                <a:schemeClr val="dk1"/>
              </a:buClr>
              <a:buSzPts val="2000"/>
            </a:pPr>
            <a:r>
              <a:rPr lang="en-US" sz="2000" b="1" dirty="0">
                <a:solidFill>
                  <a:schemeClr val="dk1"/>
                </a:solidFill>
                <a:latin typeface="Times New Roman"/>
                <a:ea typeface="Times New Roman"/>
                <a:cs typeface="Times New Roman"/>
                <a:sym typeface="Times New Roman"/>
              </a:rPr>
              <a:t>Under the Guidance</a:t>
            </a:r>
            <a:endParaRPr sz="2000" dirty="0"/>
          </a:p>
          <a:p>
            <a:pPr algn="ctr">
              <a:buClr>
                <a:schemeClr val="dk1"/>
              </a:buClr>
              <a:buSzPts val="2000"/>
            </a:pPr>
            <a:r>
              <a:rPr lang="en-US" sz="2000" b="1" dirty="0">
                <a:solidFill>
                  <a:schemeClr val="dk1"/>
                </a:solidFill>
                <a:latin typeface="Times New Roman"/>
                <a:ea typeface="Times New Roman"/>
                <a:cs typeface="Times New Roman"/>
                <a:sym typeface="Times New Roman"/>
              </a:rPr>
              <a:t>Of</a:t>
            </a:r>
            <a:endParaRPr sz="2000" dirty="0"/>
          </a:p>
          <a:p>
            <a:pPr algn="ctr" fontAlgn="base"/>
            <a:r>
              <a:rPr lang="en-US" sz="2000" dirty="0">
                <a:latin typeface="Times New Roman" panose="02020603050405020304" pitchFamily="18" charset="0"/>
                <a:cs typeface="Times New Roman" panose="02020603050405020304" pitchFamily="18" charset="0"/>
              </a:rPr>
              <a:t>Mr. </a:t>
            </a:r>
            <a:r>
              <a:rPr lang="en-US" sz="2000" dirty="0" err="1">
                <a:latin typeface="Times New Roman" panose="02020603050405020304" pitchFamily="18" charset="0"/>
                <a:cs typeface="Times New Roman" panose="02020603050405020304" pitchFamily="18" charset="0"/>
              </a:rPr>
              <a:t>P.Suresh</a:t>
            </a:r>
            <a:r>
              <a:rPr lang="en-US" sz="2000" dirty="0">
                <a:latin typeface="Times New Roman" panose="02020603050405020304" pitchFamily="18" charset="0"/>
                <a:cs typeface="Times New Roman" panose="02020603050405020304" pitchFamily="18" charset="0"/>
              </a:rPr>
              <a:t> Babu</a:t>
            </a:r>
          </a:p>
          <a:p>
            <a:pPr algn="ctr" fontAlgn="base"/>
            <a:r>
              <a:rPr lang="en-US" sz="2000" dirty="0">
                <a:latin typeface="Times New Roman" panose="02020603050405020304" pitchFamily="18" charset="0"/>
                <a:cs typeface="Times New Roman" panose="02020603050405020304" pitchFamily="18" charset="0"/>
              </a:rPr>
              <a:t>Assistant Professor</a:t>
            </a:r>
            <a:r>
              <a:rPr lang="en-US" sz="2000" dirty="0"/>
              <a:t>​</a:t>
            </a:r>
          </a:p>
          <a:p>
            <a:pPr algn="ctr">
              <a:buClr>
                <a:schemeClr val="dk1"/>
              </a:buClr>
              <a:buSzPts val="2000"/>
            </a:pPr>
            <a:endParaRPr sz="2000" b="1" dirty="0">
              <a:solidFill>
                <a:schemeClr val="dk1"/>
              </a:solidFill>
              <a:latin typeface="Times New Roman"/>
              <a:ea typeface="Times New Roman"/>
              <a:cs typeface="Times New Roman"/>
              <a:sym typeface="Times New Roman"/>
            </a:endParaRPr>
          </a:p>
        </p:txBody>
      </p:sp>
      <p:sp>
        <p:nvSpPr>
          <p:cNvPr id="2" name="Footer Placeholder 1">
            <a:extLst>
              <a:ext uri="{FF2B5EF4-FFF2-40B4-BE49-F238E27FC236}">
                <a16:creationId xmlns:a16="http://schemas.microsoft.com/office/drawing/2014/main" id="{EEC5D9C1-C57D-B5EB-53C3-B1F41E5975C2}"/>
              </a:ext>
            </a:extLst>
          </p:cNvPr>
          <p:cNvSpPr>
            <a:spLocks noGrp="1"/>
          </p:cNvSpPr>
          <p:nvPr>
            <p:ph type="ftr" sz="quarter" idx="11"/>
          </p:nvPr>
        </p:nvSpPr>
        <p:spPr/>
        <p:txBody>
          <a:bodyPr/>
          <a:lstStyle/>
          <a:p>
            <a:r>
              <a:rPr lang="en-US" dirty="0"/>
              <a:t>An Explainable Ensemble Machine Learning Framework for Intrusion Detection in IoT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5"/>
          <p:cNvSpPr txBox="1"/>
          <p:nvPr/>
        </p:nvSpPr>
        <p:spPr>
          <a:xfrm>
            <a:off x="3238500" y="286455"/>
            <a:ext cx="5715000" cy="646290"/>
          </a:xfrm>
          <a:prstGeom prst="rect">
            <a:avLst/>
          </a:prstGeom>
          <a:noFill/>
          <a:ln>
            <a:noFill/>
          </a:ln>
        </p:spPr>
        <p:txBody>
          <a:bodyPr spcFirstLastPara="1" wrap="square" lIns="91425" tIns="45700" rIns="91425" bIns="45700" anchor="t" anchorCtr="0">
            <a:spAutoFit/>
          </a:bodyPr>
          <a:lstStyle/>
          <a:p>
            <a:pPr algn="ctr">
              <a:buClr>
                <a:schemeClr val="lt2"/>
              </a:buClr>
              <a:buSzPts val="2400"/>
            </a:pPr>
            <a:r>
              <a:rPr lang="en-US" sz="3600" b="1" dirty="0">
                <a:effectLst>
                  <a:outerShdw blurRad="38100" dist="38100" dir="2700000" algn="tl">
                    <a:srgbClr val="000000">
                      <a:alpha val="43137"/>
                    </a:srgbClr>
                  </a:outerShdw>
                </a:effectLst>
                <a:latin typeface="Times New Roman"/>
                <a:ea typeface="Times New Roman"/>
                <a:cs typeface="Times New Roman"/>
                <a:sym typeface="Times New Roman"/>
              </a:rPr>
              <a:t>INTRODUCTION</a:t>
            </a:r>
            <a:endParaRPr sz="3600" b="1" dirty="0">
              <a:effectLst>
                <a:outerShdw blurRad="38100" dist="38100" dir="2700000" algn="tl">
                  <a:srgbClr val="000000">
                    <a:alpha val="43137"/>
                  </a:srgbClr>
                </a:outerShdw>
              </a:effectLst>
            </a:endParaRPr>
          </a:p>
        </p:txBody>
      </p:sp>
      <p:sp>
        <p:nvSpPr>
          <p:cNvPr id="3" name="Footer Placeholder 2">
            <a:extLst>
              <a:ext uri="{FF2B5EF4-FFF2-40B4-BE49-F238E27FC236}">
                <a16:creationId xmlns:a16="http://schemas.microsoft.com/office/drawing/2014/main" id="{CC6A3540-6AC8-1CDD-88E2-259E1D2D0045}"/>
              </a:ext>
            </a:extLst>
          </p:cNvPr>
          <p:cNvSpPr>
            <a:spLocks noGrp="1"/>
          </p:cNvSpPr>
          <p:nvPr>
            <p:ph type="ftr" sz="quarter" idx="11"/>
          </p:nvPr>
        </p:nvSpPr>
        <p:spPr/>
        <p:txBody>
          <a:bodyPr/>
          <a:lstStyle/>
          <a:p>
            <a:pPr algn="ctr">
              <a:buClr>
                <a:schemeClr val="dk1"/>
              </a:buClr>
              <a:buSzPts val="2400"/>
            </a:pPr>
            <a:r>
              <a:rPr lang="en-US" sz="1100" dirty="0">
                <a:solidFill>
                  <a:schemeClr val="dk1"/>
                </a:solidFill>
                <a:latin typeface="Times New Roman"/>
                <a:ea typeface="Times New Roman"/>
                <a:cs typeface="Times New Roman"/>
                <a:sym typeface="Times New Roman"/>
              </a:rPr>
              <a:t>Chef Guru: A Hybrid RAG and Fine-Tuning Framework for Personalized AI-Powered Recipe Generation</a:t>
            </a:r>
            <a:endParaRPr lang="en-US" sz="1100" dirty="0"/>
          </a:p>
        </p:txBody>
      </p:sp>
      <p:sp>
        <p:nvSpPr>
          <p:cNvPr id="2" name="Slide Number Placeholder 1">
            <a:extLst>
              <a:ext uri="{FF2B5EF4-FFF2-40B4-BE49-F238E27FC236}">
                <a16:creationId xmlns:a16="http://schemas.microsoft.com/office/drawing/2014/main" id="{1BC70FCB-324A-6902-3799-C3CA37D7A1D2}"/>
              </a:ext>
            </a:extLst>
          </p:cNvPr>
          <p:cNvSpPr>
            <a:spLocks noGrp="1"/>
          </p:cNvSpPr>
          <p:nvPr>
            <p:ph type="sldNum" sz="quarter" idx="12"/>
          </p:nvPr>
        </p:nvSpPr>
        <p:spPr/>
        <p:txBody>
          <a:bodyPr/>
          <a:lstStyle/>
          <a:p>
            <a:fld id="{FC6BEB0F-7D1A-4CFC-9A6C-0E77E068DA9D}" type="slidenum">
              <a:rPr lang="en-US" smtClean="0"/>
              <a:t>2</a:t>
            </a:fld>
            <a:endParaRPr lang="en-US"/>
          </a:p>
        </p:txBody>
      </p:sp>
      <p:sp>
        <p:nvSpPr>
          <p:cNvPr id="8" name="TextBox 7">
            <a:extLst>
              <a:ext uri="{FF2B5EF4-FFF2-40B4-BE49-F238E27FC236}">
                <a16:creationId xmlns:a16="http://schemas.microsoft.com/office/drawing/2014/main" id="{214C4C1F-DBF8-86A3-8B4E-CD9616C93505}"/>
              </a:ext>
            </a:extLst>
          </p:cNvPr>
          <p:cNvSpPr txBox="1"/>
          <p:nvPr/>
        </p:nvSpPr>
        <p:spPr>
          <a:xfrm>
            <a:off x="964191" y="932745"/>
            <a:ext cx="9606273" cy="5078313"/>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This project presents Chef Guru, a domain-specific artificial intelligence system designed for personalized recipe generation from ingredient-only inputs. The system addresses limitations of generic large language models, which often produce recipes with missing steps, inconsistent ingredient usage, or unrealistic cooking procedures.</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To improve reliability and contextual grounding, the system adopts a hybrid architecture combining Retrieval-Augmented Generation (RAG) with parameter-efficient fine-tuning (</a:t>
            </a:r>
            <a:r>
              <a:rPr lang="en-US" dirty="0" err="1">
                <a:latin typeface="Times New Roman" panose="02020603050405020304" pitchFamily="18" charset="0"/>
                <a:cs typeface="Times New Roman" panose="02020603050405020304" pitchFamily="18" charset="0"/>
              </a:rPr>
              <a:t>QLoRA</a:t>
            </a:r>
            <a:r>
              <a:rPr lang="en-US" dirty="0">
                <a:latin typeface="Times New Roman" panose="02020603050405020304" pitchFamily="18" charset="0"/>
                <a:cs typeface="Times New Roman" panose="02020603050405020304" pitchFamily="18" charset="0"/>
              </a:rPr>
              <a:t>). Relevant recipes are retrieved from a large recipe dataset using semantic embeddings stored in a </a:t>
            </a:r>
            <a:r>
              <a:rPr lang="en-US" dirty="0" err="1">
                <a:latin typeface="Times New Roman" panose="02020603050405020304" pitchFamily="18" charset="0"/>
                <a:cs typeface="Times New Roman" panose="02020603050405020304" pitchFamily="18" charset="0"/>
              </a:rPr>
              <a:t>ChromaDB</a:t>
            </a:r>
            <a:r>
              <a:rPr lang="en-US" dirty="0">
                <a:latin typeface="Times New Roman" panose="02020603050405020304" pitchFamily="18" charset="0"/>
                <a:cs typeface="Times New Roman" panose="02020603050405020304" pitchFamily="18" charset="0"/>
              </a:rPr>
              <a:t> vector database, followed by cross-encoder re-ranking to select the most relevant examples. These retrieved recipes are incorporated into a structured prompt that guides the fine-tuned Phi-3-mini model to generate coherent and practically usable recipes.</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 platform is implemented using a microservices-based backend with MongoDB and Redis for data management and caching, along with a React-based frontend that enables users to select ingredients, generate recipes, and interact with the system efficiently. Additionally, the system supports step-by-step culinary explanations and recipe history management, improving usability and helping users better understand cooking processes. This combination of retrieval, fine-tuning, and scalable system design enables Chef Guru to deliver reliable and practical AI-powered cooking assistance.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A41B2786-C939-66B1-9268-FF7501FBB899}"/>
              </a:ext>
            </a:extLst>
          </p:cNvPr>
          <p:cNvSpPr>
            <a:spLocks noGrp="1"/>
          </p:cNvSpPr>
          <p:nvPr>
            <p:ph type="ftr" sz="quarter" idx="11"/>
          </p:nvPr>
        </p:nvSpPr>
        <p:spPr/>
        <p:txBody>
          <a:bodyPr/>
          <a:lstStyle/>
          <a:p>
            <a:pPr algn="ctr">
              <a:buClr>
                <a:schemeClr val="dk1"/>
              </a:buClr>
              <a:buSzPts val="2400"/>
            </a:pPr>
            <a:r>
              <a:rPr lang="en-US" sz="1100" dirty="0">
                <a:solidFill>
                  <a:schemeClr val="dk1"/>
                </a:solidFill>
                <a:latin typeface="Times New Roman"/>
                <a:ea typeface="Times New Roman"/>
                <a:cs typeface="Times New Roman"/>
                <a:sym typeface="Times New Roman"/>
              </a:rPr>
              <a:t>Chef Guru: A Hybrid RAG and Fine-Tuning Framework for Personalized AI-Powered Recipe Generation</a:t>
            </a:r>
            <a:endParaRPr lang="en-US" sz="1100" dirty="0"/>
          </a:p>
        </p:txBody>
      </p:sp>
      <p:sp>
        <p:nvSpPr>
          <p:cNvPr id="5" name="Slide Number Placeholder 4">
            <a:extLst>
              <a:ext uri="{FF2B5EF4-FFF2-40B4-BE49-F238E27FC236}">
                <a16:creationId xmlns:a16="http://schemas.microsoft.com/office/drawing/2014/main" id="{657BE4D7-834A-9ED1-FA62-864818E59885}"/>
              </a:ext>
            </a:extLst>
          </p:cNvPr>
          <p:cNvSpPr>
            <a:spLocks noGrp="1"/>
          </p:cNvSpPr>
          <p:nvPr>
            <p:ph type="sldNum" sz="quarter" idx="12"/>
          </p:nvPr>
        </p:nvSpPr>
        <p:spPr/>
        <p:txBody>
          <a:bodyPr/>
          <a:lstStyle/>
          <a:p>
            <a:fld id="{FC6BEB0F-7D1A-4CFC-9A6C-0E77E068DA9D}" type="slidenum">
              <a:rPr lang="en-US" smtClean="0"/>
              <a:t>3</a:t>
            </a:fld>
            <a:endParaRPr lang="en-US"/>
          </a:p>
        </p:txBody>
      </p:sp>
      <p:sp>
        <p:nvSpPr>
          <p:cNvPr id="7" name="TextBox 6">
            <a:extLst>
              <a:ext uri="{FF2B5EF4-FFF2-40B4-BE49-F238E27FC236}">
                <a16:creationId xmlns:a16="http://schemas.microsoft.com/office/drawing/2014/main" id="{8F4F7B5B-387A-2DFC-BB19-132B557B0A8B}"/>
              </a:ext>
            </a:extLst>
          </p:cNvPr>
          <p:cNvSpPr txBox="1"/>
          <p:nvPr/>
        </p:nvSpPr>
        <p:spPr>
          <a:xfrm>
            <a:off x="2828577" y="160448"/>
            <a:ext cx="6534845" cy="646331"/>
          </a:xfrm>
          <a:prstGeom prst="rect">
            <a:avLst/>
          </a:prstGeom>
          <a:noFill/>
        </p:spPr>
        <p:txBody>
          <a:bodyPr wrap="square" rtlCol="0">
            <a:spAutoFit/>
          </a:bodyPr>
          <a:lstStyle/>
          <a:p>
            <a:r>
              <a:rPr lang="en-IN" sz="3600" b="1" dirty="0">
                <a:latin typeface="Times New Roman" panose="02020603050405020304" pitchFamily="18" charset="0"/>
                <a:cs typeface="Times New Roman" panose="02020603050405020304" pitchFamily="18" charset="0"/>
              </a:rPr>
              <a:t>PROBLEM STATEMENT</a:t>
            </a:r>
          </a:p>
        </p:txBody>
      </p:sp>
      <p:sp>
        <p:nvSpPr>
          <p:cNvPr id="9" name="TextBox 8">
            <a:extLst>
              <a:ext uri="{FF2B5EF4-FFF2-40B4-BE49-F238E27FC236}">
                <a16:creationId xmlns:a16="http://schemas.microsoft.com/office/drawing/2014/main" id="{EF7EAD09-6F92-E1D5-4B1C-A2B50F0813A1}"/>
              </a:ext>
            </a:extLst>
          </p:cNvPr>
          <p:cNvSpPr txBox="1"/>
          <p:nvPr/>
        </p:nvSpPr>
        <p:spPr>
          <a:xfrm>
            <a:off x="1170432" y="1028343"/>
            <a:ext cx="9363456" cy="4801314"/>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Many individuals face difficulty deciding what to cook using the ingredients they already have at home. In many cases, the available ingredients are limited, making it challenging to find recipes that match them exactly. Most online recipe platforms suggest dishes that require additional ingredients, forcing users to either modify recipes manually or spend extra time searching for alternatives.</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This problem becomes more challenging for beginners or individuals with limited cooking experience, as they may not know how to effectively combine or substitute ingredients. Without proper guidance, users may struggle to transform simple ingredients into complete meals. As a result, they often spend considerable time browsing through multiple recipes before finding one that is suitable.</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Furthermore, the lack of personalized recipe recommendations that align with the ingredients already available in the kitchen leads to inefficient meal planning. Ingredients that remain unused for long periods may eventually spoil, resulting in unnecessary food wastage. Therefore, there is a growing need for intelligent systems that can analyze available ingredients and generate relevant and practical recipe suggestions.</a:t>
            </a:r>
          </a:p>
        </p:txBody>
      </p:sp>
    </p:spTree>
    <p:extLst>
      <p:ext uri="{BB962C8B-B14F-4D97-AF65-F5344CB8AC3E}">
        <p14:creationId xmlns:p14="http://schemas.microsoft.com/office/powerpoint/2010/main" val="15203159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98F76-FF0A-BAAA-4CDF-CDA1475119FC}"/>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091AF725-E301-43A8-A83D-5C781F8B1BF9}"/>
              </a:ext>
            </a:extLst>
          </p:cNvPr>
          <p:cNvSpPr>
            <a:spLocks noGrp="1"/>
          </p:cNvSpPr>
          <p:nvPr>
            <p:ph type="ftr" sz="quarter" idx="11"/>
          </p:nvPr>
        </p:nvSpPr>
        <p:spPr/>
        <p:txBody>
          <a:bodyPr/>
          <a:lstStyle/>
          <a:p>
            <a:pPr algn="ctr">
              <a:buClr>
                <a:schemeClr val="dk1"/>
              </a:buClr>
              <a:buSzPts val="2400"/>
            </a:pPr>
            <a:r>
              <a:rPr lang="en-US" sz="1100" dirty="0">
                <a:solidFill>
                  <a:schemeClr val="dk1"/>
                </a:solidFill>
                <a:latin typeface="Times New Roman"/>
                <a:ea typeface="Times New Roman"/>
                <a:cs typeface="Times New Roman"/>
                <a:sym typeface="Times New Roman"/>
              </a:rPr>
              <a:t>Chef Guru: A Hybrid RAG and Fine-Tuning Framework for Personalized AI-Powered Recipe Generation</a:t>
            </a:r>
            <a:endParaRPr lang="en-US" sz="1100" dirty="0"/>
          </a:p>
        </p:txBody>
      </p:sp>
      <p:sp>
        <p:nvSpPr>
          <p:cNvPr id="5" name="Slide Number Placeholder 4">
            <a:extLst>
              <a:ext uri="{FF2B5EF4-FFF2-40B4-BE49-F238E27FC236}">
                <a16:creationId xmlns:a16="http://schemas.microsoft.com/office/drawing/2014/main" id="{6CC73C67-6230-8BBB-DDA8-D8A8624556BE}"/>
              </a:ext>
            </a:extLst>
          </p:cNvPr>
          <p:cNvSpPr>
            <a:spLocks noGrp="1"/>
          </p:cNvSpPr>
          <p:nvPr>
            <p:ph type="sldNum" sz="quarter" idx="12"/>
          </p:nvPr>
        </p:nvSpPr>
        <p:spPr/>
        <p:txBody>
          <a:bodyPr/>
          <a:lstStyle/>
          <a:p>
            <a:fld id="{FC6BEB0F-7D1A-4CFC-9A6C-0E77E068DA9D}" type="slidenum">
              <a:rPr lang="en-US" smtClean="0"/>
              <a:t>4</a:t>
            </a:fld>
            <a:endParaRPr lang="en-US"/>
          </a:p>
        </p:txBody>
      </p:sp>
      <p:sp>
        <p:nvSpPr>
          <p:cNvPr id="3" name="TextBox 2">
            <a:extLst>
              <a:ext uri="{FF2B5EF4-FFF2-40B4-BE49-F238E27FC236}">
                <a16:creationId xmlns:a16="http://schemas.microsoft.com/office/drawing/2014/main" id="{1DD94FBB-F80D-E657-6F58-2897D0885BEF}"/>
              </a:ext>
            </a:extLst>
          </p:cNvPr>
          <p:cNvSpPr txBox="1"/>
          <p:nvPr/>
        </p:nvSpPr>
        <p:spPr>
          <a:xfrm>
            <a:off x="1088136" y="646331"/>
            <a:ext cx="8461217" cy="5028492"/>
          </a:xfrm>
          <a:prstGeom prst="rect">
            <a:avLst/>
          </a:prstGeom>
          <a:noFill/>
        </p:spPr>
        <p:txBody>
          <a:bodyPr wrap="square">
            <a:spAutoFit/>
          </a:bodyPr>
          <a:lstStyle/>
          <a:p>
            <a:pPr marL="342900" indent="-34290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design and implement an intelligent recipe recommendation system that suggests dishes based on the ingredients available to users.</a:t>
            </a:r>
          </a:p>
          <a:p>
            <a:pPr marL="342900" indent="-34290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enable users to generate complete recipes from a limited set of ingredients available in their kitchen.</a:t>
            </a:r>
          </a:p>
          <a:p>
            <a:pPr marL="342900" indent="-34290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apply advanced recommendation techniques such as content-based filtering and collaborative filtering to improve the relevance of recipe suggestions.</a:t>
            </a:r>
          </a:p>
          <a:p>
            <a:pPr marL="342900" indent="-34290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incorporate retrieval-based methods that help the system identify recipes similar to the ingredients provided by the user.</a:t>
            </a:r>
          </a:p>
          <a:p>
            <a:pPr marL="342900" indent="-34290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improve the accuracy and quality of generated recipes by leveraging modern artificial intelligence and language models.</a:t>
            </a:r>
          </a:p>
          <a:p>
            <a:pPr marL="342900" indent="-34290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develop a scalable, production-ready system that can be deployed and used by users in real-world scenarios.</a:t>
            </a:r>
            <a:endParaRPr lang="en-US" sz="2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07A7FFA5-C54A-C6E5-A611-355A80D11D08}"/>
              </a:ext>
            </a:extLst>
          </p:cNvPr>
          <p:cNvSpPr txBox="1"/>
          <p:nvPr/>
        </p:nvSpPr>
        <p:spPr>
          <a:xfrm>
            <a:off x="3475704" y="0"/>
            <a:ext cx="5240593" cy="646331"/>
          </a:xfrm>
          <a:prstGeom prst="rect">
            <a:avLst/>
          </a:prstGeom>
          <a:noFill/>
        </p:spPr>
        <p:txBody>
          <a:bodyPr wrap="square" rtlCol="0">
            <a:spAutoFit/>
          </a:bodyPr>
          <a:lstStyle/>
          <a:p>
            <a:r>
              <a:rPr lang="en-IN" sz="3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OBJECTIVES</a:t>
            </a:r>
          </a:p>
        </p:txBody>
      </p:sp>
    </p:spTree>
    <p:extLst>
      <p:ext uri="{BB962C8B-B14F-4D97-AF65-F5344CB8AC3E}">
        <p14:creationId xmlns:p14="http://schemas.microsoft.com/office/powerpoint/2010/main" val="25337780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6"/>
          <p:cNvSpPr txBox="1"/>
          <p:nvPr/>
        </p:nvSpPr>
        <p:spPr>
          <a:xfrm>
            <a:off x="2725119" y="0"/>
            <a:ext cx="6741763" cy="646290"/>
          </a:xfrm>
          <a:prstGeom prst="rect">
            <a:avLst/>
          </a:prstGeom>
          <a:noFill/>
          <a:ln>
            <a:noFill/>
          </a:ln>
        </p:spPr>
        <p:txBody>
          <a:bodyPr spcFirstLastPara="1" wrap="square" lIns="91425" tIns="45700" rIns="91425" bIns="45700" anchor="t" anchorCtr="0">
            <a:spAutoFit/>
          </a:bodyPr>
          <a:lstStyle/>
          <a:p>
            <a:pPr>
              <a:buClr>
                <a:schemeClr val="lt2"/>
              </a:buClr>
              <a:buSzPts val="2400"/>
            </a:pPr>
            <a:r>
              <a:rPr lang="en-US" sz="3600" b="1" dirty="0">
                <a:effectLst>
                  <a:outerShdw blurRad="38100" dist="38100" dir="2700000" algn="tl">
                    <a:srgbClr val="000000">
                      <a:alpha val="43137"/>
                    </a:srgbClr>
                  </a:outerShdw>
                </a:effectLst>
                <a:latin typeface="Times New Roman"/>
                <a:ea typeface="Times New Roman"/>
                <a:cs typeface="Times New Roman"/>
                <a:sym typeface="Times New Roman"/>
              </a:rPr>
              <a:t>EXISTING SYSTEM</a:t>
            </a:r>
            <a:endParaRPr lang="en-US" sz="2800" b="1" dirty="0">
              <a:effectLst>
                <a:outerShdw blurRad="38100" dist="38100" dir="2700000" algn="tl">
                  <a:srgbClr val="000000">
                    <a:alpha val="43137"/>
                  </a:srgbClr>
                </a:outerShdw>
              </a:effectLst>
            </a:endParaRPr>
          </a:p>
        </p:txBody>
      </p:sp>
      <p:sp>
        <p:nvSpPr>
          <p:cNvPr id="3" name="Footer Placeholder 2">
            <a:extLst>
              <a:ext uri="{FF2B5EF4-FFF2-40B4-BE49-F238E27FC236}">
                <a16:creationId xmlns:a16="http://schemas.microsoft.com/office/drawing/2014/main" id="{72265544-56DC-A534-51B3-2FD3FC9EB625}"/>
              </a:ext>
            </a:extLst>
          </p:cNvPr>
          <p:cNvSpPr>
            <a:spLocks noGrp="1"/>
          </p:cNvSpPr>
          <p:nvPr>
            <p:ph type="ftr" sz="quarter" idx="11"/>
          </p:nvPr>
        </p:nvSpPr>
        <p:spPr>
          <a:xfrm>
            <a:off x="2553911" y="6239361"/>
            <a:ext cx="7084177" cy="365125"/>
          </a:xfrm>
        </p:spPr>
        <p:txBody>
          <a:bodyPr/>
          <a:lstStyle/>
          <a:p>
            <a:pPr algn="ctr">
              <a:buClr>
                <a:schemeClr val="dk1"/>
              </a:buClr>
              <a:buSzPts val="2400"/>
            </a:pPr>
            <a:r>
              <a:rPr lang="en-US" sz="1100" dirty="0">
                <a:solidFill>
                  <a:schemeClr val="dk1"/>
                </a:solidFill>
                <a:latin typeface="Times New Roman"/>
                <a:ea typeface="Times New Roman"/>
                <a:cs typeface="Times New Roman"/>
                <a:sym typeface="Times New Roman"/>
              </a:rPr>
              <a:t>Chef Guru: A Hybrid RAG and Fine-Tuning Framework for Personalized AI-Powered Recipe Generation</a:t>
            </a:r>
            <a:endParaRPr lang="en-US" sz="1100" dirty="0"/>
          </a:p>
        </p:txBody>
      </p:sp>
      <p:sp>
        <p:nvSpPr>
          <p:cNvPr id="2" name="Slide Number Placeholder 1">
            <a:extLst>
              <a:ext uri="{FF2B5EF4-FFF2-40B4-BE49-F238E27FC236}">
                <a16:creationId xmlns:a16="http://schemas.microsoft.com/office/drawing/2014/main" id="{432EFB5B-ED02-C42C-5EBC-54785CCD3550}"/>
              </a:ext>
            </a:extLst>
          </p:cNvPr>
          <p:cNvSpPr>
            <a:spLocks noGrp="1"/>
          </p:cNvSpPr>
          <p:nvPr>
            <p:ph type="sldNum" sz="quarter" idx="12"/>
          </p:nvPr>
        </p:nvSpPr>
        <p:spPr/>
        <p:txBody>
          <a:bodyPr/>
          <a:lstStyle/>
          <a:p>
            <a:fld id="{FC6BEB0F-7D1A-4CFC-9A6C-0E77E068DA9D}" type="slidenum">
              <a:rPr lang="en-US" smtClean="0"/>
              <a:t>5</a:t>
            </a:fld>
            <a:endParaRPr lang="en-US"/>
          </a:p>
        </p:txBody>
      </p:sp>
      <p:sp>
        <p:nvSpPr>
          <p:cNvPr id="7" name="TextBox 6">
            <a:extLst>
              <a:ext uri="{FF2B5EF4-FFF2-40B4-BE49-F238E27FC236}">
                <a16:creationId xmlns:a16="http://schemas.microsoft.com/office/drawing/2014/main" id="{6D561C69-961D-BF61-E509-50540011107A}"/>
              </a:ext>
            </a:extLst>
          </p:cNvPr>
          <p:cNvSpPr txBox="1"/>
          <p:nvPr/>
        </p:nvSpPr>
        <p:spPr>
          <a:xfrm>
            <a:off x="1070544" y="515258"/>
            <a:ext cx="9714271" cy="5940088"/>
          </a:xfrm>
          <a:prstGeom prst="rect">
            <a:avLst/>
          </a:prstGeom>
          <a:noFill/>
        </p:spPr>
        <p:txBody>
          <a:bodyPr wrap="square">
            <a:spAutoFit/>
          </a:bodyPr>
          <a:lstStyle/>
          <a:p>
            <a:pPr algn="just">
              <a:lnSpc>
                <a:spcPct val="200000"/>
              </a:lnSpc>
            </a:pPr>
            <a:r>
              <a:rPr lang="en-US" dirty="0">
                <a:latin typeface="Times New Roman" panose="02020603050405020304" pitchFamily="18" charset="0"/>
                <a:cs typeface="Times New Roman" panose="02020603050405020304" pitchFamily="18" charset="0"/>
              </a:rPr>
              <a:t>Existing recipe recommendation systems primarily rely on rule-based methods or simple database retrieval techniques, which often suggest recipes requiring additional ingredients not available to the user. Recent advancements have introduced AI and large language model-based approaches capable of generating recipes automatically, but these systems may produce unrealistic cooking steps, inconsistent ingredient usage, or hallucinated instructions. To address these issues, newer methods use Retrieval-Augmented Generation (RAG) and fine-tuning techniques to improve contextual grounding and recipe quality. However, many existing solutions rely on either retrieval or generation alone, limiting their ability to balance accuracy, creativity, and practical usability. Therefore, there is a growing need for intelligent systems that integrate both retrieval and generation methods to produce more reliable, context-aware, and practically usable recipes based on the ingredients available to users.</a:t>
            </a:r>
          </a:p>
          <a:p>
            <a:pPr algn="just"/>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3172C33B-51EF-F2F0-9F34-695C85C54772}"/>
              </a:ext>
            </a:extLst>
          </p:cNvPr>
          <p:cNvSpPr>
            <a:spLocks noGrp="1"/>
          </p:cNvSpPr>
          <p:nvPr>
            <p:ph type="ftr" sz="quarter" idx="11"/>
          </p:nvPr>
        </p:nvSpPr>
        <p:spPr>
          <a:xfrm>
            <a:off x="2553911" y="6209864"/>
            <a:ext cx="7084177" cy="365125"/>
          </a:xfrm>
        </p:spPr>
        <p:txBody>
          <a:bodyPr/>
          <a:lstStyle/>
          <a:p>
            <a:pPr algn="ctr">
              <a:buClr>
                <a:schemeClr val="dk1"/>
              </a:buClr>
              <a:buSzPts val="2400"/>
            </a:pPr>
            <a:r>
              <a:rPr lang="en-US" sz="1100" dirty="0">
                <a:solidFill>
                  <a:schemeClr val="dk1"/>
                </a:solidFill>
                <a:latin typeface="Times New Roman"/>
                <a:ea typeface="Times New Roman"/>
                <a:cs typeface="Times New Roman"/>
                <a:sym typeface="Times New Roman"/>
              </a:rPr>
              <a:t>Chef Guru: A Hybrid RAG and Fine-Tuning Framework for Personalized AI-Powered Recipe Generation</a:t>
            </a:r>
            <a:endParaRPr lang="en-US" sz="1100" dirty="0"/>
          </a:p>
        </p:txBody>
      </p:sp>
      <p:sp>
        <p:nvSpPr>
          <p:cNvPr id="5" name="Slide Number Placeholder 4">
            <a:extLst>
              <a:ext uri="{FF2B5EF4-FFF2-40B4-BE49-F238E27FC236}">
                <a16:creationId xmlns:a16="http://schemas.microsoft.com/office/drawing/2014/main" id="{74FEB719-85B1-278D-04AC-BFD43B051335}"/>
              </a:ext>
            </a:extLst>
          </p:cNvPr>
          <p:cNvSpPr>
            <a:spLocks noGrp="1"/>
          </p:cNvSpPr>
          <p:nvPr>
            <p:ph type="sldNum" sz="quarter" idx="12"/>
          </p:nvPr>
        </p:nvSpPr>
        <p:spPr/>
        <p:txBody>
          <a:bodyPr/>
          <a:lstStyle/>
          <a:p>
            <a:fld id="{FC6BEB0F-7D1A-4CFC-9A6C-0E77E068DA9D}" type="slidenum">
              <a:rPr lang="en-US" smtClean="0"/>
              <a:t>6</a:t>
            </a:fld>
            <a:endParaRPr lang="en-US"/>
          </a:p>
        </p:txBody>
      </p:sp>
      <p:sp>
        <p:nvSpPr>
          <p:cNvPr id="7" name="TextBox 6">
            <a:extLst>
              <a:ext uri="{FF2B5EF4-FFF2-40B4-BE49-F238E27FC236}">
                <a16:creationId xmlns:a16="http://schemas.microsoft.com/office/drawing/2014/main" id="{A4EE8ED6-9DD0-212A-5AD2-A1485CBD74B3}"/>
              </a:ext>
            </a:extLst>
          </p:cNvPr>
          <p:cNvSpPr txBox="1"/>
          <p:nvPr/>
        </p:nvSpPr>
        <p:spPr>
          <a:xfrm>
            <a:off x="2057400" y="0"/>
            <a:ext cx="8077200" cy="646331"/>
          </a:xfrm>
          <a:prstGeom prst="rect">
            <a:avLst/>
          </a:prstGeom>
          <a:noFill/>
        </p:spPr>
        <p:txBody>
          <a:bodyPr wrap="square">
            <a:spAutoFit/>
          </a:bodyPr>
          <a:lstStyle/>
          <a:p>
            <a:pPr>
              <a:buClr>
                <a:schemeClr val="dk1"/>
              </a:buClr>
              <a:buSzPts val="2000"/>
            </a:pPr>
            <a:r>
              <a:rPr lang="en-US" sz="3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LIMITATIONS IN EXISTING WORK</a:t>
            </a:r>
          </a:p>
        </p:txBody>
      </p:sp>
      <p:sp>
        <p:nvSpPr>
          <p:cNvPr id="9" name="TextBox 8">
            <a:extLst>
              <a:ext uri="{FF2B5EF4-FFF2-40B4-BE49-F238E27FC236}">
                <a16:creationId xmlns:a16="http://schemas.microsoft.com/office/drawing/2014/main" id="{12A611B0-5D0F-0C53-F3A0-3B31F44AC212}"/>
              </a:ext>
            </a:extLst>
          </p:cNvPr>
          <p:cNvSpPr txBox="1"/>
          <p:nvPr/>
        </p:nvSpPr>
        <p:spPr>
          <a:xfrm>
            <a:off x="1492046" y="871344"/>
            <a:ext cx="8642554" cy="5115311"/>
          </a:xfrm>
          <a:prstGeom prst="rect">
            <a:avLst/>
          </a:prstGeom>
          <a:noFill/>
        </p:spPr>
        <p:txBody>
          <a:bodyPr wrap="square">
            <a:spAutoFit/>
          </a:bodyPr>
          <a:lstStyle/>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Many existing recipe systems rely on simple rule-based methods or keyword matching, which limits their ability to generate flexible recipes from diverse ingredient combinations. </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Generic LLM-based recipe generators often produce hallucinated or unrealistic cooking steps, reducing the practical reliability of generated recipes. </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Lack of contextual grounding, as many systems generate recipes without referencing real recipe datasets or culinary knowledge. </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Poor ingredient consistency, where generated recipes may introduce new ingredients or fail to utilize the ingredients provided by the user. </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Limited personalization and adaptability, as most systems do not effectively consider user preferences or available ingredients when recommending recipes.</a:t>
            </a:r>
          </a:p>
        </p:txBody>
      </p:sp>
    </p:spTree>
    <p:extLst>
      <p:ext uri="{BB962C8B-B14F-4D97-AF65-F5344CB8AC3E}">
        <p14:creationId xmlns:p14="http://schemas.microsoft.com/office/powerpoint/2010/main" val="32984273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50136CC5-E9F3-5103-0F1D-EC256A815217}"/>
              </a:ext>
            </a:extLst>
          </p:cNvPr>
          <p:cNvSpPr>
            <a:spLocks noGrp="1"/>
          </p:cNvSpPr>
          <p:nvPr>
            <p:ph type="ftr" sz="quarter" idx="11"/>
          </p:nvPr>
        </p:nvSpPr>
        <p:spPr>
          <a:xfrm>
            <a:off x="2553911" y="6455114"/>
            <a:ext cx="7084177" cy="365125"/>
          </a:xfrm>
        </p:spPr>
        <p:txBody>
          <a:bodyPr/>
          <a:lstStyle/>
          <a:p>
            <a:pPr algn="ctr">
              <a:buClr>
                <a:schemeClr val="dk1"/>
              </a:buClr>
              <a:buSzPts val="2400"/>
            </a:pPr>
            <a:r>
              <a:rPr lang="en-US" sz="1100" dirty="0">
                <a:solidFill>
                  <a:schemeClr val="dk1"/>
                </a:solidFill>
                <a:latin typeface="Times New Roman"/>
                <a:ea typeface="Times New Roman"/>
                <a:cs typeface="Times New Roman"/>
                <a:sym typeface="Times New Roman"/>
              </a:rPr>
              <a:t>Chef Guru: A Hybrid RAG and Fine-Tuning Framework for Personalized AI-Powered Recipe Generation</a:t>
            </a:r>
            <a:endParaRPr lang="en-US" sz="1100" dirty="0"/>
          </a:p>
        </p:txBody>
      </p:sp>
      <p:sp>
        <p:nvSpPr>
          <p:cNvPr id="5" name="Slide Number Placeholder 4">
            <a:extLst>
              <a:ext uri="{FF2B5EF4-FFF2-40B4-BE49-F238E27FC236}">
                <a16:creationId xmlns:a16="http://schemas.microsoft.com/office/drawing/2014/main" id="{2170F5F7-27C7-92D4-56B3-42B6E3DE664C}"/>
              </a:ext>
            </a:extLst>
          </p:cNvPr>
          <p:cNvSpPr>
            <a:spLocks noGrp="1"/>
          </p:cNvSpPr>
          <p:nvPr>
            <p:ph type="sldNum" sz="quarter" idx="12"/>
          </p:nvPr>
        </p:nvSpPr>
        <p:spPr/>
        <p:txBody>
          <a:bodyPr/>
          <a:lstStyle/>
          <a:p>
            <a:fld id="{FC6BEB0F-7D1A-4CFC-9A6C-0E77E068DA9D}" type="slidenum">
              <a:rPr lang="en-US" smtClean="0"/>
              <a:t>7</a:t>
            </a:fld>
            <a:endParaRPr lang="en-US"/>
          </a:p>
        </p:txBody>
      </p:sp>
      <p:graphicFrame>
        <p:nvGraphicFramePr>
          <p:cNvPr id="13" name="Table 12">
            <a:extLst>
              <a:ext uri="{FF2B5EF4-FFF2-40B4-BE49-F238E27FC236}">
                <a16:creationId xmlns:a16="http://schemas.microsoft.com/office/drawing/2014/main" id="{846FCFAF-2AAD-1010-AA14-6001A1E3998A}"/>
              </a:ext>
            </a:extLst>
          </p:cNvPr>
          <p:cNvGraphicFramePr>
            <a:graphicFrameLocks noGrp="1"/>
          </p:cNvGraphicFramePr>
          <p:nvPr>
            <p:extLst>
              <p:ext uri="{D42A27DB-BD31-4B8C-83A1-F6EECF244321}">
                <p14:modId xmlns:p14="http://schemas.microsoft.com/office/powerpoint/2010/main" val="1395894196"/>
              </p:ext>
            </p:extLst>
          </p:nvPr>
        </p:nvGraphicFramePr>
        <p:xfrm>
          <a:off x="719069" y="857839"/>
          <a:ext cx="10970167" cy="5426485"/>
        </p:xfrm>
        <a:graphic>
          <a:graphicData uri="http://schemas.openxmlformats.org/drawingml/2006/table">
            <a:tbl>
              <a:tblPr>
                <a:tableStyleId>{5940675A-B579-460E-94D1-54222C63F5DA}</a:tableStyleId>
              </a:tblPr>
              <a:tblGrid>
                <a:gridCol w="2753385">
                  <a:extLst>
                    <a:ext uri="{9D8B030D-6E8A-4147-A177-3AD203B41FA5}">
                      <a16:colId xmlns:a16="http://schemas.microsoft.com/office/drawing/2014/main" val="2101643946"/>
                    </a:ext>
                  </a:extLst>
                </a:gridCol>
                <a:gridCol w="3000075">
                  <a:extLst>
                    <a:ext uri="{9D8B030D-6E8A-4147-A177-3AD203B41FA5}">
                      <a16:colId xmlns:a16="http://schemas.microsoft.com/office/drawing/2014/main" val="352695456"/>
                    </a:ext>
                  </a:extLst>
                </a:gridCol>
                <a:gridCol w="2477779">
                  <a:extLst>
                    <a:ext uri="{9D8B030D-6E8A-4147-A177-3AD203B41FA5}">
                      <a16:colId xmlns:a16="http://schemas.microsoft.com/office/drawing/2014/main" val="3029631082"/>
                    </a:ext>
                  </a:extLst>
                </a:gridCol>
                <a:gridCol w="2738928">
                  <a:extLst>
                    <a:ext uri="{9D8B030D-6E8A-4147-A177-3AD203B41FA5}">
                      <a16:colId xmlns:a16="http://schemas.microsoft.com/office/drawing/2014/main" val="412747578"/>
                    </a:ext>
                  </a:extLst>
                </a:gridCol>
              </a:tblGrid>
              <a:tr h="357861">
                <a:tc>
                  <a:txBody>
                    <a:bodyPr/>
                    <a:lstStyle/>
                    <a:p>
                      <a:pPr>
                        <a:buNone/>
                      </a:pPr>
                      <a:r>
                        <a:rPr lang="en-IN" sz="1800" b="1" dirty="0">
                          <a:latin typeface="Times New Roman" panose="02020603050405020304" pitchFamily="18" charset="0"/>
                          <a:cs typeface="Times New Roman" panose="02020603050405020304" pitchFamily="18" charset="0"/>
                        </a:rPr>
                        <a:t>Method Type</a:t>
                      </a:r>
                      <a:endParaRPr lang="en-IN" sz="1800" dirty="0">
                        <a:latin typeface="Times New Roman" panose="02020603050405020304" pitchFamily="18" charset="0"/>
                        <a:cs typeface="Times New Roman" panose="02020603050405020304" pitchFamily="18" charset="0"/>
                      </a:endParaRPr>
                    </a:p>
                  </a:txBody>
                  <a:tcPr marL="56804" marR="56804" marT="28402" marB="28402" anchor="ctr"/>
                </a:tc>
                <a:tc>
                  <a:txBody>
                    <a:bodyPr/>
                    <a:lstStyle/>
                    <a:p>
                      <a:pPr>
                        <a:buNone/>
                      </a:pPr>
                      <a:r>
                        <a:rPr lang="en-IN" sz="1800" b="1" dirty="0">
                          <a:latin typeface="Times New Roman" panose="02020603050405020304" pitchFamily="18" charset="0"/>
                          <a:cs typeface="Times New Roman" panose="02020603050405020304" pitchFamily="18" charset="0"/>
                        </a:rPr>
                        <a:t>Techniques Used</a:t>
                      </a:r>
                      <a:endParaRPr lang="en-IN" sz="1800" dirty="0">
                        <a:latin typeface="Times New Roman" panose="02020603050405020304" pitchFamily="18" charset="0"/>
                        <a:cs typeface="Times New Roman" panose="02020603050405020304" pitchFamily="18" charset="0"/>
                      </a:endParaRPr>
                    </a:p>
                  </a:txBody>
                  <a:tcPr marL="56804" marR="56804" marT="28402" marB="28402" anchor="ctr"/>
                </a:tc>
                <a:tc>
                  <a:txBody>
                    <a:bodyPr/>
                    <a:lstStyle/>
                    <a:p>
                      <a:pPr>
                        <a:buNone/>
                      </a:pPr>
                      <a:r>
                        <a:rPr lang="en-IN" sz="1800" b="1">
                          <a:latin typeface="Times New Roman" panose="02020603050405020304" pitchFamily="18" charset="0"/>
                          <a:cs typeface="Times New Roman" panose="02020603050405020304" pitchFamily="18" charset="0"/>
                        </a:rPr>
                        <a:t>Advantages</a:t>
                      </a:r>
                      <a:endParaRPr lang="en-IN" sz="1800">
                        <a:latin typeface="Times New Roman" panose="02020603050405020304" pitchFamily="18" charset="0"/>
                        <a:cs typeface="Times New Roman" panose="02020603050405020304" pitchFamily="18" charset="0"/>
                      </a:endParaRPr>
                    </a:p>
                  </a:txBody>
                  <a:tcPr marL="56804" marR="56804" marT="28402" marB="28402" anchor="ctr"/>
                </a:tc>
                <a:tc>
                  <a:txBody>
                    <a:bodyPr/>
                    <a:lstStyle/>
                    <a:p>
                      <a:pPr>
                        <a:buNone/>
                      </a:pPr>
                      <a:r>
                        <a:rPr lang="en-IN" sz="1800" b="1">
                          <a:latin typeface="Times New Roman" panose="02020603050405020304" pitchFamily="18" charset="0"/>
                          <a:cs typeface="Times New Roman" panose="02020603050405020304" pitchFamily="18" charset="0"/>
                        </a:rPr>
                        <a:t>Limitations</a:t>
                      </a:r>
                      <a:endParaRPr lang="en-IN" sz="1800">
                        <a:latin typeface="Times New Roman" panose="02020603050405020304" pitchFamily="18" charset="0"/>
                        <a:cs typeface="Times New Roman" panose="02020603050405020304" pitchFamily="18" charset="0"/>
                      </a:endParaRPr>
                    </a:p>
                  </a:txBody>
                  <a:tcPr marL="56804" marR="56804" marT="28402" marB="28402" anchor="ctr"/>
                </a:tc>
                <a:extLst>
                  <a:ext uri="{0D108BD9-81ED-4DB2-BD59-A6C34878D82A}">
                    <a16:rowId xmlns:a16="http://schemas.microsoft.com/office/drawing/2014/main" val="1876003791"/>
                  </a:ext>
                </a:extLst>
              </a:tr>
              <a:tr h="911870">
                <a:tc>
                  <a:txBody>
                    <a:bodyPr/>
                    <a:lstStyle/>
                    <a:p>
                      <a:pPr>
                        <a:buNone/>
                      </a:pPr>
                      <a:r>
                        <a:rPr lang="en-US" dirty="0">
                          <a:latin typeface="Times New Roman" panose="02020603050405020304" pitchFamily="18" charset="0"/>
                          <a:cs typeface="Times New Roman" panose="02020603050405020304" pitchFamily="18" charset="0"/>
                        </a:rPr>
                        <a:t>Rule-Based Recipe      Systems</a:t>
                      </a:r>
                      <a:endParaRPr lang="en-IN" sz="1800" dirty="0">
                        <a:latin typeface="Times New Roman" panose="02020603050405020304" pitchFamily="18" charset="0"/>
                        <a:cs typeface="Times New Roman" panose="02020603050405020304" pitchFamily="18" charset="0"/>
                      </a:endParaRPr>
                    </a:p>
                  </a:txBody>
                  <a:tcPr marL="56804" marR="56804" marT="28402" marB="28402" anchor="ctr"/>
                </a:tc>
                <a:tc>
                  <a:txBody>
                    <a:bodyPr/>
                    <a:lstStyle/>
                    <a:p>
                      <a:r>
                        <a:rPr lang="en-US" dirty="0">
                          <a:latin typeface="Times New Roman" panose="02020603050405020304" pitchFamily="18" charset="0"/>
                          <a:cs typeface="Times New Roman" panose="02020603050405020304" pitchFamily="18" charset="0"/>
                        </a:rPr>
                        <a:t>Recipes generated using predefined templates and ingredient rules</a:t>
                      </a:r>
                    </a:p>
                  </a:txBody>
                  <a:tcPr anchor="ctr"/>
                </a:tc>
                <a:tc>
                  <a:txBody>
                    <a:bodyPr/>
                    <a:lstStyle/>
                    <a:p>
                      <a:pPr>
                        <a:buNone/>
                      </a:pPr>
                      <a:r>
                        <a:rPr lang="en-IN" sz="18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Simple to implement and produces structurally consistent recipes</a:t>
                      </a:r>
                      <a:r>
                        <a:rPr lang="en-US" dirty="0"/>
                        <a:t>.</a:t>
                      </a:r>
                      <a:endParaRPr lang="en-IN" sz="1800" dirty="0">
                        <a:latin typeface="Times New Roman" panose="02020603050405020304" pitchFamily="18" charset="0"/>
                        <a:cs typeface="Times New Roman" panose="02020603050405020304" pitchFamily="18" charset="0"/>
                      </a:endParaRPr>
                    </a:p>
                  </a:txBody>
                  <a:tcPr marL="56804" marR="56804" marT="28402" marB="28402" anchor="ctr"/>
                </a:tc>
                <a:tc>
                  <a:txBody>
                    <a:bodyPr/>
                    <a:lstStyle/>
                    <a:p>
                      <a:pPr>
                        <a:buNone/>
                      </a:pPr>
                      <a:r>
                        <a:rPr lang="en-US" dirty="0">
                          <a:latin typeface="Times New Roman" panose="02020603050405020304" pitchFamily="18" charset="0"/>
                          <a:cs typeface="Times New Roman" panose="02020603050405020304" pitchFamily="18" charset="0"/>
                        </a:rPr>
                        <a:t>Lack flexibility and cannot handle diverse or unusual ingredient combinations.</a:t>
                      </a:r>
                      <a:endParaRPr lang="en-US" sz="1800" dirty="0">
                        <a:latin typeface="Times New Roman" panose="02020603050405020304" pitchFamily="18" charset="0"/>
                        <a:cs typeface="Times New Roman" panose="02020603050405020304" pitchFamily="18" charset="0"/>
                      </a:endParaRPr>
                    </a:p>
                  </a:txBody>
                  <a:tcPr marL="56804" marR="56804" marT="28402" marB="28402" anchor="ctr"/>
                </a:tc>
                <a:extLst>
                  <a:ext uri="{0D108BD9-81ED-4DB2-BD59-A6C34878D82A}">
                    <a16:rowId xmlns:a16="http://schemas.microsoft.com/office/drawing/2014/main" val="2699767379"/>
                  </a:ext>
                </a:extLst>
              </a:tr>
              <a:tr h="1150891">
                <a:tc>
                  <a:txBody>
                    <a:bodyPr/>
                    <a:lstStyle/>
                    <a:p>
                      <a:pPr>
                        <a:buNone/>
                      </a:pPr>
                      <a:r>
                        <a:rPr lang="en-US" dirty="0">
                          <a:latin typeface="Times New Roman" panose="02020603050405020304" pitchFamily="18" charset="0"/>
                          <a:cs typeface="Times New Roman" panose="02020603050405020304" pitchFamily="18" charset="0"/>
                        </a:rPr>
                        <a:t>Sequence-to-Sequence Neural Models</a:t>
                      </a:r>
                      <a:endParaRPr lang="en-IN" sz="1800" dirty="0">
                        <a:latin typeface="Times New Roman" panose="02020603050405020304" pitchFamily="18" charset="0"/>
                        <a:cs typeface="Times New Roman" panose="02020603050405020304" pitchFamily="18" charset="0"/>
                      </a:endParaRPr>
                    </a:p>
                  </a:txBody>
                  <a:tcPr marL="56804" marR="56804" marT="28402" marB="28402" anchor="ctr"/>
                </a:tc>
                <a:tc>
                  <a:txBody>
                    <a:bodyPr/>
                    <a:lstStyle/>
                    <a:p>
                      <a:pPr>
                        <a:buNone/>
                      </a:pPr>
                      <a:r>
                        <a:rPr lang="en-US" dirty="0">
                          <a:latin typeface="Times New Roman" panose="02020603050405020304" pitchFamily="18" charset="0"/>
                          <a:cs typeface="Times New Roman" panose="02020603050405020304" pitchFamily="18" charset="0"/>
                        </a:rPr>
                        <a:t>Use neural networks to generate recipe text automatically from input ingredients.</a:t>
                      </a:r>
                      <a:endParaRPr lang="en-IN" sz="1800" dirty="0">
                        <a:latin typeface="Times New Roman" panose="02020603050405020304" pitchFamily="18" charset="0"/>
                        <a:cs typeface="Times New Roman" panose="02020603050405020304" pitchFamily="18" charset="0"/>
                      </a:endParaRPr>
                    </a:p>
                  </a:txBody>
                  <a:tcPr marL="56804" marR="56804" marT="28402" marB="28402" anchor="ctr"/>
                </a:tc>
                <a:tc>
                  <a:txBody>
                    <a:bodyPr/>
                    <a:lstStyle/>
                    <a:p>
                      <a:pPr>
                        <a:buNone/>
                      </a:pPr>
                      <a:r>
                        <a:rPr lang="en-US" dirty="0">
                          <a:latin typeface="Times New Roman" panose="02020603050405020304" pitchFamily="18" charset="0"/>
                          <a:cs typeface="Times New Roman" panose="02020603050405020304" pitchFamily="18" charset="0"/>
                        </a:rPr>
                        <a:t>Improve linguistic fluency and allow automatic recipe generation.</a:t>
                      </a:r>
                      <a:endParaRPr lang="en-IN" sz="1800" dirty="0">
                        <a:latin typeface="Times New Roman" panose="02020603050405020304" pitchFamily="18" charset="0"/>
                        <a:cs typeface="Times New Roman" panose="02020603050405020304" pitchFamily="18" charset="0"/>
                      </a:endParaRPr>
                    </a:p>
                  </a:txBody>
                  <a:tcPr marL="56804" marR="56804" marT="28402" marB="28402" anchor="ctr"/>
                </a:tc>
                <a:tc>
                  <a:txBody>
                    <a:bodyPr/>
                    <a:lstStyle/>
                    <a:p>
                      <a:pPr>
                        <a:buNone/>
                      </a:pPr>
                      <a:r>
                        <a:rPr lang="en-US" dirty="0">
                          <a:latin typeface="Times New Roman" panose="02020603050405020304" pitchFamily="18" charset="0"/>
                          <a:cs typeface="Times New Roman" panose="02020603050405020304" pitchFamily="18" charset="0"/>
                        </a:rPr>
                        <a:t>Often produce ingredient inconsistencies or omit ingredients in instructions.</a:t>
                      </a:r>
                      <a:endParaRPr lang="en-IN" sz="1800" dirty="0">
                        <a:latin typeface="Times New Roman" panose="02020603050405020304" pitchFamily="18" charset="0"/>
                        <a:cs typeface="Times New Roman" panose="02020603050405020304" pitchFamily="18" charset="0"/>
                      </a:endParaRPr>
                    </a:p>
                  </a:txBody>
                  <a:tcPr marL="56804" marR="56804" marT="28402" marB="28402" anchor="ctr"/>
                </a:tc>
                <a:extLst>
                  <a:ext uri="{0D108BD9-81ED-4DB2-BD59-A6C34878D82A}">
                    <a16:rowId xmlns:a16="http://schemas.microsoft.com/office/drawing/2014/main" val="3527749548"/>
                  </a:ext>
                </a:extLst>
              </a:tr>
              <a:tr h="897020">
                <a:tc>
                  <a:txBody>
                    <a:bodyPr/>
                    <a:lstStyle/>
                    <a:p>
                      <a:pPr>
                        <a:buNone/>
                      </a:pPr>
                      <a:r>
                        <a:rPr lang="en-US" dirty="0">
                          <a:latin typeface="Times New Roman" panose="02020603050405020304" pitchFamily="18" charset="0"/>
                          <a:cs typeface="Times New Roman" panose="02020603050405020304" pitchFamily="18" charset="0"/>
                        </a:rPr>
                        <a:t>Large Language Models (LLMs)</a:t>
                      </a:r>
                      <a:endParaRPr lang="en-IN" sz="1800" dirty="0">
                        <a:latin typeface="Times New Roman" panose="02020603050405020304" pitchFamily="18" charset="0"/>
                        <a:cs typeface="Times New Roman" panose="02020603050405020304" pitchFamily="18" charset="0"/>
                      </a:endParaRPr>
                    </a:p>
                  </a:txBody>
                  <a:tcPr marL="56804" marR="56804" marT="28402" marB="28402" anchor="ctr"/>
                </a:tc>
                <a:tc>
                  <a:txBody>
                    <a:bodyPr/>
                    <a:lstStyle/>
                    <a:p>
                      <a:pPr>
                        <a:buNone/>
                      </a:pPr>
                      <a:r>
                        <a:rPr lang="en-US" dirty="0">
                          <a:latin typeface="Times New Roman" panose="02020603050405020304" pitchFamily="18" charset="0"/>
                          <a:cs typeface="Times New Roman" panose="02020603050405020304" pitchFamily="18" charset="0"/>
                        </a:rPr>
                        <a:t>Advanced AI models used to generate human-like recipe instructions.</a:t>
                      </a:r>
                      <a:endParaRPr lang="en-US" sz="1800" dirty="0">
                        <a:latin typeface="Times New Roman" panose="02020603050405020304" pitchFamily="18" charset="0"/>
                        <a:cs typeface="Times New Roman" panose="02020603050405020304" pitchFamily="18" charset="0"/>
                      </a:endParaRPr>
                    </a:p>
                  </a:txBody>
                  <a:tcPr marL="56804" marR="56804" marT="28402" marB="28402" anchor="ctr"/>
                </a:tc>
                <a:tc>
                  <a:txBody>
                    <a:bodyPr/>
                    <a:lstStyle/>
                    <a:p>
                      <a:pPr>
                        <a:buNone/>
                      </a:pPr>
                      <a:r>
                        <a:rPr lang="en-US" dirty="0">
                          <a:latin typeface="Times New Roman" panose="02020603050405020304" pitchFamily="18" charset="0"/>
                          <a:cs typeface="Times New Roman" panose="02020603050405020304" pitchFamily="18" charset="0"/>
                        </a:rPr>
                        <a:t>Generate natural, detailed, and creative cooking instructions.</a:t>
                      </a:r>
                      <a:endParaRPr lang="en-IN" sz="1800" dirty="0">
                        <a:latin typeface="Times New Roman" panose="02020603050405020304" pitchFamily="18" charset="0"/>
                        <a:cs typeface="Times New Roman" panose="02020603050405020304" pitchFamily="18" charset="0"/>
                      </a:endParaRPr>
                    </a:p>
                  </a:txBody>
                  <a:tcPr marL="56804" marR="56804" marT="28402" marB="28402" anchor="ctr"/>
                </a:tc>
                <a:tc>
                  <a:txBody>
                    <a:bodyPr/>
                    <a:lstStyle/>
                    <a:p>
                      <a:pPr>
                        <a:buNone/>
                      </a:pPr>
                      <a:r>
                        <a:rPr lang="en-US" dirty="0">
                          <a:latin typeface="Times New Roman" panose="02020603050405020304" pitchFamily="18" charset="0"/>
                          <a:cs typeface="Times New Roman" panose="02020603050405020304" pitchFamily="18" charset="0"/>
                        </a:rPr>
                        <a:t>May hallucinate cooking steps or produce unrealistic recipes without grounding.</a:t>
                      </a:r>
                      <a:endParaRPr lang="en-IN" sz="1800" dirty="0">
                        <a:latin typeface="Times New Roman" panose="02020603050405020304" pitchFamily="18" charset="0"/>
                        <a:cs typeface="Times New Roman" panose="02020603050405020304" pitchFamily="18" charset="0"/>
                      </a:endParaRPr>
                    </a:p>
                  </a:txBody>
                  <a:tcPr marL="56804" marR="56804" marT="28402" marB="28402" anchor="ctr"/>
                </a:tc>
                <a:extLst>
                  <a:ext uri="{0D108BD9-81ED-4DB2-BD59-A6C34878D82A}">
                    <a16:rowId xmlns:a16="http://schemas.microsoft.com/office/drawing/2014/main" val="3591710684"/>
                  </a:ext>
                </a:extLst>
              </a:tr>
              <a:tr h="911870">
                <a:tc>
                  <a:txBody>
                    <a:bodyPr/>
                    <a:lstStyle/>
                    <a:p>
                      <a:pPr>
                        <a:buNone/>
                      </a:pPr>
                      <a:r>
                        <a:rPr lang="en-US" dirty="0">
                          <a:latin typeface="Times New Roman" panose="02020603050405020304" pitchFamily="18" charset="0"/>
                          <a:cs typeface="Times New Roman" panose="02020603050405020304" pitchFamily="18" charset="0"/>
                        </a:rPr>
                        <a:t>Retrieval-Based Systems</a:t>
                      </a:r>
                      <a:endParaRPr lang="en-IN" sz="1800" dirty="0">
                        <a:latin typeface="Times New Roman" panose="02020603050405020304" pitchFamily="18" charset="0"/>
                        <a:cs typeface="Times New Roman" panose="02020603050405020304" pitchFamily="18" charset="0"/>
                      </a:endParaRPr>
                    </a:p>
                  </a:txBody>
                  <a:tcPr marL="56804" marR="56804" marT="28402" marB="28402" anchor="ctr"/>
                </a:tc>
                <a:tc>
                  <a:txBody>
                    <a:bodyPr/>
                    <a:lstStyle/>
                    <a:p>
                      <a:r>
                        <a:rPr lang="en-US" dirty="0">
                          <a:latin typeface="Times New Roman" panose="02020603050405020304" pitchFamily="18" charset="0"/>
                          <a:cs typeface="Times New Roman" panose="02020603050405020304" pitchFamily="18" charset="0"/>
                        </a:rPr>
                        <a:t>Retrieve similar recipes from large recipe databases using ingredient similarity.</a:t>
                      </a:r>
                    </a:p>
                  </a:txBody>
                  <a:tcPr anchor="ctr"/>
                </a:tc>
                <a:tc>
                  <a:txBody>
                    <a:bodyPr/>
                    <a:lstStyle/>
                    <a:p>
                      <a:pPr>
                        <a:buNone/>
                      </a:pPr>
                      <a:r>
                        <a:rPr lang="en-US" dirty="0">
                          <a:latin typeface="Times New Roman" panose="02020603050405020304" pitchFamily="18" charset="0"/>
                          <a:cs typeface="Times New Roman" panose="02020603050405020304" pitchFamily="18" charset="0"/>
                        </a:rPr>
                        <a:t>Provide contextually relevant recipes based on real data</a:t>
                      </a:r>
                      <a:r>
                        <a:rPr lang="en-US" dirty="0"/>
                        <a:t>.</a:t>
                      </a:r>
                      <a:endParaRPr lang="en-IN" sz="1800" dirty="0">
                        <a:latin typeface="Times New Roman" panose="02020603050405020304" pitchFamily="18" charset="0"/>
                        <a:cs typeface="Times New Roman" panose="02020603050405020304" pitchFamily="18" charset="0"/>
                      </a:endParaRPr>
                    </a:p>
                  </a:txBody>
                  <a:tcPr marL="56804" marR="56804" marT="28402" marB="28402" anchor="ctr"/>
                </a:tc>
                <a:tc>
                  <a:txBody>
                    <a:bodyPr/>
                    <a:lstStyle/>
                    <a:p>
                      <a:pPr>
                        <a:buNone/>
                      </a:pPr>
                      <a:r>
                        <a:rPr lang="en-US" dirty="0">
                          <a:latin typeface="Times New Roman" panose="02020603050405020304" pitchFamily="18" charset="0"/>
                          <a:cs typeface="Times New Roman" panose="02020603050405020304" pitchFamily="18" charset="0"/>
                        </a:rPr>
                        <a:t>Limited creativity and cannot generate new recipes beyond retrieved results.</a:t>
                      </a:r>
                      <a:endParaRPr lang="en-IN" sz="1800" dirty="0">
                        <a:latin typeface="Times New Roman" panose="02020603050405020304" pitchFamily="18" charset="0"/>
                        <a:cs typeface="Times New Roman" panose="02020603050405020304" pitchFamily="18" charset="0"/>
                      </a:endParaRPr>
                    </a:p>
                  </a:txBody>
                  <a:tcPr marL="56804" marR="56804" marT="28402" marB="28402" anchor="ctr"/>
                </a:tc>
                <a:extLst>
                  <a:ext uri="{0D108BD9-81ED-4DB2-BD59-A6C34878D82A}">
                    <a16:rowId xmlns:a16="http://schemas.microsoft.com/office/drawing/2014/main" val="1044456777"/>
                  </a:ext>
                </a:extLst>
              </a:tr>
              <a:tr h="1185432">
                <a:tc>
                  <a:txBody>
                    <a:bodyPr/>
                    <a:lstStyle/>
                    <a:p>
                      <a:pPr>
                        <a:buNone/>
                      </a:pPr>
                      <a:r>
                        <a:rPr lang="en-US" dirty="0">
                          <a:latin typeface="Times New Roman" panose="02020603050405020304" pitchFamily="18" charset="0"/>
                          <a:cs typeface="Times New Roman" panose="02020603050405020304" pitchFamily="18" charset="0"/>
                        </a:rPr>
                        <a:t>Parameter-Efficient Fine-Tuning (</a:t>
                      </a:r>
                      <a:r>
                        <a:rPr lang="en-US" dirty="0" err="1">
                          <a:latin typeface="Times New Roman" panose="02020603050405020304" pitchFamily="18" charset="0"/>
                          <a:cs typeface="Times New Roman" panose="02020603050405020304" pitchFamily="18" charset="0"/>
                        </a:rPr>
                        <a:t>LoRA</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QLoRA</a:t>
                      </a:r>
                      <a:r>
                        <a:rPr lang="en-US" dirty="0">
                          <a:latin typeface="Times New Roman" panose="02020603050405020304" pitchFamily="18" charset="0"/>
                          <a:cs typeface="Times New Roman" panose="02020603050405020304" pitchFamily="18" charset="0"/>
                        </a:rPr>
                        <a:t>)</a:t>
                      </a:r>
                      <a:endParaRPr lang="en-IN" sz="1800" dirty="0">
                        <a:latin typeface="Times New Roman" panose="02020603050405020304" pitchFamily="18" charset="0"/>
                        <a:cs typeface="Times New Roman" panose="02020603050405020304" pitchFamily="18" charset="0"/>
                      </a:endParaRPr>
                    </a:p>
                  </a:txBody>
                  <a:tcPr marL="56804" marR="56804" marT="28402" marB="28402" anchor="ctr"/>
                </a:tc>
                <a:tc>
                  <a:txBody>
                    <a:bodyPr/>
                    <a:lstStyle/>
                    <a:p>
                      <a:pPr>
                        <a:buNone/>
                      </a:pPr>
                      <a:r>
                        <a:rPr lang="en-US" dirty="0">
                          <a:latin typeface="Times New Roman" panose="02020603050405020304" pitchFamily="18" charset="0"/>
                          <a:cs typeface="Times New Roman" panose="02020603050405020304" pitchFamily="18" charset="0"/>
                        </a:rPr>
                        <a:t>Fine-tunes pre-trained models for domain-specific tasks using fewer parameters.</a:t>
                      </a:r>
                      <a:endParaRPr lang="en-IN" sz="1800" dirty="0">
                        <a:latin typeface="Times New Roman" panose="02020603050405020304" pitchFamily="18" charset="0"/>
                        <a:cs typeface="Times New Roman" panose="02020603050405020304" pitchFamily="18" charset="0"/>
                      </a:endParaRPr>
                    </a:p>
                  </a:txBody>
                  <a:tcPr marL="56804" marR="56804" marT="28402" marB="28402" anchor="ctr"/>
                </a:tc>
                <a:tc>
                  <a:txBody>
                    <a:bodyPr/>
                    <a:lstStyle/>
                    <a:p>
                      <a:pPr>
                        <a:buNone/>
                      </a:pPr>
                      <a:r>
                        <a:rPr lang="en-US" dirty="0">
                          <a:latin typeface="Times New Roman" panose="02020603050405020304" pitchFamily="18" charset="0"/>
                          <a:cs typeface="Times New Roman" panose="02020603050405020304" pitchFamily="18" charset="0"/>
                        </a:rPr>
                        <a:t>Reduces training cost and enables adaptation of large models efficiently.</a:t>
                      </a:r>
                      <a:endParaRPr lang="en-IN" sz="1800" dirty="0">
                        <a:latin typeface="Times New Roman" panose="02020603050405020304" pitchFamily="18" charset="0"/>
                        <a:cs typeface="Times New Roman" panose="02020603050405020304" pitchFamily="18" charset="0"/>
                      </a:endParaRPr>
                    </a:p>
                  </a:txBody>
                  <a:tcPr marL="56804" marR="56804" marT="28402" marB="28402" anchor="ctr"/>
                </a:tc>
                <a:tc>
                  <a:txBody>
                    <a:bodyPr/>
                    <a:lstStyle/>
                    <a:p>
                      <a:r>
                        <a:rPr lang="en-US" dirty="0">
                          <a:latin typeface="Times New Roman" panose="02020603050405020304" pitchFamily="18" charset="0"/>
                          <a:cs typeface="Times New Roman" panose="02020603050405020304" pitchFamily="18" charset="0"/>
                        </a:rPr>
                        <a:t>Without retrieval grounding, models may still produce hallucinated outputs.</a:t>
                      </a:r>
                    </a:p>
                  </a:txBody>
                  <a:tcPr anchor="ctr"/>
                </a:tc>
                <a:extLst>
                  <a:ext uri="{0D108BD9-81ED-4DB2-BD59-A6C34878D82A}">
                    <a16:rowId xmlns:a16="http://schemas.microsoft.com/office/drawing/2014/main" val="3164890599"/>
                  </a:ext>
                </a:extLst>
              </a:tr>
            </a:tbl>
          </a:graphicData>
        </a:graphic>
      </p:graphicFrame>
      <p:sp>
        <p:nvSpPr>
          <p:cNvPr id="36" name="TextBox 35">
            <a:extLst>
              <a:ext uri="{FF2B5EF4-FFF2-40B4-BE49-F238E27FC236}">
                <a16:creationId xmlns:a16="http://schemas.microsoft.com/office/drawing/2014/main" id="{E062A8A1-A69A-BA3F-21CA-93814B2AFFB6}"/>
              </a:ext>
            </a:extLst>
          </p:cNvPr>
          <p:cNvSpPr txBox="1"/>
          <p:nvPr/>
        </p:nvSpPr>
        <p:spPr>
          <a:xfrm>
            <a:off x="934721" y="0"/>
            <a:ext cx="10322559" cy="646331"/>
          </a:xfrm>
          <a:prstGeom prst="rect">
            <a:avLst/>
          </a:prstGeom>
          <a:noFill/>
        </p:spPr>
        <p:txBody>
          <a:bodyPr wrap="square">
            <a:spAutoFit/>
          </a:bodyPr>
          <a:lstStyle/>
          <a:p>
            <a:r>
              <a:rPr lang="en-US" sz="3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Technologies and Methods Used in Earlier Systems</a:t>
            </a:r>
            <a:endParaRPr lang="en-IN" sz="36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530158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27"/>
          <p:cNvSpPr txBox="1"/>
          <p:nvPr/>
        </p:nvSpPr>
        <p:spPr>
          <a:xfrm>
            <a:off x="3238500" y="0"/>
            <a:ext cx="5715000" cy="646290"/>
          </a:xfrm>
          <a:prstGeom prst="rect">
            <a:avLst/>
          </a:prstGeom>
          <a:noFill/>
          <a:ln>
            <a:noFill/>
          </a:ln>
        </p:spPr>
        <p:txBody>
          <a:bodyPr spcFirstLastPara="1" wrap="square" lIns="91425" tIns="45700" rIns="91425" bIns="45700" anchor="t" anchorCtr="0">
            <a:spAutoFit/>
          </a:bodyPr>
          <a:lstStyle/>
          <a:p>
            <a:pPr>
              <a:buClr>
                <a:schemeClr val="lt2"/>
              </a:buClr>
              <a:buSzPts val="2400"/>
            </a:pPr>
            <a:r>
              <a:rPr lang="en-US" sz="3600" b="1" dirty="0">
                <a:effectLst>
                  <a:outerShdw blurRad="38100" dist="38100" dir="2700000" algn="tl">
                    <a:srgbClr val="000000">
                      <a:alpha val="43137"/>
                    </a:srgbClr>
                  </a:outerShdw>
                </a:effectLst>
                <a:latin typeface="Times New Roman"/>
                <a:ea typeface="Times New Roman"/>
                <a:cs typeface="Times New Roman"/>
                <a:sym typeface="Times New Roman"/>
              </a:rPr>
              <a:t>PROPOSED SYSTEM</a:t>
            </a:r>
            <a:endParaRPr sz="3600" b="1" dirty="0">
              <a:effectLst>
                <a:outerShdw blurRad="38100" dist="38100" dir="2700000" algn="tl">
                  <a:srgbClr val="000000">
                    <a:alpha val="43137"/>
                  </a:srgbClr>
                </a:outerShdw>
              </a:effectLst>
            </a:endParaRPr>
          </a:p>
        </p:txBody>
      </p:sp>
      <p:sp>
        <p:nvSpPr>
          <p:cNvPr id="3" name="Footer Placeholder 2">
            <a:extLst>
              <a:ext uri="{FF2B5EF4-FFF2-40B4-BE49-F238E27FC236}">
                <a16:creationId xmlns:a16="http://schemas.microsoft.com/office/drawing/2014/main" id="{E578851D-1C23-D52F-FCFB-3E4181A88C05}"/>
              </a:ext>
            </a:extLst>
          </p:cNvPr>
          <p:cNvSpPr>
            <a:spLocks noGrp="1"/>
          </p:cNvSpPr>
          <p:nvPr>
            <p:ph type="ftr" sz="quarter" idx="11"/>
          </p:nvPr>
        </p:nvSpPr>
        <p:spPr>
          <a:xfrm>
            <a:off x="2837750" y="6492875"/>
            <a:ext cx="7084177" cy="365125"/>
          </a:xfrm>
        </p:spPr>
        <p:txBody>
          <a:bodyPr/>
          <a:lstStyle/>
          <a:p>
            <a:pPr algn="ctr">
              <a:buClr>
                <a:schemeClr val="dk1"/>
              </a:buClr>
              <a:buSzPts val="2400"/>
            </a:pPr>
            <a:r>
              <a:rPr lang="en-US" sz="1100" dirty="0">
                <a:solidFill>
                  <a:schemeClr val="dk1"/>
                </a:solidFill>
                <a:latin typeface="Times New Roman"/>
                <a:ea typeface="Times New Roman"/>
                <a:cs typeface="Times New Roman"/>
                <a:sym typeface="Times New Roman"/>
              </a:rPr>
              <a:t>Chef Guru: A Hybrid RAG and Fine-Tuning Framework for Personalized AI-Powered Recipe Generation</a:t>
            </a:r>
            <a:endParaRPr lang="en-US" sz="1100" dirty="0"/>
          </a:p>
        </p:txBody>
      </p:sp>
      <p:sp>
        <p:nvSpPr>
          <p:cNvPr id="2" name="Slide Number Placeholder 1">
            <a:extLst>
              <a:ext uri="{FF2B5EF4-FFF2-40B4-BE49-F238E27FC236}">
                <a16:creationId xmlns:a16="http://schemas.microsoft.com/office/drawing/2014/main" id="{16FEDE4B-4AE3-B33E-BDA5-4E96D5CBA452}"/>
              </a:ext>
            </a:extLst>
          </p:cNvPr>
          <p:cNvSpPr>
            <a:spLocks noGrp="1"/>
          </p:cNvSpPr>
          <p:nvPr>
            <p:ph type="sldNum" sz="quarter" idx="12"/>
          </p:nvPr>
        </p:nvSpPr>
        <p:spPr/>
        <p:txBody>
          <a:bodyPr/>
          <a:lstStyle/>
          <a:p>
            <a:fld id="{FC6BEB0F-7D1A-4CFC-9A6C-0E77E068DA9D}" type="slidenum">
              <a:rPr lang="en-US" smtClean="0"/>
              <a:t>8</a:t>
            </a:fld>
            <a:endParaRPr lang="en-US"/>
          </a:p>
        </p:txBody>
      </p:sp>
      <p:sp>
        <p:nvSpPr>
          <p:cNvPr id="5" name="TextBox 4">
            <a:extLst>
              <a:ext uri="{FF2B5EF4-FFF2-40B4-BE49-F238E27FC236}">
                <a16:creationId xmlns:a16="http://schemas.microsoft.com/office/drawing/2014/main" id="{E8CEE07F-2BF7-7D39-F48A-A3383879ED1B}"/>
              </a:ext>
            </a:extLst>
          </p:cNvPr>
          <p:cNvSpPr txBox="1"/>
          <p:nvPr/>
        </p:nvSpPr>
        <p:spPr>
          <a:xfrm>
            <a:off x="806245" y="633322"/>
            <a:ext cx="10579510" cy="6101927"/>
          </a:xfrm>
          <a:prstGeom prst="rect">
            <a:avLst/>
          </a:prstGeom>
          <a:noFill/>
        </p:spPr>
        <p:txBody>
          <a:bodyPr wrap="square">
            <a:spAutoFit/>
          </a:bodyPr>
          <a:lstStyle/>
          <a:p>
            <a:pPr marL="285750" indent="-285750" algn="just">
              <a:lnSpc>
                <a:spcPct val="20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Chef Guru is an AI-powered recipe generation system that creates recipes from ingredient-only inputs.</a:t>
            </a:r>
          </a:p>
          <a:p>
            <a:pPr marL="285750" indent="-285750" algn="just">
              <a:lnSpc>
                <a:spcPct val="20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It uses a hybrid architecture combining Retrieval-Augmented Generation (RAG) and </a:t>
            </a:r>
            <a:r>
              <a:rPr lang="en-US" dirty="0" err="1">
                <a:latin typeface="Times New Roman" panose="02020603050405020304" pitchFamily="18" charset="0"/>
                <a:cs typeface="Times New Roman" panose="02020603050405020304" pitchFamily="18" charset="0"/>
              </a:rPr>
              <a:t>QLoRA</a:t>
            </a:r>
            <a:r>
              <a:rPr lang="en-US" dirty="0">
                <a:latin typeface="Times New Roman" panose="02020603050405020304" pitchFamily="18" charset="0"/>
                <a:cs typeface="Times New Roman" panose="02020603050405020304" pitchFamily="18" charset="0"/>
              </a:rPr>
              <a:t> fine-tuning to improve accuracy and reliability.</a:t>
            </a:r>
          </a:p>
          <a:p>
            <a:pPr marL="285750" indent="-285750" algn="just">
              <a:lnSpc>
                <a:spcPct val="20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system retrieves relevant recipes from a </a:t>
            </a:r>
            <a:r>
              <a:rPr lang="en-US" dirty="0" err="1">
                <a:latin typeface="Times New Roman" panose="02020603050405020304" pitchFamily="18" charset="0"/>
                <a:cs typeface="Times New Roman" panose="02020603050405020304" pitchFamily="18" charset="0"/>
              </a:rPr>
              <a:t>ChromaDB</a:t>
            </a:r>
            <a:r>
              <a:rPr lang="en-US" dirty="0">
                <a:latin typeface="Times New Roman" panose="02020603050405020304" pitchFamily="18" charset="0"/>
                <a:cs typeface="Times New Roman" panose="02020603050405020304" pitchFamily="18" charset="0"/>
              </a:rPr>
              <a:t> vector database using semantic embeddings and refines them through cross-encoder re-ranking.</a:t>
            </a:r>
          </a:p>
          <a:p>
            <a:pPr marL="285750" indent="-285750" algn="just">
              <a:lnSpc>
                <a:spcPct val="20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 fine-tuned Phi-3-mini language model generates complete recipes with ingredients and step-by-step cooking instructions.</a:t>
            </a:r>
          </a:p>
          <a:p>
            <a:pPr marL="285750" indent="-285750" algn="just">
              <a:lnSpc>
                <a:spcPct val="20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system uses query expansion techniques to enrich ingredient inputs and improve retrieval relevance.</a:t>
            </a:r>
          </a:p>
          <a:p>
            <a:pPr marL="285750" indent="-285750" algn="just">
              <a:lnSpc>
                <a:spcPct val="20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 microservices backend with MongoDB and Redis manages authentication, caching, and data persistence.</a:t>
            </a:r>
          </a:p>
          <a:p>
            <a:pPr marL="285750" indent="-285750" algn="just">
              <a:lnSpc>
                <a:spcPct val="20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 React-based frontend interface allows users to input ingredients, generate recipes, and interact with the system easily.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AF9AF9FD-AD51-A4D9-2806-F530F94F3A4F}"/>
              </a:ext>
            </a:extLst>
          </p:cNvPr>
          <p:cNvSpPr>
            <a:spLocks noGrp="1"/>
          </p:cNvSpPr>
          <p:nvPr>
            <p:ph type="ftr" sz="quarter" idx="11"/>
          </p:nvPr>
        </p:nvSpPr>
        <p:spPr>
          <a:xfrm>
            <a:off x="2553911" y="6232256"/>
            <a:ext cx="7084177" cy="365125"/>
          </a:xfrm>
        </p:spPr>
        <p:txBody>
          <a:bodyPr/>
          <a:lstStyle/>
          <a:p>
            <a:r>
              <a:rPr lang="en-US" sz="1100" dirty="0">
                <a:solidFill>
                  <a:schemeClr val="dk1"/>
                </a:solidFill>
                <a:latin typeface="Times New Roman"/>
                <a:ea typeface="Times New Roman"/>
                <a:cs typeface="Times New Roman"/>
                <a:sym typeface="Times New Roman"/>
              </a:rPr>
              <a:t>Chef Guru: A Hybrid RAG and Fine-Tuning Framework for Personalized AI-Powered Recipe Generation</a:t>
            </a:r>
            <a:endParaRPr lang="en-US" sz="1100" dirty="0"/>
          </a:p>
          <a:p>
            <a:endParaRPr lang="en-US" dirty="0"/>
          </a:p>
        </p:txBody>
      </p:sp>
      <p:sp>
        <p:nvSpPr>
          <p:cNvPr id="5" name="Slide Number Placeholder 4">
            <a:extLst>
              <a:ext uri="{FF2B5EF4-FFF2-40B4-BE49-F238E27FC236}">
                <a16:creationId xmlns:a16="http://schemas.microsoft.com/office/drawing/2014/main" id="{60E76BE8-E60E-37B8-5B19-933B8C0A0B52}"/>
              </a:ext>
            </a:extLst>
          </p:cNvPr>
          <p:cNvSpPr>
            <a:spLocks noGrp="1"/>
          </p:cNvSpPr>
          <p:nvPr>
            <p:ph type="sldNum" sz="quarter" idx="12"/>
          </p:nvPr>
        </p:nvSpPr>
        <p:spPr/>
        <p:txBody>
          <a:bodyPr/>
          <a:lstStyle/>
          <a:p>
            <a:fld id="{FC6BEB0F-7D1A-4CFC-9A6C-0E77E068DA9D}" type="slidenum">
              <a:rPr lang="en-US" smtClean="0"/>
              <a:t>9</a:t>
            </a:fld>
            <a:endParaRPr lang="en-US"/>
          </a:p>
        </p:txBody>
      </p:sp>
      <p:sp>
        <p:nvSpPr>
          <p:cNvPr id="6" name="Google Shape;196;p27">
            <a:extLst>
              <a:ext uri="{FF2B5EF4-FFF2-40B4-BE49-F238E27FC236}">
                <a16:creationId xmlns:a16="http://schemas.microsoft.com/office/drawing/2014/main" id="{0B37FFB5-3FDB-FD53-830F-666D9E7DEC89}"/>
              </a:ext>
            </a:extLst>
          </p:cNvPr>
          <p:cNvSpPr txBox="1"/>
          <p:nvPr/>
        </p:nvSpPr>
        <p:spPr>
          <a:xfrm>
            <a:off x="3238500" y="0"/>
            <a:ext cx="5715000" cy="1200288"/>
          </a:xfrm>
          <a:prstGeom prst="rect">
            <a:avLst/>
          </a:prstGeom>
          <a:noFill/>
          <a:ln>
            <a:noFill/>
          </a:ln>
        </p:spPr>
        <p:txBody>
          <a:bodyPr spcFirstLastPara="1" wrap="square" lIns="91425" tIns="45700" rIns="91425" bIns="45700" anchor="t" anchorCtr="0">
            <a:spAutoFit/>
          </a:bodyPr>
          <a:lstStyle/>
          <a:p>
            <a:pPr>
              <a:buClr>
                <a:schemeClr val="lt2"/>
              </a:buClr>
              <a:buSzPts val="2400"/>
            </a:pPr>
            <a:r>
              <a:rPr lang="en-US" sz="3600" b="1" dirty="0">
                <a:solidFill>
                  <a:schemeClr val="dk1"/>
                </a:solidFill>
                <a:effectLst>
                  <a:outerShdw blurRad="38100" dist="38100" dir="2700000" algn="tl">
                    <a:srgbClr val="000000">
                      <a:alpha val="43137"/>
                    </a:srgbClr>
                  </a:outerShdw>
                </a:effectLst>
                <a:latin typeface="Times New Roman" panose="02020603050405020304" pitchFamily="18" charset="0"/>
                <a:ea typeface="Times New Roman"/>
                <a:cs typeface="Times New Roman" panose="02020603050405020304" pitchFamily="18" charset="0"/>
                <a:sym typeface="Times New Roman"/>
              </a:rPr>
              <a:t>KEY INNOVATIONS</a:t>
            </a:r>
            <a:endParaRPr lang="en-US" sz="3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buClr>
                <a:schemeClr val="lt2"/>
              </a:buClr>
              <a:buSzPts val="2400"/>
            </a:pPr>
            <a:endParaRPr lang="en-US" sz="3600" b="1" dirty="0">
              <a:effectLst>
                <a:outerShdw blurRad="38100" dist="38100" dir="2700000" algn="tl">
                  <a:srgbClr val="000000">
                    <a:alpha val="43137"/>
                  </a:srgbClr>
                </a:outerShdw>
              </a:effectLst>
            </a:endParaRPr>
          </a:p>
        </p:txBody>
      </p:sp>
      <p:sp>
        <p:nvSpPr>
          <p:cNvPr id="9" name="Rectangle 1">
            <a:extLst>
              <a:ext uri="{FF2B5EF4-FFF2-40B4-BE49-F238E27FC236}">
                <a16:creationId xmlns:a16="http://schemas.microsoft.com/office/drawing/2014/main" id="{2A8B0C1F-6530-F4B6-47DD-3BF57C6B305C}"/>
              </a:ext>
            </a:extLst>
          </p:cNvPr>
          <p:cNvSpPr>
            <a:spLocks noChangeArrowheads="1"/>
          </p:cNvSpPr>
          <p:nvPr/>
        </p:nvSpPr>
        <p:spPr bwMode="auto">
          <a:xfrm>
            <a:off x="716541" y="600144"/>
            <a:ext cx="10594587"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Ingredient-Based Recipe Generation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Automatically generates complete recipes based on the ingredients provided by the user, enabling personalized cooking suggestions. </a:t>
            </a:r>
          </a:p>
          <a:p>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Hybrid Retrieval and Generation Approach</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Combines Retrieval-Augmented Generation (RAG) with </a:t>
            </a:r>
            <a:r>
              <a:rPr lang="en-US" dirty="0" err="1">
                <a:latin typeface="Times New Roman" panose="02020603050405020304" pitchFamily="18" charset="0"/>
                <a:cs typeface="Times New Roman" panose="02020603050405020304" pitchFamily="18" charset="0"/>
              </a:rPr>
              <a:t>QLoRA</a:t>
            </a:r>
            <a:r>
              <a:rPr lang="en-US" dirty="0">
                <a:latin typeface="Times New Roman" panose="02020603050405020304" pitchFamily="18" charset="0"/>
                <a:cs typeface="Times New Roman" panose="02020603050405020304" pitchFamily="18" charset="0"/>
              </a:rPr>
              <a:t> fine-tuned language models to produce contextually grounded and reliable recipes. </a:t>
            </a:r>
          </a:p>
          <a:p>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Semantic Recipe Retrieval</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Uses </a:t>
            </a:r>
            <a:r>
              <a:rPr lang="en-US" dirty="0" err="1">
                <a:latin typeface="Times New Roman" panose="02020603050405020304" pitchFamily="18" charset="0"/>
                <a:cs typeface="Times New Roman" panose="02020603050405020304" pitchFamily="18" charset="0"/>
              </a:rPr>
              <a:t>SentenceTransformer</a:t>
            </a:r>
            <a:r>
              <a:rPr lang="en-US" dirty="0">
                <a:latin typeface="Times New Roman" panose="02020603050405020304" pitchFamily="18" charset="0"/>
                <a:cs typeface="Times New Roman" panose="02020603050405020304" pitchFamily="18" charset="0"/>
              </a:rPr>
              <a:t> embeddings and a </a:t>
            </a:r>
            <a:r>
              <a:rPr lang="en-US" dirty="0" err="1">
                <a:latin typeface="Times New Roman" panose="02020603050405020304" pitchFamily="18" charset="0"/>
                <a:cs typeface="Times New Roman" panose="02020603050405020304" pitchFamily="18" charset="0"/>
              </a:rPr>
              <a:t>ChromaDB</a:t>
            </a:r>
            <a:r>
              <a:rPr lang="en-US" dirty="0">
                <a:latin typeface="Times New Roman" panose="02020603050405020304" pitchFamily="18" charset="0"/>
                <a:cs typeface="Times New Roman" panose="02020603050405020304" pitchFamily="18" charset="0"/>
              </a:rPr>
              <a:t> vector database to retrieve relevant recipes based on ingredient similarity. </a:t>
            </a:r>
          </a:p>
          <a:p>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Cross-Encoder Re-Ranking for Accuracy</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Applies a cross-encoder model to refine retrieved recipes and select the most relevant ones before generation. </a:t>
            </a:r>
          </a:p>
          <a:p>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Step-Level Culinary Explanation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Provides explanations for each cooking step, helping users understand the cooking process, techniques, and ingredient interactions. </a:t>
            </a:r>
          </a:p>
        </p:txBody>
      </p:sp>
    </p:spTree>
    <p:extLst>
      <p:ext uri="{BB962C8B-B14F-4D97-AF65-F5344CB8AC3E}">
        <p14:creationId xmlns:p14="http://schemas.microsoft.com/office/powerpoint/2010/main" val="25552524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8"/>
          <p:cNvSpPr txBox="1"/>
          <p:nvPr/>
        </p:nvSpPr>
        <p:spPr>
          <a:xfrm>
            <a:off x="2553912" y="0"/>
            <a:ext cx="7084177" cy="646290"/>
          </a:xfrm>
          <a:prstGeom prst="rect">
            <a:avLst/>
          </a:prstGeom>
          <a:noFill/>
          <a:ln>
            <a:noFill/>
          </a:ln>
        </p:spPr>
        <p:txBody>
          <a:bodyPr spcFirstLastPara="1" wrap="square" lIns="91425" tIns="45700" rIns="91425" bIns="45700" anchor="t" anchorCtr="0">
            <a:spAutoFit/>
          </a:bodyPr>
          <a:lstStyle/>
          <a:p>
            <a:pPr>
              <a:buClr>
                <a:schemeClr val="lt2"/>
              </a:buClr>
              <a:buSzPts val="2400"/>
            </a:pPr>
            <a:r>
              <a:rPr lang="en-US" sz="3600" b="1" dirty="0">
                <a:effectLst>
                  <a:outerShdw blurRad="38100" dist="38100" dir="2700000" algn="tl">
                    <a:srgbClr val="000000">
                      <a:alpha val="43137"/>
                    </a:srgbClr>
                  </a:outerShdw>
                </a:effectLst>
                <a:latin typeface="Times New Roman" panose="02020603050405020304" pitchFamily="18" charset="0"/>
                <a:ea typeface="Times New Roman"/>
                <a:cs typeface="Times New Roman" panose="02020603050405020304" pitchFamily="18" charset="0"/>
                <a:sym typeface="Times New Roman"/>
              </a:rPr>
              <a:t>SYSTEM ARCHITECTURE</a:t>
            </a:r>
            <a:endParaRPr sz="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7133F6F4-380D-6796-45F7-4993C6E3303D}"/>
              </a:ext>
            </a:extLst>
          </p:cNvPr>
          <p:cNvSpPr>
            <a:spLocks noGrp="1"/>
          </p:cNvSpPr>
          <p:nvPr>
            <p:ph type="ftr" sz="quarter" idx="11"/>
          </p:nvPr>
        </p:nvSpPr>
        <p:spPr>
          <a:xfrm>
            <a:off x="1226035" y="6462580"/>
            <a:ext cx="7084177" cy="365125"/>
          </a:xfrm>
        </p:spPr>
        <p:txBody>
          <a:bodyPr/>
          <a:lstStyle/>
          <a:p>
            <a:r>
              <a:rPr lang="en-US" sz="1100" dirty="0">
                <a:solidFill>
                  <a:schemeClr val="dk1"/>
                </a:solidFill>
                <a:latin typeface="Times New Roman"/>
                <a:ea typeface="Times New Roman"/>
                <a:cs typeface="Times New Roman"/>
                <a:sym typeface="Times New Roman"/>
              </a:rPr>
              <a:t>Chef Guru: A Hybrid RAG and Fine-Tuning Framework for Personalized AI-Powered Recipe Generation</a:t>
            </a:r>
            <a:endParaRPr lang="en-US" dirty="0"/>
          </a:p>
          <a:p>
            <a:endParaRPr lang="en-US" dirty="0"/>
          </a:p>
        </p:txBody>
      </p:sp>
      <p:sp>
        <p:nvSpPr>
          <p:cNvPr id="2" name="Slide Number Placeholder 1">
            <a:extLst>
              <a:ext uri="{FF2B5EF4-FFF2-40B4-BE49-F238E27FC236}">
                <a16:creationId xmlns:a16="http://schemas.microsoft.com/office/drawing/2014/main" id="{1E3F8802-3B77-78DD-71FF-FFDFB8F546CA}"/>
              </a:ext>
            </a:extLst>
          </p:cNvPr>
          <p:cNvSpPr>
            <a:spLocks noGrp="1"/>
          </p:cNvSpPr>
          <p:nvPr>
            <p:ph type="sldNum" sz="quarter" idx="12"/>
          </p:nvPr>
        </p:nvSpPr>
        <p:spPr/>
        <p:txBody>
          <a:bodyPr/>
          <a:lstStyle/>
          <a:p>
            <a:fld id="{FC6BEB0F-7D1A-4CFC-9A6C-0E77E068DA9D}" type="slidenum">
              <a:rPr lang="en-US" smtClean="0"/>
              <a:t>10</a:t>
            </a:fld>
            <a:endParaRPr lang="en-US"/>
          </a:p>
        </p:txBody>
      </p:sp>
      <p:pic>
        <p:nvPicPr>
          <p:cNvPr id="3074" name="Picture 2">
            <a:extLst>
              <a:ext uri="{FF2B5EF4-FFF2-40B4-BE49-F238E27FC236}">
                <a16:creationId xmlns:a16="http://schemas.microsoft.com/office/drawing/2014/main" id="{8CA47459-113E-415A-9950-ED59DE8F20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989" y="1240001"/>
            <a:ext cx="9908340" cy="50684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2">
          <a:extLst>
            <a:ext uri="{FF2B5EF4-FFF2-40B4-BE49-F238E27FC236}">
              <a16:creationId xmlns:a16="http://schemas.microsoft.com/office/drawing/2014/main" id="{879C05EB-DC11-0658-0CB4-6DCC4DC9767B}"/>
            </a:ext>
          </a:extLst>
        </p:cNvPr>
        <p:cNvGrpSpPr/>
        <p:nvPr/>
      </p:nvGrpSpPr>
      <p:grpSpPr>
        <a:xfrm>
          <a:off x="0" y="0"/>
          <a:ext cx="0" cy="0"/>
          <a:chOff x="0" y="0"/>
          <a:chExt cx="0" cy="0"/>
        </a:xfrm>
      </p:grpSpPr>
      <p:sp>
        <p:nvSpPr>
          <p:cNvPr id="203" name="Google Shape;203;p28">
            <a:extLst>
              <a:ext uri="{FF2B5EF4-FFF2-40B4-BE49-F238E27FC236}">
                <a16:creationId xmlns:a16="http://schemas.microsoft.com/office/drawing/2014/main" id="{0120D0A9-B210-A967-81DF-62BA573C6EDD}"/>
              </a:ext>
            </a:extLst>
          </p:cNvPr>
          <p:cNvSpPr txBox="1"/>
          <p:nvPr/>
        </p:nvSpPr>
        <p:spPr>
          <a:xfrm>
            <a:off x="2553912" y="0"/>
            <a:ext cx="7084177" cy="646290"/>
          </a:xfrm>
          <a:prstGeom prst="rect">
            <a:avLst/>
          </a:prstGeom>
          <a:noFill/>
          <a:ln>
            <a:noFill/>
          </a:ln>
        </p:spPr>
        <p:txBody>
          <a:bodyPr spcFirstLastPara="1" wrap="square" lIns="91425" tIns="45700" rIns="91425" bIns="45700" anchor="t" anchorCtr="0">
            <a:spAutoFit/>
          </a:bodyPr>
          <a:lstStyle/>
          <a:p>
            <a:pPr>
              <a:buClr>
                <a:schemeClr val="lt2"/>
              </a:buClr>
              <a:buSzPts val="2400"/>
            </a:pPr>
            <a:r>
              <a:rPr lang="en-US" sz="3600" b="1" dirty="0">
                <a:effectLst>
                  <a:outerShdw blurRad="38100" dist="38100" dir="2700000" algn="tl">
                    <a:srgbClr val="000000">
                      <a:alpha val="43137"/>
                    </a:srgbClr>
                  </a:outerShdw>
                </a:effectLst>
                <a:latin typeface="Times New Roman" panose="02020603050405020304" pitchFamily="18" charset="0"/>
                <a:ea typeface="Times New Roman"/>
                <a:cs typeface="Times New Roman" panose="02020603050405020304" pitchFamily="18" charset="0"/>
                <a:sym typeface="Times New Roman"/>
              </a:rPr>
              <a:t>SYSTEM ARCHITECTURE</a:t>
            </a:r>
            <a:endParaRPr sz="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86C26D3D-9DB6-1DE6-EE58-B7B7B59AC33C}"/>
              </a:ext>
            </a:extLst>
          </p:cNvPr>
          <p:cNvSpPr>
            <a:spLocks noGrp="1"/>
          </p:cNvSpPr>
          <p:nvPr>
            <p:ph type="ftr" sz="quarter" idx="11"/>
          </p:nvPr>
        </p:nvSpPr>
        <p:spPr>
          <a:xfrm>
            <a:off x="1226035" y="6462580"/>
            <a:ext cx="7084177" cy="365125"/>
          </a:xfrm>
        </p:spPr>
        <p:txBody>
          <a:bodyPr/>
          <a:lstStyle/>
          <a:p>
            <a:r>
              <a:rPr lang="en-US" sz="1100" dirty="0">
                <a:solidFill>
                  <a:schemeClr val="dk1"/>
                </a:solidFill>
                <a:latin typeface="Times New Roman"/>
                <a:ea typeface="Times New Roman"/>
                <a:cs typeface="Times New Roman"/>
                <a:sym typeface="Times New Roman"/>
              </a:rPr>
              <a:t>Chef Guru: A Hybrid RAG and Fine-Tuning Framework for Personalized AI-Powered Recipe Generation</a:t>
            </a:r>
            <a:endParaRPr lang="en-US" dirty="0"/>
          </a:p>
          <a:p>
            <a:endParaRPr lang="en-US" dirty="0"/>
          </a:p>
        </p:txBody>
      </p:sp>
      <p:sp>
        <p:nvSpPr>
          <p:cNvPr id="2" name="Slide Number Placeholder 1">
            <a:extLst>
              <a:ext uri="{FF2B5EF4-FFF2-40B4-BE49-F238E27FC236}">
                <a16:creationId xmlns:a16="http://schemas.microsoft.com/office/drawing/2014/main" id="{0EE6E1CC-AB70-1995-4C48-664C84B45515}"/>
              </a:ext>
            </a:extLst>
          </p:cNvPr>
          <p:cNvSpPr>
            <a:spLocks noGrp="1"/>
          </p:cNvSpPr>
          <p:nvPr>
            <p:ph type="sldNum" sz="quarter" idx="12"/>
          </p:nvPr>
        </p:nvSpPr>
        <p:spPr/>
        <p:txBody>
          <a:bodyPr/>
          <a:lstStyle/>
          <a:p>
            <a:fld id="{FC6BEB0F-7D1A-4CFC-9A6C-0E77E068DA9D}" type="slidenum">
              <a:rPr lang="en-US" smtClean="0"/>
              <a:t>11</a:t>
            </a:fld>
            <a:endParaRPr lang="en-US"/>
          </a:p>
        </p:txBody>
      </p:sp>
      <p:pic>
        <p:nvPicPr>
          <p:cNvPr id="5" name="Picture 4">
            <a:extLst>
              <a:ext uri="{FF2B5EF4-FFF2-40B4-BE49-F238E27FC236}">
                <a16:creationId xmlns:a16="http://schemas.microsoft.com/office/drawing/2014/main" id="{8D6CF333-8D2C-8AD5-1C75-6BD12ADF84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30353"/>
            <a:ext cx="10405872" cy="6225782"/>
          </a:xfrm>
          <a:prstGeom prst="rect">
            <a:avLst/>
          </a:prstGeom>
        </p:spPr>
      </p:pic>
      <p:sp>
        <p:nvSpPr>
          <p:cNvPr id="6" name="Rectangle 5">
            <a:extLst>
              <a:ext uri="{FF2B5EF4-FFF2-40B4-BE49-F238E27FC236}">
                <a16:creationId xmlns:a16="http://schemas.microsoft.com/office/drawing/2014/main" id="{28237B4D-843D-8DA2-B4F2-91883B0421BF}"/>
              </a:ext>
            </a:extLst>
          </p:cNvPr>
          <p:cNvSpPr/>
          <p:nvPr/>
        </p:nvSpPr>
        <p:spPr>
          <a:xfrm>
            <a:off x="8892540" y="2121216"/>
            <a:ext cx="542925" cy="184785"/>
          </a:xfrm>
          <a:prstGeom prst="rect">
            <a:avLst/>
          </a:prstGeom>
          <a:solidFill>
            <a:srgbClr val="FA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 name="Rectangle: Rounded Corners 7">
            <a:extLst>
              <a:ext uri="{FF2B5EF4-FFF2-40B4-BE49-F238E27FC236}">
                <a16:creationId xmlns:a16="http://schemas.microsoft.com/office/drawing/2014/main" id="{9401D67C-D20A-2478-F5B8-2873CF9CB1B2}"/>
              </a:ext>
            </a:extLst>
          </p:cNvPr>
          <p:cNvSpPr/>
          <p:nvPr/>
        </p:nvSpPr>
        <p:spPr>
          <a:xfrm>
            <a:off x="6697662" y="2246948"/>
            <a:ext cx="219075" cy="75036"/>
          </a:xfrm>
          <a:prstGeom prst="roundRect">
            <a:avLst/>
          </a:prstGeom>
          <a:solidFill>
            <a:srgbClr val="EDED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Freeform: Shape 11">
            <a:extLst>
              <a:ext uri="{FF2B5EF4-FFF2-40B4-BE49-F238E27FC236}">
                <a16:creationId xmlns:a16="http://schemas.microsoft.com/office/drawing/2014/main" id="{0E28D8A7-B382-F024-B95B-AA63464994C1}"/>
              </a:ext>
            </a:extLst>
          </p:cNvPr>
          <p:cNvSpPr/>
          <p:nvPr/>
        </p:nvSpPr>
        <p:spPr>
          <a:xfrm>
            <a:off x="8892540" y="2213609"/>
            <a:ext cx="209550" cy="93345"/>
          </a:xfrm>
          <a:custGeom>
            <a:avLst/>
            <a:gdLst>
              <a:gd name="csX0" fmla="*/ 0 w 209550"/>
              <a:gd name="csY0" fmla="*/ 1905 h 93345"/>
              <a:gd name="csX1" fmla="*/ 209550 w 209550"/>
              <a:gd name="csY1" fmla="*/ 0 h 93345"/>
              <a:gd name="csX2" fmla="*/ 209550 w 209550"/>
              <a:gd name="csY2" fmla="*/ 0 h 93345"/>
              <a:gd name="csX3" fmla="*/ 209550 w 209550"/>
              <a:gd name="csY3" fmla="*/ 93345 h 93345"/>
              <a:gd name="csX4" fmla="*/ 209550 w 209550"/>
              <a:gd name="csY4" fmla="*/ 93345 h 93345"/>
              <a:gd name="csX5" fmla="*/ 209550 w 209550"/>
              <a:gd name="csY5" fmla="*/ 93345 h 93345"/>
            </a:gdLst>
            <a:ahLst/>
            <a:cxnLst>
              <a:cxn ang="0">
                <a:pos x="csX0" y="csY0"/>
              </a:cxn>
              <a:cxn ang="0">
                <a:pos x="csX1" y="csY1"/>
              </a:cxn>
              <a:cxn ang="0">
                <a:pos x="csX2" y="csY2"/>
              </a:cxn>
              <a:cxn ang="0">
                <a:pos x="csX3" y="csY3"/>
              </a:cxn>
              <a:cxn ang="0">
                <a:pos x="csX4" y="csY4"/>
              </a:cxn>
              <a:cxn ang="0">
                <a:pos x="csX5" y="csY5"/>
              </a:cxn>
            </a:cxnLst>
            <a:rect l="l" t="t" r="r" b="b"/>
            <a:pathLst>
              <a:path w="209550" h="93345">
                <a:moveTo>
                  <a:pt x="0" y="1905"/>
                </a:moveTo>
                <a:lnTo>
                  <a:pt x="209550" y="0"/>
                </a:lnTo>
                <a:lnTo>
                  <a:pt x="209550" y="0"/>
                </a:lnTo>
                <a:lnTo>
                  <a:pt x="209550" y="93345"/>
                </a:lnTo>
                <a:lnTo>
                  <a:pt x="209550" y="93345"/>
                </a:lnTo>
                <a:lnTo>
                  <a:pt x="209550" y="93345"/>
                </a:lnTo>
              </a:path>
            </a:pathLst>
          </a:custGeom>
          <a:ln w="19050">
            <a:solidFill>
              <a:srgbClr val="C2C2C2"/>
            </a:solidFill>
          </a:ln>
        </p:spPr>
        <p:style>
          <a:lnRef idx="2">
            <a:schemeClr val="dk1"/>
          </a:lnRef>
          <a:fillRef idx="0">
            <a:schemeClr val="dk1"/>
          </a:fillRef>
          <a:effectRef idx="1">
            <a:schemeClr val="dk1"/>
          </a:effectRef>
          <a:fontRef idx="minor">
            <a:schemeClr val="tx1"/>
          </a:fontRef>
        </p:style>
        <p:txBody>
          <a:bodyPr rtlCol="0" anchor="ctr"/>
          <a:lstStyle/>
          <a:p>
            <a:pPr algn="ctr"/>
            <a:endParaRPr lang="en-IN" dirty="0">
              <a:ln>
                <a:solidFill>
                  <a:schemeClr val="tx1"/>
                </a:solidFill>
              </a:ln>
            </a:endParaRPr>
          </a:p>
        </p:txBody>
      </p:sp>
      <p:sp>
        <p:nvSpPr>
          <p:cNvPr id="14" name="TextBox 13">
            <a:extLst>
              <a:ext uri="{FF2B5EF4-FFF2-40B4-BE49-F238E27FC236}">
                <a16:creationId xmlns:a16="http://schemas.microsoft.com/office/drawing/2014/main" id="{F398A182-F1C8-95C0-7292-58176C9B74E3}"/>
              </a:ext>
            </a:extLst>
          </p:cNvPr>
          <p:cNvSpPr txBox="1"/>
          <p:nvPr/>
        </p:nvSpPr>
        <p:spPr>
          <a:xfrm>
            <a:off x="9875520" y="6157368"/>
            <a:ext cx="287258" cy="230832"/>
          </a:xfrm>
          <a:prstGeom prst="rect">
            <a:avLst/>
          </a:prstGeom>
          <a:noFill/>
        </p:spPr>
        <p:txBody>
          <a:bodyPr wrap="none" rtlCol="0">
            <a:spAutoFit/>
          </a:bodyPr>
          <a:lstStyle/>
          <a:p>
            <a:r>
              <a:rPr lang="en-US" sz="900" b="1" dirty="0">
                <a:latin typeface="Carlito" panose="020F0502020204030204" pitchFamily="34" charset="0"/>
                <a:cs typeface="Carlito" panose="020F0502020204030204" pitchFamily="34" charset="0"/>
              </a:rPr>
              <a:t>to</a:t>
            </a:r>
            <a:endParaRPr lang="en-IN" sz="900" b="1" dirty="0">
              <a:latin typeface="Carlito" panose="020F0502020204030204" pitchFamily="34" charset="0"/>
              <a:cs typeface="Carlito" panose="020F0502020204030204" pitchFamily="34" charset="0"/>
            </a:endParaRPr>
          </a:p>
        </p:txBody>
      </p:sp>
      <p:sp>
        <p:nvSpPr>
          <p:cNvPr id="4" name="Rectangle 3">
            <a:extLst>
              <a:ext uri="{FF2B5EF4-FFF2-40B4-BE49-F238E27FC236}">
                <a16:creationId xmlns:a16="http://schemas.microsoft.com/office/drawing/2014/main" id="{3D1AFD54-A629-1D93-6A24-A4530EC9A484}"/>
              </a:ext>
            </a:extLst>
          </p:cNvPr>
          <p:cNvSpPr/>
          <p:nvPr/>
        </p:nvSpPr>
        <p:spPr>
          <a:xfrm>
            <a:off x="5825067" y="2556933"/>
            <a:ext cx="982133" cy="148167"/>
          </a:xfrm>
          <a:prstGeom prst="rect">
            <a:avLst/>
          </a:prstGeom>
          <a:solidFill>
            <a:srgbClr val="EBEB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Rounded Corners 10">
            <a:extLst>
              <a:ext uri="{FF2B5EF4-FFF2-40B4-BE49-F238E27FC236}">
                <a16:creationId xmlns:a16="http://schemas.microsoft.com/office/drawing/2014/main" id="{0C312DE0-F483-0069-D4B3-154D264DACF1}"/>
              </a:ext>
            </a:extLst>
          </p:cNvPr>
          <p:cNvSpPr/>
          <p:nvPr/>
        </p:nvSpPr>
        <p:spPr>
          <a:xfrm rot="5400000">
            <a:off x="6769681" y="2394004"/>
            <a:ext cx="219075" cy="75036"/>
          </a:xfrm>
          <a:prstGeom prst="roundRect">
            <a:avLst/>
          </a:prstGeom>
          <a:solidFill>
            <a:srgbClr val="EDED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a:extLst>
              <a:ext uri="{FF2B5EF4-FFF2-40B4-BE49-F238E27FC236}">
                <a16:creationId xmlns:a16="http://schemas.microsoft.com/office/drawing/2014/main" id="{6077ADE2-DC6C-7576-59B5-41BC50A26A7F}"/>
              </a:ext>
            </a:extLst>
          </p:cNvPr>
          <p:cNvSpPr/>
          <p:nvPr/>
        </p:nvSpPr>
        <p:spPr>
          <a:xfrm>
            <a:off x="6916737" y="2187521"/>
            <a:ext cx="542925" cy="198492"/>
          </a:xfrm>
          <a:prstGeom prst="rect">
            <a:avLst/>
          </a:prstGeom>
          <a:solidFill>
            <a:srgbClr val="F5F5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5" name="Rectangle 14">
            <a:extLst>
              <a:ext uri="{FF2B5EF4-FFF2-40B4-BE49-F238E27FC236}">
                <a16:creationId xmlns:a16="http://schemas.microsoft.com/office/drawing/2014/main" id="{F7B80460-4FAE-5654-23EA-0174A6137D83}"/>
              </a:ext>
            </a:extLst>
          </p:cNvPr>
          <p:cNvSpPr/>
          <p:nvPr/>
        </p:nvSpPr>
        <p:spPr>
          <a:xfrm>
            <a:off x="6645274" y="2135188"/>
            <a:ext cx="542925" cy="107207"/>
          </a:xfrm>
          <a:prstGeom prst="rect">
            <a:avLst/>
          </a:prstGeom>
          <a:solidFill>
            <a:srgbClr val="F5F5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 name="Freeform: Shape 9">
            <a:extLst>
              <a:ext uri="{FF2B5EF4-FFF2-40B4-BE49-F238E27FC236}">
                <a16:creationId xmlns:a16="http://schemas.microsoft.com/office/drawing/2014/main" id="{EDD83DD6-F820-08DC-BC5B-2D8A2C37ED66}"/>
              </a:ext>
            </a:extLst>
          </p:cNvPr>
          <p:cNvSpPr/>
          <p:nvPr/>
        </p:nvSpPr>
        <p:spPr>
          <a:xfrm>
            <a:off x="6645274" y="2231508"/>
            <a:ext cx="282576" cy="165617"/>
          </a:xfrm>
          <a:custGeom>
            <a:avLst/>
            <a:gdLst>
              <a:gd name="csX0" fmla="*/ 0 w 209550"/>
              <a:gd name="csY0" fmla="*/ 1905 h 93345"/>
              <a:gd name="csX1" fmla="*/ 209550 w 209550"/>
              <a:gd name="csY1" fmla="*/ 0 h 93345"/>
              <a:gd name="csX2" fmla="*/ 209550 w 209550"/>
              <a:gd name="csY2" fmla="*/ 0 h 93345"/>
              <a:gd name="csX3" fmla="*/ 209550 w 209550"/>
              <a:gd name="csY3" fmla="*/ 93345 h 93345"/>
              <a:gd name="csX4" fmla="*/ 209550 w 209550"/>
              <a:gd name="csY4" fmla="*/ 93345 h 93345"/>
              <a:gd name="csX5" fmla="*/ 209550 w 209550"/>
              <a:gd name="csY5" fmla="*/ 93345 h 93345"/>
            </a:gdLst>
            <a:ahLst/>
            <a:cxnLst>
              <a:cxn ang="0">
                <a:pos x="csX0" y="csY0"/>
              </a:cxn>
              <a:cxn ang="0">
                <a:pos x="csX1" y="csY1"/>
              </a:cxn>
              <a:cxn ang="0">
                <a:pos x="csX2" y="csY2"/>
              </a:cxn>
              <a:cxn ang="0">
                <a:pos x="csX3" y="csY3"/>
              </a:cxn>
              <a:cxn ang="0">
                <a:pos x="csX4" y="csY4"/>
              </a:cxn>
              <a:cxn ang="0">
                <a:pos x="csX5" y="csY5"/>
              </a:cxn>
            </a:cxnLst>
            <a:rect l="l" t="t" r="r" b="b"/>
            <a:pathLst>
              <a:path w="209550" h="93345">
                <a:moveTo>
                  <a:pt x="0" y="1905"/>
                </a:moveTo>
                <a:lnTo>
                  <a:pt x="209550" y="0"/>
                </a:lnTo>
                <a:lnTo>
                  <a:pt x="209550" y="0"/>
                </a:lnTo>
                <a:lnTo>
                  <a:pt x="209550" y="93345"/>
                </a:lnTo>
                <a:lnTo>
                  <a:pt x="209550" y="93345"/>
                </a:lnTo>
                <a:lnTo>
                  <a:pt x="209550" y="93345"/>
                </a:lnTo>
              </a:path>
            </a:pathLst>
          </a:custGeom>
          <a:ln w="19050">
            <a:solidFill>
              <a:srgbClr val="C2C2C2"/>
            </a:solidFill>
          </a:ln>
        </p:spPr>
        <p:style>
          <a:lnRef idx="2">
            <a:schemeClr val="dk1"/>
          </a:lnRef>
          <a:fillRef idx="0">
            <a:schemeClr val="dk1"/>
          </a:fillRef>
          <a:effectRef idx="1">
            <a:schemeClr val="dk1"/>
          </a:effectRef>
          <a:fontRef idx="minor">
            <a:schemeClr val="tx1"/>
          </a:fontRef>
        </p:style>
        <p:txBody>
          <a:bodyPr rtlCol="0" anchor="ctr"/>
          <a:lstStyle/>
          <a:p>
            <a:pPr algn="ctr"/>
            <a:endParaRPr lang="en-IN" dirty="0">
              <a:ln>
                <a:solidFill>
                  <a:schemeClr val="tx1"/>
                </a:solidFill>
              </a:ln>
            </a:endParaRPr>
          </a:p>
        </p:txBody>
      </p:sp>
      <p:sp>
        <p:nvSpPr>
          <p:cNvPr id="16" name="Rectangle 15">
            <a:extLst>
              <a:ext uri="{FF2B5EF4-FFF2-40B4-BE49-F238E27FC236}">
                <a16:creationId xmlns:a16="http://schemas.microsoft.com/office/drawing/2014/main" id="{0F54AC0C-E335-55F0-1366-8706CBC6CD2A}"/>
              </a:ext>
            </a:extLst>
          </p:cNvPr>
          <p:cNvSpPr/>
          <p:nvPr/>
        </p:nvSpPr>
        <p:spPr>
          <a:xfrm>
            <a:off x="9102090" y="2705100"/>
            <a:ext cx="387350" cy="775791"/>
          </a:xfrm>
          <a:prstGeom prst="rect">
            <a:avLst/>
          </a:prstGeom>
          <a:solidFill>
            <a:srgbClr val="FA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27587533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2">
          <a:extLst>
            <a:ext uri="{FF2B5EF4-FFF2-40B4-BE49-F238E27FC236}">
              <a16:creationId xmlns:a16="http://schemas.microsoft.com/office/drawing/2014/main" id="{2E2518D9-071E-BA07-59C6-159DC6912FD3}"/>
            </a:ext>
          </a:extLst>
        </p:cNvPr>
        <p:cNvGrpSpPr/>
        <p:nvPr/>
      </p:nvGrpSpPr>
      <p:grpSpPr>
        <a:xfrm>
          <a:off x="0" y="0"/>
          <a:ext cx="0" cy="0"/>
          <a:chOff x="0" y="0"/>
          <a:chExt cx="0" cy="0"/>
        </a:xfrm>
      </p:grpSpPr>
      <p:sp>
        <p:nvSpPr>
          <p:cNvPr id="203" name="Google Shape;203;p28">
            <a:extLst>
              <a:ext uri="{FF2B5EF4-FFF2-40B4-BE49-F238E27FC236}">
                <a16:creationId xmlns:a16="http://schemas.microsoft.com/office/drawing/2014/main" id="{3C5FC2A3-D00E-D299-71BE-F8C0EF00DB0F}"/>
              </a:ext>
            </a:extLst>
          </p:cNvPr>
          <p:cNvSpPr txBox="1"/>
          <p:nvPr/>
        </p:nvSpPr>
        <p:spPr>
          <a:xfrm>
            <a:off x="2553912" y="0"/>
            <a:ext cx="7084177" cy="646290"/>
          </a:xfrm>
          <a:prstGeom prst="rect">
            <a:avLst/>
          </a:prstGeom>
          <a:noFill/>
          <a:ln>
            <a:noFill/>
          </a:ln>
        </p:spPr>
        <p:txBody>
          <a:bodyPr spcFirstLastPara="1" wrap="square" lIns="91425" tIns="45700" rIns="91425" bIns="45700" anchor="t" anchorCtr="0">
            <a:spAutoFit/>
          </a:bodyPr>
          <a:lstStyle/>
          <a:p>
            <a:pPr>
              <a:buClr>
                <a:schemeClr val="lt2"/>
              </a:buClr>
              <a:buSzPts val="2400"/>
            </a:pPr>
            <a:r>
              <a:rPr lang="en-US" sz="3600" b="1" dirty="0">
                <a:effectLst>
                  <a:outerShdw blurRad="38100" dist="38100" dir="2700000" algn="tl">
                    <a:srgbClr val="000000">
                      <a:alpha val="43137"/>
                    </a:srgbClr>
                  </a:outerShdw>
                </a:effectLst>
                <a:latin typeface="Times New Roman" panose="02020603050405020304" pitchFamily="18" charset="0"/>
                <a:ea typeface="Times New Roman"/>
                <a:cs typeface="Times New Roman" panose="02020603050405020304" pitchFamily="18" charset="0"/>
                <a:sym typeface="Times New Roman"/>
              </a:rPr>
              <a:t>SYSTEM ARCHITECTURE</a:t>
            </a:r>
            <a:endParaRPr sz="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4652BCDA-D68C-F2AF-C658-359B9372BA48}"/>
              </a:ext>
            </a:extLst>
          </p:cNvPr>
          <p:cNvSpPr>
            <a:spLocks noGrp="1"/>
          </p:cNvSpPr>
          <p:nvPr>
            <p:ph type="ftr" sz="quarter" idx="11"/>
          </p:nvPr>
        </p:nvSpPr>
        <p:spPr>
          <a:xfrm>
            <a:off x="236220" y="6492875"/>
            <a:ext cx="7084177" cy="365125"/>
          </a:xfrm>
        </p:spPr>
        <p:txBody>
          <a:bodyPr/>
          <a:lstStyle/>
          <a:p>
            <a:r>
              <a:rPr lang="en-US" sz="1100" dirty="0">
                <a:solidFill>
                  <a:schemeClr val="dk1"/>
                </a:solidFill>
                <a:latin typeface="Times New Roman"/>
                <a:ea typeface="Times New Roman"/>
                <a:cs typeface="Times New Roman"/>
                <a:sym typeface="Times New Roman"/>
              </a:rPr>
              <a:t>Chef Guru: A Hybrid RAG and Fine-Tuning Framework for Personalized AI-Powered Recipe Generation</a:t>
            </a:r>
            <a:endParaRPr lang="en-US" sz="1100" dirty="0"/>
          </a:p>
        </p:txBody>
      </p:sp>
      <p:sp>
        <p:nvSpPr>
          <p:cNvPr id="2" name="Slide Number Placeholder 1">
            <a:extLst>
              <a:ext uri="{FF2B5EF4-FFF2-40B4-BE49-F238E27FC236}">
                <a16:creationId xmlns:a16="http://schemas.microsoft.com/office/drawing/2014/main" id="{E122290A-0D0A-51B6-E52D-9CD963742F2D}"/>
              </a:ext>
            </a:extLst>
          </p:cNvPr>
          <p:cNvSpPr>
            <a:spLocks noGrp="1"/>
          </p:cNvSpPr>
          <p:nvPr>
            <p:ph type="sldNum" sz="quarter" idx="12"/>
          </p:nvPr>
        </p:nvSpPr>
        <p:spPr/>
        <p:txBody>
          <a:bodyPr/>
          <a:lstStyle/>
          <a:p>
            <a:fld id="{FC6BEB0F-7D1A-4CFC-9A6C-0E77E068DA9D}" type="slidenum">
              <a:rPr lang="en-US" smtClean="0"/>
              <a:t>12</a:t>
            </a:fld>
            <a:endParaRPr lang="en-US"/>
          </a:p>
        </p:txBody>
      </p:sp>
      <p:sp>
        <p:nvSpPr>
          <p:cNvPr id="10" name="TextBox 9">
            <a:extLst>
              <a:ext uri="{FF2B5EF4-FFF2-40B4-BE49-F238E27FC236}">
                <a16:creationId xmlns:a16="http://schemas.microsoft.com/office/drawing/2014/main" id="{C9E50754-026F-BADA-6D19-A83BF9137BC3}"/>
              </a:ext>
            </a:extLst>
          </p:cNvPr>
          <p:cNvSpPr txBox="1"/>
          <p:nvPr/>
        </p:nvSpPr>
        <p:spPr>
          <a:xfrm>
            <a:off x="1439944" y="874454"/>
            <a:ext cx="8991600" cy="5109091"/>
          </a:xfrm>
          <a:prstGeom prst="rect">
            <a:avLst/>
          </a:prstGeom>
          <a:noFill/>
        </p:spPr>
        <p:txBody>
          <a:bodyPr wrap="square">
            <a:spAutoFit/>
          </a:bodyPr>
          <a:lstStyle/>
          <a:p>
            <a:pPr marL="285750" indent="-285750" algn="jus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Input Layer</a:t>
            </a:r>
            <a:endParaRPr lang="en-US"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Accepts </a:t>
            </a:r>
            <a:r>
              <a:rPr lang="en-US" b="1" dirty="0">
                <a:latin typeface="Times New Roman" panose="02020603050405020304" pitchFamily="18" charset="0"/>
                <a:cs typeface="Times New Roman" panose="02020603050405020304" pitchFamily="18" charset="0"/>
              </a:rPr>
              <a:t>ingredient inputs from users</a:t>
            </a:r>
            <a:r>
              <a:rPr lang="en-US" dirty="0">
                <a:latin typeface="Times New Roman" panose="02020603050405020304" pitchFamily="18" charset="0"/>
                <a:cs typeface="Times New Roman" panose="02020603050405020304" pitchFamily="18" charset="0"/>
              </a:rPr>
              <a:t> through the application interface. </a:t>
            </a:r>
          </a:p>
          <a:p>
            <a:pPr marL="342900" indent="-3429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Supports </a:t>
            </a:r>
            <a:r>
              <a:rPr lang="en-US" b="1" dirty="0">
                <a:latin typeface="Times New Roman" panose="02020603050405020304" pitchFamily="18" charset="0"/>
                <a:cs typeface="Times New Roman" panose="02020603050405020304" pitchFamily="18" charset="0"/>
              </a:rPr>
              <a:t>manual ingredient entry and structured ingredient selection</a:t>
            </a:r>
            <a:r>
              <a:rPr lang="en-US" dirty="0">
                <a:latin typeface="Times New Roman" panose="02020603050405020304" pitchFamily="18" charset="0"/>
                <a:cs typeface="Times New Roman" panose="02020603050405020304" pitchFamily="18" charset="0"/>
              </a:rPr>
              <a:t>. </a:t>
            </a:r>
          </a:p>
          <a:p>
            <a:pPr marL="342900" indent="-3429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Acts as the </a:t>
            </a:r>
            <a:r>
              <a:rPr lang="en-US" b="1" dirty="0">
                <a:latin typeface="Times New Roman" panose="02020603050405020304" pitchFamily="18" charset="0"/>
                <a:cs typeface="Times New Roman" panose="02020603050405020304" pitchFamily="18" charset="0"/>
              </a:rPr>
              <a:t>entry point for the recipe generation pipeline</a:t>
            </a:r>
            <a:r>
              <a:rPr lang="en-US" dirty="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 </a:t>
            </a:r>
          </a:p>
          <a:p>
            <a:pPr marL="285750" indent="-285750" algn="jus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Preprocessing Layer</a:t>
            </a: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Performs </a:t>
            </a:r>
            <a:r>
              <a:rPr lang="en-US" b="1" dirty="0">
                <a:latin typeface="Times New Roman" panose="02020603050405020304" pitchFamily="18" charset="0"/>
                <a:cs typeface="Times New Roman" panose="02020603050405020304" pitchFamily="18" charset="0"/>
              </a:rPr>
              <a:t>ingredient normalization and validation</a:t>
            </a:r>
            <a:r>
              <a:rPr lang="en-US" dirty="0">
                <a:latin typeface="Times New Roman" panose="02020603050405020304" pitchFamily="18" charset="0"/>
                <a:cs typeface="Times New Roman" panose="02020603050405020304" pitchFamily="18" charset="0"/>
              </a:rPr>
              <a:t>. </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Handles </a:t>
            </a:r>
            <a:r>
              <a:rPr lang="en-US" b="1" dirty="0">
                <a:latin typeface="Times New Roman" panose="02020603050405020304" pitchFamily="18" charset="0"/>
                <a:cs typeface="Times New Roman" panose="02020603050405020304" pitchFamily="18" charset="0"/>
              </a:rPr>
              <a:t>duplicate removal, spelling correction, and format standardization</a:t>
            </a:r>
            <a:r>
              <a:rPr lang="en-US" dirty="0">
                <a:latin typeface="Times New Roman" panose="02020603050405020304" pitchFamily="18" charset="0"/>
                <a:cs typeface="Times New Roman" panose="02020603050405020304" pitchFamily="18" charset="0"/>
              </a:rPr>
              <a:t>. </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Applies </a:t>
            </a:r>
            <a:r>
              <a:rPr lang="en-US" b="1" dirty="0">
                <a:latin typeface="Times New Roman" panose="02020603050405020304" pitchFamily="18" charset="0"/>
                <a:cs typeface="Times New Roman" panose="02020603050405020304" pitchFamily="18" charset="0"/>
              </a:rPr>
              <a:t>query expansion to enrich ingredient input with related culinary context</a:t>
            </a:r>
            <a:r>
              <a:rPr lang="en-US" dirty="0">
                <a:latin typeface="Times New Roman" panose="02020603050405020304" pitchFamily="18" charset="0"/>
                <a:cs typeface="Times New Roman" panose="02020603050405020304" pitchFamily="18" charset="0"/>
              </a:rPr>
              <a:t>. </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Ensures the input is aligned with the </a:t>
            </a:r>
            <a:r>
              <a:rPr lang="en-US" b="1" dirty="0">
                <a:latin typeface="Times New Roman" panose="02020603050405020304" pitchFamily="18" charset="0"/>
                <a:cs typeface="Times New Roman" panose="02020603050405020304" pitchFamily="18" charset="0"/>
              </a:rPr>
              <a:t>retrieval and generation model requirements</a:t>
            </a:r>
            <a:r>
              <a:rPr lang="en-US" dirty="0">
                <a:latin typeface="Times New Roman" panose="02020603050405020304" pitchFamily="18" charset="0"/>
                <a:cs typeface="Times New Roman" panose="02020603050405020304" pitchFamily="18" charset="0"/>
              </a:rPr>
              <a:t>. </a:t>
            </a:r>
          </a:p>
          <a:p>
            <a:pPr algn="just"/>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Retrieval and Re-Ranking Layer</a:t>
            </a: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Uses </a:t>
            </a:r>
            <a:r>
              <a:rPr lang="en-US" b="1" dirty="0" err="1">
                <a:latin typeface="Times New Roman" panose="02020603050405020304" pitchFamily="18" charset="0"/>
                <a:cs typeface="Times New Roman" panose="02020603050405020304" pitchFamily="18" charset="0"/>
              </a:rPr>
              <a:t>SentenceTransformer</a:t>
            </a:r>
            <a:r>
              <a:rPr lang="en-US" b="1" dirty="0">
                <a:latin typeface="Times New Roman" panose="02020603050405020304" pitchFamily="18" charset="0"/>
                <a:cs typeface="Times New Roman" panose="02020603050405020304" pitchFamily="18" charset="0"/>
              </a:rPr>
              <a:t> embeddings to retrieve similar recipes from </a:t>
            </a:r>
            <a:r>
              <a:rPr lang="en-US" b="1" dirty="0" err="1">
                <a:latin typeface="Times New Roman" panose="02020603050405020304" pitchFamily="18" charset="0"/>
                <a:cs typeface="Times New Roman" panose="02020603050405020304" pitchFamily="18" charset="0"/>
              </a:rPr>
              <a:t>ChromaDB</a:t>
            </a:r>
            <a:r>
              <a:rPr lang="en-US" dirty="0">
                <a:latin typeface="Times New Roman" panose="02020603050405020304" pitchFamily="18" charset="0"/>
                <a:cs typeface="Times New Roman" panose="02020603050405020304" pitchFamily="18" charset="0"/>
              </a:rPr>
              <a:t>. </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Applies </a:t>
            </a:r>
            <a:r>
              <a:rPr lang="en-US" b="1" dirty="0">
                <a:latin typeface="Times New Roman" panose="02020603050405020304" pitchFamily="18" charset="0"/>
                <a:cs typeface="Times New Roman" panose="02020603050405020304" pitchFamily="18" charset="0"/>
              </a:rPr>
              <a:t>cosine similarity search to identify candidate recipes</a:t>
            </a:r>
            <a:r>
              <a:rPr lang="en-US" dirty="0">
                <a:latin typeface="Times New Roman" panose="02020603050405020304" pitchFamily="18" charset="0"/>
                <a:cs typeface="Times New Roman" panose="02020603050405020304" pitchFamily="18" charset="0"/>
              </a:rPr>
              <a:t>. </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Implements </a:t>
            </a:r>
            <a:r>
              <a:rPr lang="en-US" b="1" dirty="0">
                <a:latin typeface="Times New Roman" panose="02020603050405020304" pitchFamily="18" charset="0"/>
                <a:cs typeface="Times New Roman" panose="02020603050405020304" pitchFamily="18" charset="0"/>
              </a:rPr>
              <a:t>cross-encoder re-ranking to refine and select the most relevant recipes</a:t>
            </a:r>
            <a:r>
              <a:rPr lang="en-US" dirty="0">
                <a:latin typeface="Times New Roman" panose="02020603050405020304" pitchFamily="18" charset="0"/>
                <a:cs typeface="Times New Roman" panose="02020603050405020304" pitchFamily="18" charset="0"/>
              </a:rPr>
              <a:t>. </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Improves overall recipe generation accuracy by providing </a:t>
            </a:r>
            <a:r>
              <a:rPr lang="en-US" b="1" dirty="0">
                <a:latin typeface="Times New Roman" panose="02020603050405020304" pitchFamily="18" charset="0"/>
                <a:cs typeface="Times New Roman" panose="02020603050405020304" pitchFamily="18" charset="0"/>
              </a:rPr>
              <a:t>contextual grounding for the model</a:t>
            </a:r>
            <a:r>
              <a:rPr lang="en-US" dirty="0">
                <a:latin typeface="Times New Roman" panose="02020603050405020304" pitchFamily="18" charset="0"/>
                <a:cs typeface="Times New Roman" panose="02020603050405020304" pitchFamily="18" charset="0"/>
              </a:rPr>
              <a:t>.</a:t>
            </a:r>
          </a:p>
          <a:p>
            <a:pPr marL="342900" indent="-342900" algn="just">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898314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2">
          <a:extLst>
            <a:ext uri="{FF2B5EF4-FFF2-40B4-BE49-F238E27FC236}">
              <a16:creationId xmlns:a16="http://schemas.microsoft.com/office/drawing/2014/main" id="{431B4933-104E-C52E-57ED-4326E0526A91}"/>
            </a:ext>
          </a:extLst>
        </p:cNvPr>
        <p:cNvGrpSpPr/>
        <p:nvPr/>
      </p:nvGrpSpPr>
      <p:grpSpPr>
        <a:xfrm>
          <a:off x="0" y="0"/>
          <a:ext cx="0" cy="0"/>
          <a:chOff x="0" y="0"/>
          <a:chExt cx="0" cy="0"/>
        </a:xfrm>
      </p:grpSpPr>
      <p:sp>
        <p:nvSpPr>
          <p:cNvPr id="203" name="Google Shape;203;p28">
            <a:extLst>
              <a:ext uri="{FF2B5EF4-FFF2-40B4-BE49-F238E27FC236}">
                <a16:creationId xmlns:a16="http://schemas.microsoft.com/office/drawing/2014/main" id="{DFC70DA3-C7DF-CB77-5660-D9D619153373}"/>
              </a:ext>
            </a:extLst>
          </p:cNvPr>
          <p:cNvSpPr txBox="1"/>
          <p:nvPr/>
        </p:nvSpPr>
        <p:spPr>
          <a:xfrm>
            <a:off x="2553912" y="0"/>
            <a:ext cx="7084177" cy="646290"/>
          </a:xfrm>
          <a:prstGeom prst="rect">
            <a:avLst/>
          </a:prstGeom>
          <a:noFill/>
          <a:ln>
            <a:noFill/>
          </a:ln>
        </p:spPr>
        <p:txBody>
          <a:bodyPr spcFirstLastPara="1" wrap="square" lIns="91425" tIns="45700" rIns="91425" bIns="45700" anchor="t" anchorCtr="0">
            <a:spAutoFit/>
          </a:bodyPr>
          <a:lstStyle/>
          <a:p>
            <a:pPr>
              <a:buClr>
                <a:schemeClr val="lt2"/>
              </a:buClr>
              <a:buSzPts val="2400"/>
            </a:pPr>
            <a:r>
              <a:rPr lang="en-US" sz="3600" b="1" dirty="0">
                <a:effectLst>
                  <a:outerShdw blurRad="38100" dist="38100" dir="2700000" algn="tl">
                    <a:srgbClr val="000000">
                      <a:alpha val="43137"/>
                    </a:srgbClr>
                  </a:outerShdw>
                </a:effectLst>
                <a:latin typeface="Times New Roman" panose="02020603050405020304" pitchFamily="18" charset="0"/>
                <a:ea typeface="Times New Roman"/>
                <a:cs typeface="Times New Roman" panose="02020603050405020304" pitchFamily="18" charset="0"/>
                <a:sym typeface="Times New Roman"/>
              </a:rPr>
              <a:t>SYSTEM ARCHITECTURE</a:t>
            </a:r>
            <a:endParaRPr sz="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B21AF315-AB04-3EDE-0553-800A80649D65}"/>
              </a:ext>
            </a:extLst>
          </p:cNvPr>
          <p:cNvSpPr>
            <a:spLocks noGrp="1"/>
          </p:cNvSpPr>
          <p:nvPr>
            <p:ph type="ftr" sz="quarter" idx="11"/>
          </p:nvPr>
        </p:nvSpPr>
        <p:spPr>
          <a:xfrm>
            <a:off x="236220" y="6492875"/>
            <a:ext cx="7084177" cy="365125"/>
          </a:xfrm>
        </p:spPr>
        <p:txBody>
          <a:bodyPr/>
          <a:lstStyle/>
          <a:p>
            <a:r>
              <a:rPr lang="en-US" sz="1100" dirty="0">
                <a:solidFill>
                  <a:schemeClr val="dk1"/>
                </a:solidFill>
                <a:latin typeface="Times New Roman"/>
                <a:ea typeface="Times New Roman"/>
                <a:cs typeface="Times New Roman"/>
                <a:sym typeface="Times New Roman"/>
              </a:rPr>
              <a:t>Chef Guru: A Hybrid RAG and Fine-Tuning Framework for Personalized AI-Powered Recipe Generation</a:t>
            </a:r>
            <a:endParaRPr lang="en-US" sz="1100" dirty="0"/>
          </a:p>
        </p:txBody>
      </p:sp>
      <p:sp>
        <p:nvSpPr>
          <p:cNvPr id="2" name="Slide Number Placeholder 1">
            <a:extLst>
              <a:ext uri="{FF2B5EF4-FFF2-40B4-BE49-F238E27FC236}">
                <a16:creationId xmlns:a16="http://schemas.microsoft.com/office/drawing/2014/main" id="{ED8365F0-B123-6927-A507-75448F4A512E}"/>
              </a:ext>
            </a:extLst>
          </p:cNvPr>
          <p:cNvSpPr>
            <a:spLocks noGrp="1"/>
          </p:cNvSpPr>
          <p:nvPr>
            <p:ph type="sldNum" sz="quarter" idx="12"/>
          </p:nvPr>
        </p:nvSpPr>
        <p:spPr/>
        <p:txBody>
          <a:bodyPr/>
          <a:lstStyle/>
          <a:p>
            <a:fld id="{FC6BEB0F-7D1A-4CFC-9A6C-0E77E068DA9D}" type="slidenum">
              <a:rPr lang="en-US" smtClean="0"/>
              <a:t>13</a:t>
            </a:fld>
            <a:endParaRPr lang="en-US"/>
          </a:p>
        </p:txBody>
      </p:sp>
      <p:sp>
        <p:nvSpPr>
          <p:cNvPr id="5" name="TextBox 4">
            <a:extLst>
              <a:ext uri="{FF2B5EF4-FFF2-40B4-BE49-F238E27FC236}">
                <a16:creationId xmlns:a16="http://schemas.microsoft.com/office/drawing/2014/main" id="{C3015849-8B7B-917C-A760-B97901CF1417}"/>
              </a:ext>
            </a:extLst>
          </p:cNvPr>
          <p:cNvSpPr txBox="1"/>
          <p:nvPr/>
        </p:nvSpPr>
        <p:spPr>
          <a:xfrm>
            <a:off x="1725733" y="646290"/>
            <a:ext cx="8263128" cy="6186309"/>
          </a:xfrm>
          <a:prstGeom prst="rect">
            <a:avLst/>
          </a:prstGeom>
          <a:noFill/>
        </p:spPr>
        <p:txBody>
          <a:bodyPr wrap="square">
            <a:spAutoFit/>
          </a:bodyPr>
          <a:lstStyle/>
          <a:p>
            <a:pPr marL="342900" indent="-34290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Generation Layer</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Uses a </a:t>
            </a:r>
            <a:r>
              <a:rPr lang="en-US" b="1" dirty="0" err="1">
                <a:latin typeface="Times New Roman" panose="02020603050405020304" pitchFamily="18" charset="0"/>
                <a:cs typeface="Times New Roman" panose="02020603050405020304" pitchFamily="18" charset="0"/>
              </a:rPr>
              <a:t>QLoRA</a:t>
            </a:r>
            <a:r>
              <a:rPr lang="en-US" b="1" dirty="0">
                <a:latin typeface="Times New Roman" panose="02020603050405020304" pitchFamily="18" charset="0"/>
                <a:cs typeface="Times New Roman" panose="02020603050405020304" pitchFamily="18" charset="0"/>
              </a:rPr>
              <a:t> fine-tuned Phi-3-mini language model</a:t>
            </a:r>
            <a:r>
              <a:rPr lang="en-US" dirty="0">
                <a:latin typeface="Times New Roman" panose="02020603050405020304" pitchFamily="18" charset="0"/>
                <a:cs typeface="Times New Roman" panose="02020603050405020304" pitchFamily="18" charset="0"/>
              </a:rPr>
              <a:t> for recipe generation.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Combines </a:t>
            </a:r>
            <a:r>
              <a:rPr lang="en-US" b="1" dirty="0">
                <a:latin typeface="Times New Roman" panose="02020603050405020304" pitchFamily="18" charset="0"/>
                <a:cs typeface="Times New Roman" panose="02020603050405020304" pitchFamily="18" charset="0"/>
              </a:rPr>
              <a:t>user ingredients with retrieved recipes</a:t>
            </a:r>
            <a:r>
              <a:rPr lang="en-US" dirty="0">
                <a:latin typeface="Times New Roman" panose="02020603050405020304" pitchFamily="18" charset="0"/>
                <a:cs typeface="Times New Roman" panose="02020603050405020304" pitchFamily="18" charset="0"/>
              </a:rPr>
              <a:t> to form a structured prompt.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model generates a </a:t>
            </a:r>
            <a:r>
              <a:rPr lang="en-US" b="1" dirty="0">
                <a:latin typeface="Times New Roman" panose="02020603050405020304" pitchFamily="18" charset="0"/>
                <a:cs typeface="Times New Roman" panose="02020603050405020304" pitchFamily="18" charset="0"/>
              </a:rPr>
              <a:t>complete recipe including title, ingredient list, and step-by-step cooking instructions</a:t>
            </a:r>
            <a:r>
              <a:rPr lang="en-US"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Ensures the generated recipe is </a:t>
            </a:r>
            <a:r>
              <a:rPr lang="en-US" b="1" dirty="0">
                <a:latin typeface="Times New Roman" panose="02020603050405020304" pitchFamily="18" charset="0"/>
                <a:cs typeface="Times New Roman" panose="02020603050405020304" pitchFamily="18" charset="0"/>
              </a:rPr>
              <a:t>ingredient-consistent, coherent, and practically usable</a:t>
            </a:r>
            <a:r>
              <a:rPr lang="en-US" dirty="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Culinary Explanation Layer</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Provides </a:t>
            </a:r>
            <a:r>
              <a:rPr lang="en-US" b="1" dirty="0">
                <a:latin typeface="Times New Roman" panose="02020603050405020304" pitchFamily="18" charset="0"/>
                <a:cs typeface="Times New Roman" panose="02020603050405020304" pitchFamily="18" charset="0"/>
              </a:rPr>
              <a:t>step-level cooking explanations</a:t>
            </a:r>
            <a:r>
              <a:rPr lang="en-US" dirty="0">
                <a:latin typeface="Times New Roman" panose="02020603050405020304" pitchFamily="18" charset="0"/>
                <a:cs typeface="Times New Roman" panose="02020603050405020304" pitchFamily="18" charset="0"/>
              </a:rPr>
              <a:t> for generated recipes.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Explains the </a:t>
            </a:r>
            <a:r>
              <a:rPr lang="en-US" b="1" dirty="0">
                <a:latin typeface="Times New Roman" panose="02020603050405020304" pitchFamily="18" charset="0"/>
                <a:cs typeface="Times New Roman" panose="02020603050405020304" pitchFamily="18" charset="0"/>
              </a:rPr>
              <a:t>purpose of each step, cooking techniques, and ingredient interactions</a:t>
            </a:r>
            <a:r>
              <a:rPr lang="en-US"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Improves </a:t>
            </a:r>
            <a:r>
              <a:rPr lang="en-US" b="1" dirty="0">
                <a:latin typeface="Times New Roman" panose="02020603050405020304" pitchFamily="18" charset="0"/>
                <a:cs typeface="Times New Roman" panose="02020603050405020304" pitchFamily="18" charset="0"/>
              </a:rPr>
              <a:t>user understanding, transparency, and learning of cooking processes</a:t>
            </a:r>
            <a:r>
              <a:rPr lang="en-US"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Helps users follow recipes correctly and avoid common cooking mistakes.</a:t>
            </a:r>
          </a:p>
          <a:p>
            <a:r>
              <a:rPr lang="en-US" dirty="0">
                <a:latin typeface="Times New Roman" panose="02020603050405020304" pitchFamily="18" charset="0"/>
                <a:cs typeface="Times New Roman" panose="02020603050405020304" pitchFamily="18" charset="0"/>
              </a:rPr>
              <a:t> </a:t>
            </a:r>
          </a:p>
          <a:p>
            <a:pPr marL="342900" indent="-34290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Output Layer</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Displays the </a:t>
            </a:r>
            <a:r>
              <a:rPr lang="en-US" b="1" dirty="0">
                <a:latin typeface="Times New Roman" panose="02020603050405020304" pitchFamily="18" charset="0"/>
                <a:cs typeface="Times New Roman" panose="02020603050405020304" pitchFamily="18" charset="0"/>
              </a:rPr>
              <a:t>generated recipe with structured sections (title, ingredients, instructions)</a:t>
            </a:r>
            <a:r>
              <a:rPr lang="en-US"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Shows </a:t>
            </a:r>
            <a:r>
              <a:rPr lang="en-US" b="1" dirty="0">
                <a:latin typeface="Times New Roman" panose="02020603050405020304" pitchFamily="18" charset="0"/>
                <a:cs typeface="Times New Roman" panose="02020603050405020304" pitchFamily="18" charset="0"/>
              </a:rPr>
              <a:t>step-by-step explanations and cooking guidance</a:t>
            </a:r>
            <a:r>
              <a:rPr lang="en-US" dirty="0">
                <a:latin typeface="Times New Roman" panose="02020603050405020304" pitchFamily="18" charset="0"/>
                <a:cs typeface="Times New Roman" panose="02020603050405020304" pitchFamily="18" charset="0"/>
              </a:rPr>
              <a:t> to the user.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Stores generated recipes in </a:t>
            </a:r>
            <a:r>
              <a:rPr lang="en-US" b="1" dirty="0">
                <a:latin typeface="Times New Roman" panose="02020603050405020304" pitchFamily="18" charset="0"/>
                <a:cs typeface="Times New Roman" panose="02020603050405020304" pitchFamily="18" charset="0"/>
              </a:rPr>
              <a:t>MongoDB with Redis caching for faster retrieval</a:t>
            </a:r>
            <a:r>
              <a:rPr lang="en-US"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Results are displayed on the </a:t>
            </a:r>
            <a:r>
              <a:rPr lang="en-US" b="1" dirty="0">
                <a:latin typeface="Times New Roman" panose="02020603050405020304" pitchFamily="18" charset="0"/>
                <a:cs typeface="Times New Roman" panose="02020603050405020304" pitchFamily="18" charset="0"/>
              </a:rPr>
              <a:t>React-based user interface with options to view history and save recipes</a:t>
            </a:r>
            <a:r>
              <a:rPr lang="en-US" dirty="0">
                <a:latin typeface="Times New Roman" panose="02020603050405020304" pitchFamily="18" charset="0"/>
                <a:cs typeface="Times New Roman" panose="02020603050405020304" pitchFamily="18" charset="0"/>
              </a:rPr>
              <a:t>.</a:t>
            </a:r>
          </a:p>
          <a:p>
            <a:pPr marL="342900" indent="-342900">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308082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7129BA2-4ECA-3E61-9292-7E0D65D0459A}"/>
              </a:ext>
            </a:extLst>
          </p:cNvPr>
          <p:cNvSpPr>
            <a:spLocks noGrp="1"/>
          </p:cNvSpPr>
          <p:nvPr>
            <p:ph type="ftr" sz="quarter" idx="11"/>
          </p:nvPr>
        </p:nvSpPr>
        <p:spPr>
          <a:xfrm>
            <a:off x="5107823" y="6422068"/>
            <a:ext cx="7084177" cy="365125"/>
          </a:xfrm>
        </p:spPr>
        <p:txBody>
          <a:bodyPr/>
          <a:lstStyle/>
          <a:p>
            <a:r>
              <a:rPr lang="en-US" sz="1100" dirty="0">
                <a:solidFill>
                  <a:schemeClr val="dk1"/>
                </a:solidFill>
                <a:latin typeface="Times New Roman"/>
                <a:ea typeface="Times New Roman"/>
                <a:cs typeface="Times New Roman"/>
                <a:sym typeface="Times New Roman"/>
              </a:rPr>
              <a:t>Chef Guru: A Hybrid RAG and Fine-Tuning Framework for Personalized AI-Powered Recipe Generation</a:t>
            </a:r>
            <a:endParaRPr lang="en-US" sz="1100" dirty="0"/>
          </a:p>
        </p:txBody>
      </p:sp>
      <p:sp>
        <p:nvSpPr>
          <p:cNvPr id="5" name="Slide Number Placeholder 4">
            <a:extLst>
              <a:ext uri="{FF2B5EF4-FFF2-40B4-BE49-F238E27FC236}">
                <a16:creationId xmlns:a16="http://schemas.microsoft.com/office/drawing/2014/main" id="{139E6BAD-3672-0C28-54C6-92B38000CB99}"/>
              </a:ext>
            </a:extLst>
          </p:cNvPr>
          <p:cNvSpPr>
            <a:spLocks noGrp="1"/>
          </p:cNvSpPr>
          <p:nvPr>
            <p:ph type="sldNum" sz="quarter" idx="12"/>
          </p:nvPr>
        </p:nvSpPr>
        <p:spPr/>
        <p:txBody>
          <a:bodyPr/>
          <a:lstStyle/>
          <a:p>
            <a:fld id="{FC6BEB0F-7D1A-4CFC-9A6C-0E77E068DA9D}" type="slidenum">
              <a:rPr lang="en-US" smtClean="0"/>
              <a:t>14</a:t>
            </a:fld>
            <a:endParaRPr lang="en-US"/>
          </a:p>
        </p:txBody>
      </p:sp>
      <p:sp>
        <p:nvSpPr>
          <p:cNvPr id="7" name="TextBox 6">
            <a:extLst>
              <a:ext uri="{FF2B5EF4-FFF2-40B4-BE49-F238E27FC236}">
                <a16:creationId xmlns:a16="http://schemas.microsoft.com/office/drawing/2014/main" id="{1EEB7A73-E891-34E1-AC8A-EF81F21109EA}"/>
              </a:ext>
            </a:extLst>
          </p:cNvPr>
          <p:cNvSpPr txBox="1"/>
          <p:nvPr/>
        </p:nvSpPr>
        <p:spPr>
          <a:xfrm>
            <a:off x="4499570" y="0"/>
            <a:ext cx="3192861" cy="646331"/>
          </a:xfrm>
          <a:prstGeom prst="rect">
            <a:avLst/>
          </a:prstGeom>
          <a:noFill/>
        </p:spPr>
        <p:txBody>
          <a:bodyPr wrap="square">
            <a:spAutoFit/>
          </a:bodyPr>
          <a:lstStyle/>
          <a:p>
            <a:r>
              <a:rPr lang="en-US" sz="3600" b="1" dirty="0">
                <a:latin typeface="Times New Roman" panose="02020603050405020304" pitchFamily="18" charset="0"/>
                <a:cs typeface="Times New Roman" panose="02020603050405020304" pitchFamily="18" charset="0"/>
              </a:rPr>
              <a:t>WORKFLOW</a:t>
            </a:r>
            <a:endParaRPr lang="en-IN" sz="3600" b="1" dirty="0"/>
          </a:p>
        </p:txBody>
      </p:sp>
      <p:pic>
        <p:nvPicPr>
          <p:cNvPr id="9" name="Picture 8">
            <a:extLst>
              <a:ext uri="{FF2B5EF4-FFF2-40B4-BE49-F238E27FC236}">
                <a16:creationId xmlns:a16="http://schemas.microsoft.com/office/drawing/2014/main" id="{CF76FACC-AB68-49B1-832B-3923019069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8757" y="975971"/>
            <a:ext cx="8757047" cy="4906057"/>
          </a:xfrm>
          <a:prstGeom prst="rect">
            <a:avLst/>
          </a:prstGeom>
        </p:spPr>
      </p:pic>
    </p:spTree>
    <p:extLst>
      <p:ext uri="{BB962C8B-B14F-4D97-AF65-F5344CB8AC3E}">
        <p14:creationId xmlns:p14="http://schemas.microsoft.com/office/powerpoint/2010/main" val="16313957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7A4D1-6291-2F94-4535-D2D976DE577F}"/>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3FAC5837-4D23-09CF-B490-4078F27B5A14}"/>
              </a:ext>
            </a:extLst>
          </p:cNvPr>
          <p:cNvSpPr>
            <a:spLocks noGrp="1"/>
          </p:cNvSpPr>
          <p:nvPr>
            <p:ph type="ftr" sz="quarter" idx="11"/>
          </p:nvPr>
        </p:nvSpPr>
        <p:spPr>
          <a:xfrm>
            <a:off x="5107823" y="6422068"/>
            <a:ext cx="7084177" cy="365125"/>
          </a:xfrm>
        </p:spPr>
        <p:txBody>
          <a:bodyPr/>
          <a:lstStyle/>
          <a:p>
            <a:r>
              <a:rPr lang="en-US" sz="1100" dirty="0">
                <a:solidFill>
                  <a:schemeClr val="dk1"/>
                </a:solidFill>
                <a:latin typeface="Times New Roman"/>
                <a:ea typeface="Times New Roman"/>
                <a:cs typeface="Times New Roman"/>
                <a:sym typeface="Times New Roman"/>
              </a:rPr>
              <a:t>Chef Guru: A Hybrid RAG and Fine-Tuning Framework for Personalized AI-Powered Recipe Generation</a:t>
            </a:r>
            <a:endParaRPr lang="en-US" sz="1100" dirty="0"/>
          </a:p>
        </p:txBody>
      </p:sp>
      <p:sp>
        <p:nvSpPr>
          <p:cNvPr id="5" name="Slide Number Placeholder 4">
            <a:extLst>
              <a:ext uri="{FF2B5EF4-FFF2-40B4-BE49-F238E27FC236}">
                <a16:creationId xmlns:a16="http://schemas.microsoft.com/office/drawing/2014/main" id="{3EE17D7F-FE23-3F03-7552-BE675C185701}"/>
              </a:ext>
            </a:extLst>
          </p:cNvPr>
          <p:cNvSpPr>
            <a:spLocks noGrp="1"/>
          </p:cNvSpPr>
          <p:nvPr>
            <p:ph type="sldNum" sz="quarter" idx="12"/>
          </p:nvPr>
        </p:nvSpPr>
        <p:spPr/>
        <p:txBody>
          <a:bodyPr/>
          <a:lstStyle/>
          <a:p>
            <a:fld id="{FC6BEB0F-7D1A-4CFC-9A6C-0E77E068DA9D}" type="slidenum">
              <a:rPr lang="en-US" smtClean="0"/>
              <a:t>15</a:t>
            </a:fld>
            <a:endParaRPr lang="en-US"/>
          </a:p>
        </p:txBody>
      </p:sp>
      <p:sp>
        <p:nvSpPr>
          <p:cNvPr id="7" name="TextBox 6">
            <a:extLst>
              <a:ext uri="{FF2B5EF4-FFF2-40B4-BE49-F238E27FC236}">
                <a16:creationId xmlns:a16="http://schemas.microsoft.com/office/drawing/2014/main" id="{63A81B3B-3A1D-2B4D-B6CB-838A98301AE1}"/>
              </a:ext>
            </a:extLst>
          </p:cNvPr>
          <p:cNvSpPr txBox="1"/>
          <p:nvPr/>
        </p:nvSpPr>
        <p:spPr>
          <a:xfrm>
            <a:off x="4535129" y="0"/>
            <a:ext cx="3121742" cy="646331"/>
          </a:xfrm>
          <a:prstGeom prst="rect">
            <a:avLst/>
          </a:prstGeom>
          <a:noFill/>
        </p:spPr>
        <p:txBody>
          <a:bodyPr wrap="square">
            <a:spAutoFit/>
          </a:bodyPr>
          <a:lstStyle/>
          <a:p>
            <a:r>
              <a:rPr lang="en-US" sz="3600" b="1" dirty="0">
                <a:latin typeface="Times New Roman" panose="02020603050405020304" pitchFamily="18" charset="0"/>
                <a:cs typeface="Times New Roman" panose="02020603050405020304" pitchFamily="18" charset="0"/>
              </a:rPr>
              <a:t>WORKFLOW</a:t>
            </a:r>
            <a:endParaRPr lang="en-IN" sz="3600" b="1" dirty="0"/>
          </a:p>
        </p:txBody>
      </p:sp>
      <p:sp>
        <p:nvSpPr>
          <p:cNvPr id="3" name="TextBox 2">
            <a:extLst>
              <a:ext uri="{FF2B5EF4-FFF2-40B4-BE49-F238E27FC236}">
                <a16:creationId xmlns:a16="http://schemas.microsoft.com/office/drawing/2014/main" id="{5925E3F3-6D9B-7ED6-3ABE-492E5C1515D2}"/>
              </a:ext>
            </a:extLst>
          </p:cNvPr>
          <p:cNvSpPr txBox="1"/>
          <p:nvPr/>
        </p:nvSpPr>
        <p:spPr>
          <a:xfrm>
            <a:off x="1940769" y="572209"/>
            <a:ext cx="7782560" cy="6032421"/>
          </a:xfrm>
          <a:prstGeom prst="rect">
            <a:avLst/>
          </a:prstGeom>
          <a:noFill/>
        </p:spPr>
        <p:txBody>
          <a:bodyPr wrap="square">
            <a:spAutoFit/>
          </a:bodyPr>
          <a:lstStyle/>
          <a:p>
            <a:pPr marL="285750" indent="-285750" algn="jus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React Frontend (</a:t>
            </a:r>
            <a:r>
              <a:rPr lang="en-US" b="1" dirty="0" err="1">
                <a:latin typeface="Times New Roman" panose="02020603050405020304" pitchFamily="18" charset="0"/>
                <a:cs typeface="Times New Roman" panose="02020603050405020304" pitchFamily="18" charset="0"/>
              </a:rPr>
              <a:t>App.jsx</a:t>
            </a:r>
            <a:r>
              <a:rPr lang="en-US" b="1" dirty="0">
                <a:latin typeface="Times New Roman" panose="02020603050405020304" pitchFamily="18" charset="0"/>
                <a:cs typeface="Times New Roman" panose="02020603050405020304" pitchFamily="18" charset="0"/>
              </a:rPr>
              <a:t>)</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Provides the </a:t>
            </a:r>
            <a:r>
              <a:rPr lang="en-US" b="1" dirty="0">
                <a:latin typeface="Times New Roman" panose="02020603050405020304" pitchFamily="18" charset="0"/>
                <a:cs typeface="Times New Roman" panose="02020603050405020304" pitchFamily="18" charset="0"/>
              </a:rPr>
              <a:t>user interface for the Chef Guru dashboard</a:t>
            </a:r>
            <a:r>
              <a:rPr lang="en-US" dirty="0">
                <a:latin typeface="Times New Roman" panose="02020603050405020304" pitchFamily="18" charset="0"/>
                <a:cs typeface="Times New Roman" panose="02020603050405020304" pitchFamily="18" charset="0"/>
              </a:rPr>
              <a:t>. </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Allows users to </a:t>
            </a:r>
            <a:r>
              <a:rPr lang="en-US" b="1" dirty="0">
                <a:latin typeface="Times New Roman" panose="02020603050405020304" pitchFamily="18" charset="0"/>
                <a:cs typeface="Times New Roman" panose="02020603050405020304" pitchFamily="18" charset="0"/>
              </a:rPr>
              <a:t>select or input ingredients for recipe generation</a:t>
            </a:r>
            <a:r>
              <a:rPr lang="en-US" dirty="0">
                <a:latin typeface="Times New Roman" panose="02020603050405020304" pitchFamily="18" charset="0"/>
                <a:cs typeface="Times New Roman" panose="02020603050405020304" pitchFamily="18" charset="0"/>
              </a:rPr>
              <a:t>. </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Sends ingredient data to the backend through </a:t>
            </a:r>
            <a:r>
              <a:rPr lang="en-US" b="1" dirty="0">
                <a:latin typeface="Times New Roman" panose="02020603050405020304" pitchFamily="18" charset="0"/>
                <a:cs typeface="Times New Roman" panose="02020603050405020304" pitchFamily="18" charset="0"/>
              </a:rPr>
              <a:t>API requests</a:t>
            </a:r>
            <a:r>
              <a:rPr lang="en-US" dirty="0">
                <a:latin typeface="Times New Roman" panose="02020603050405020304" pitchFamily="18" charset="0"/>
                <a:cs typeface="Times New Roman" panose="02020603050405020304" pitchFamily="18" charset="0"/>
              </a:rPr>
              <a:t>. </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Displays the </a:t>
            </a:r>
            <a:r>
              <a:rPr lang="en-US" b="1" dirty="0">
                <a:latin typeface="Times New Roman" panose="02020603050405020304" pitchFamily="18" charset="0"/>
                <a:cs typeface="Times New Roman" panose="02020603050405020304" pitchFamily="18" charset="0"/>
              </a:rPr>
              <a:t>generated recipe, step explanations, and recipe history</a:t>
            </a:r>
            <a:r>
              <a:rPr lang="en-US" sz="2000" dirty="0">
                <a:latin typeface="Times New Roman" panose="02020603050405020304" pitchFamily="18" charset="0"/>
                <a:cs typeface="Times New Roman" panose="02020603050405020304" pitchFamily="18" charset="0"/>
              </a:rPr>
              <a:t>.</a:t>
            </a:r>
          </a:p>
          <a:p>
            <a:pPr algn="just"/>
            <a:endParaRPr lang="en-IN" sz="20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Backend API (Application Service)</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Handles requests through the </a:t>
            </a:r>
            <a:r>
              <a:rPr lang="en-US" b="1" dirty="0">
                <a:latin typeface="Times New Roman" panose="02020603050405020304" pitchFamily="18" charset="0"/>
                <a:cs typeface="Times New Roman" panose="02020603050405020304" pitchFamily="18" charset="0"/>
              </a:rPr>
              <a:t>recipe generation endpoint</a:t>
            </a:r>
            <a:r>
              <a:rPr lang="en-US" dirty="0">
                <a:latin typeface="Times New Roman" panose="02020603050405020304" pitchFamily="18" charset="0"/>
                <a:cs typeface="Times New Roman" panose="02020603050405020304" pitchFamily="18" charset="0"/>
              </a:rPr>
              <a:t>. </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Processes ingredient input using </a:t>
            </a:r>
            <a:r>
              <a:rPr lang="en-US" b="1" dirty="0">
                <a:latin typeface="Times New Roman" panose="02020603050405020304" pitchFamily="18" charset="0"/>
                <a:cs typeface="Times New Roman" panose="02020603050405020304" pitchFamily="18" charset="0"/>
              </a:rPr>
              <a:t>validation and preprocessing modules</a:t>
            </a:r>
            <a:r>
              <a:rPr lang="en-US" dirty="0">
                <a:latin typeface="Times New Roman" panose="02020603050405020304" pitchFamily="18" charset="0"/>
                <a:cs typeface="Times New Roman" panose="02020603050405020304" pitchFamily="18" charset="0"/>
              </a:rPr>
              <a:t>. </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Acts as the </a:t>
            </a:r>
            <a:r>
              <a:rPr lang="en-US" b="1" dirty="0">
                <a:latin typeface="Times New Roman" panose="02020603050405020304" pitchFamily="18" charset="0"/>
                <a:cs typeface="Times New Roman" panose="02020603050405020304" pitchFamily="18" charset="0"/>
              </a:rPr>
              <a:t>central controller connecting frontend, retrieval pipeline, and AI model</a:t>
            </a:r>
            <a:r>
              <a:rPr lang="en-US" dirty="0">
                <a:latin typeface="Times New Roman" panose="02020603050405020304" pitchFamily="18" charset="0"/>
                <a:cs typeface="Times New Roman" panose="02020603050405020304" pitchFamily="18" charset="0"/>
              </a:rPr>
              <a:t>. </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Manages communication between </a:t>
            </a:r>
            <a:r>
              <a:rPr lang="en-US" b="1" dirty="0">
                <a:latin typeface="Times New Roman" panose="02020603050405020304" pitchFamily="18" charset="0"/>
                <a:cs typeface="Times New Roman" panose="02020603050405020304" pitchFamily="18" charset="0"/>
              </a:rPr>
              <a:t>vector database, generation model, and storage services</a:t>
            </a:r>
            <a:r>
              <a:rPr lang="en-US" dirty="0">
                <a:latin typeface="Times New Roman" panose="02020603050405020304" pitchFamily="18" charset="0"/>
                <a:cs typeface="Times New Roman" panose="02020603050405020304" pitchFamily="18" charset="0"/>
              </a:rPr>
              <a:t>.</a:t>
            </a:r>
          </a:p>
          <a:p>
            <a:pPr algn="just"/>
            <a:endParaRPr lang="en-IN" sz="20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Ingredient Validation &amp; Preprocessing</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Validates the </a:t>
            </a:r>
            <a:r>
              <a:rPr lang="en-US" b="1" dirty="0">
                <a:latin typeface="Times New Roman" panose="02020603050405020304" pitchFamily="18" charset="0"/>
                <a:cs typeface="Times New Roman" panose="02020603050405020304" pitchFamily="18" charset="0"/>
              </a:rPr>
              <a:t>ingredient list submitted by the user</a:t>
            </a:r>
            <a:r>
              <a:rPr lang="en-US" dirty="0">
                <a:latin typeface="Times New Roman" panose="02020603050405020304" pitchFamily="18" charset="0"/>
                <a:cs typeface="Times New Roman" panose="02020603050405020304" pitchFamily="18" charset="0"/>
              </a:rPr>
              <a:t>. </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Performs </a:t>
            </a:r>
            <a:r>
              <a:rPr lang="en-US" b="1" dirty="0">
                <a:latin typeface="Times New Roman" panose="02020603050405020304" pitchFamily="18" charset="0"/>
                <a:cs typeface="Times New Roman" panose="02020603050405020304" pitchFamily="18" charset="0"/>
              </a:rPr>
              <a:t>data cleaning, normalization, and duplicate removal</a:t>
            </a:r>
            <a:r>
              <a:rPr lang="en-US" dirty="0">
                <a:latin typeface="Times New Roman" panose="02020603050405020304" pitchFamily="18" charset="0"/>
                <a:cs typeface="Times New Roman" panose="02020603050405020304" pitchFamily="18" charset="0"/>
              </a:rPr>
              <a:t>. </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Ensures ingredient inputs match the </a:t>
            </a:r>
            <a:r>
              <a:rPr lang="en-US" b="1" dirty="0">
                <a:latin typeface="Times New Roman" panose="02020603050405020304" pitchFamily="18" charset="0"/>
                <a:cs typeface="Times New Roman" panose="02020603050405020304" pitchFamily="18" charset="0"/>
              </a:rPr>
              <a:t>format required for retrieval and embedding models</a:t>
            </a:r>
            <a:r>
              <a:rPr lang="en-US" dirty="0">
                <a:latin typeface="Times New Roman" panose="02020603050405020304" pitchFamily="18" charset="0"/>
                <a:cs typeface="Times New Roman" panose="02020603050405020304" pitchFamily="18" charset="0"/>
              </a:rPr>
              <a:t>. </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Prepares the input for </a:t>
            </a:r>
            <a:r>
              <a:rPr lang="en-US" b="1" dirty="0">
                <a:latin typeface="Times New Roman" panose="02020603050405020304" pitchFamily="18" charset="0"/>
                <a:cs typeface="Times New Roman" panose="02020603050405020304" pitchFamily="18" charset="0"/>
              </a:rPr>
              <a:t>query expansion and vector embedding generation</a:t>
            </a:r>
            <a:r>
              <a:rPr lang="en-US" dirty="0">
                <a:latin typeface="Times New Roman" panose="02020603050405020304" pitchFamily="18" charset="0"/>
                <a:cs typeface="Times New Roman" panose="02020603050405020304" pitchFamily="18" charset="0"/>
              </a:rPr>
              <a:t>. </a:t>
            </a:r>
          </a:p>
          <a:p>
            <a:pPr marL="342900" indent="-342900" algn="just">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4860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804CE-F073-D6B7-59A8-C59C2FA7723A}"/>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8A0A5549-0962-4ECE-C3F3-41171393B456}"/>
              </a:ext>
            </a:extLst>
          </p:cNvPr>
          <p:cNvSpPr>
            <a:spLocks noGrp="1"/>
          </p:cNvSpPr>
          <p:nvPr>
            <p:ph type="ftr" sz="quarter" idx="11"/>
          </p:nvPr>
        </p:nvSpPr>
        <p:spPr>
          <a:xfrm>
            <a:off x="5107823" y="6422068"/>
            <a:ext cx="7084177" cy="365125"/>
          </a:xfrm>
        </p:spPr>
        <p:txBody>
          <a:bodyPr/>
          <a:lstStyle/>
          <a:p>
            <a:r>
              <a:rPr lang="en-US" sz="1100" dirty="0">
                <a:solidFill>
                  <a:schemeClr val="dk1"/>
                </a:solidFill>
                <a:latin typeface="Times New Roman"/>
                <a:ea typeface="Times New Roman"/>
                <a:cs typeface="Times New Roman"/>
                <a:sym typeface="Times New Roman"/>
              </a:rPr>
              <a:t>Chef Guru: A Hybrid RAG and Fine-Tuning Framework for Personalized AI-Powered Recipe Generation</a:t>
            </a:r>
            <a:endParaRPr lang="en-US" sz="1100" dirty="0"/>
          </a:p>
        </p:txBody>
      </p:sp>
      <p:sp>
        <p:nvSpPr>
          <p:cNvPr id="5" name="Slide Number Placeholder 4">
            <a:extLst>
              <a:ext uri="{FF2B5EF4-FFF2-40B4-BE49-F238E27FC236}">
                <a16:creationId xmlns:a16="http://schemas.microsoft.com/office/drawing/2014/main" id="{B8037611-D7A6-5A5F-7D8A-296257F0C0B0}"/>
              </a:ext>
            </a:extLst>
          </p:cNvPr>
          <p:cNvSpPr>
            <a:spLocks noGrp="1"/>
          </p:cNvSpPr>
          <p:nvPr>
            <p:ph type="sldNum" sz="quarter" idx="12"/>
          </p:nvPr>
        </p:nvSpPr>
        <p:spPr/>
        <p:txBody>
          <a:bodyPr/>
          <a:lstStyle/>
          <a:p>
            <a:fld id="{FC6BEB0F-7D1A-4CFC-9A6C-0E77E068DA9D}" type="slidenum">
              <a:rPr lang="en-US" smtClean="0"/>
              <a:t>16</a:t>
            </a:fld>
            <a:endParaRPr lang="en-US"/>
          </a:p>
        </p:txBody>
      </p:sp>
      <p:sp>
        <p:nvSpPr>
          <p:cNvPr id="7" name="TextBox 6">
            <a:extLst>
              <a:ext uri="{FF2B5EF4-FFF2-40B4-BE49-F238E27FC236}">
                <a16:creationId xmlns:a16="http://schemas.microsoft.com/office/drawing/2014/main" id="{2254B2BE-83E6-11C0-4806-CB46D08E38A9}"/>
              </a:ext>
            </a:extLst>
          </p:cNvPr>
          <p:cNvSpPr txBox="1"/>
          <p:nvPr/>
        </p:nvSpPr>
        <p:spPr>
          <a:xfrm>
            <a:off x="4509729" y="0"/>
            <a:ext cx="3172542" cy="646331"/>
          </a:xfrm>
          <a:prstGeom prst="rect">
            <a:avLst/>
          </a:prstGeom>
          <a:noFill/>
        </p:spPr>
        <p:txBody>
          <a:bodyPr wrap="square">
            <a:spAutoFit/>
          </a:bodyPr>
          <a:lstStyle/>
          <a:p>
            <a:r>
              <a:rPr lang="en-US" sz="3600" b="1" dirty="0">
                <a:latin typeface="Times New Roman" panose="02020603050405020304" pitchFamily="18" charset="0"/>
                <a:cs typeface="Times New Roman" panose="02020603050405020304" pitchFamily="18" charset="0"/>
              </a:rPr>
              <a:t>WORKFLOW</a:t>
            </a:r>
            <a:endParaRPr lang="en-IN" sz="3600" b="1" dirty="0"/>
          </a:p>
        </p:txBody>
      </p:sp>
      <p:sp>
        <p:nvSpPr>
          <p:cNvPr id="6" name="TextBox 5">
            <a:extLst>
              <a:ext uri="{FF2B5EF4-FFF2-40B4-BE49-F238E27FC236}">
                <a16:creationId xmlns:a16="http://schemas.microsoft.com/office/drawing/2014/main" id="{1D78513B-049E-D8FE-A9D8-33C83AA3B7D5}"/>
              </a:ext>
            </a:extLst>
          </p:cNvPr>
          <p:cNvSpPr txBox="1"/>
          <p:nvPr/>
        </p:nvSpPr>
        <p:spPr>
          <a:xfrm>
            <a:off x="1788160" y="766732"/>
            <a:ext cx="8615680" cy="5139869"/>
          </a:xfrm>
          <a:prstGeom prst="rect">
            <a:avLst/>
          </a:prstGeom>
          <a:noFill/>
        </p:spPr>
        <p:txBody>
          <a:bodyPr wrap="square">
            <a:spAutoFit/>
          </a:bodyPr>
          <a:lstStyle/>
          <a:p>
            <a:pPr marL="285750" indent="-28575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Query Expansion &amp; Retrieval</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Expands ingredient queries using an </a:t>
            </a:r>
            <a:r>
              <a:rPr lang="en-US" b="1" dirty="0">
                <a:latin typeface="Times New Roman" panose="02020603050405020304" pitchFamily="18" charset="0"/>
                <a:cs typeface="Times New Roman" panose="02020603050405020304" pitchFamily="18" charset="0"/>
              </a:rPr>
              <a:t>LLM to include related culinary context</a:t>
            </a:r>
            <a:r>
              <a:rPr lang="en-US"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Converts ingredients into </a:t>
            </a:r>
            <a:r>
              <a:rPr lang="en-US" b="1" dirty="0">
                <a:latin typeface="Times New Roman" panose="02020603050405020304" pitchFamily="18" charset="0"/>
                <a:cs typeface="Times New Roman" panose="02020603050405020304" pitchFamily="18" charset="0"/>
              </a:rPr>
              <a:t>vector embeddings using </a:t>
            </a:r>
            <a:r>
              <a:rPr lang="en-US" b="1" dirty="0" err="1">
                <a:latin typeface="Times New Roman" panose="02020603050405020304" pitchFamily="18" charset="0"/>
                <a:cs typeface="Times New Roman" panose="02020603050405020304" pitchFamily="18" charset="0"/>
              </a:rPr>
              <a:t>SentenceTransformer</a:t>
            </a:r>
            <a:r>
              <a:rPr lang="en-US"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Retrieves similar recipes from the </a:t>
            </a:r>
            <a:r>
              <a:rPr lang="en-US" b="1" dirty="0" err="1">
                <a:latin typeface="Times New Roman" panose="02020603050405020304" pitchFamily="18" charset="0"/>
                <a:cs typeface="Times New Roman" panose="02020603050405020304" pitchFamily="18" charset="0"/>
              </a:rPr>
              <a:t>ChromaDB</a:t>
            </a:r>
            <a:r>
              <a:rPr lang="en-US" b="1" dirty="0">
                <a:latin typeface="Times New Roman" panose="02020603050405020304" pitchFamily="18" charset="0"/>
                <a:cs typeface="Times New Roman" panose="02020603050405020304" pitchFamily="18" charset="0"/>
              </a:rPr>
              <a:t> vector database</a:t>
            </a:r>
            <a:r>
              <a:rPr lang="en-US"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Applies </a:t>
            </a:r>
            <a:r>
              <a:rPr lang="en-US" b="1" dirty="0">
                <a:latin typeface="Times New Roman" panose="02020603050405020304" pitchFamily="18" charset="0"/>
                <a:cs typeface="Times New Roman" panose="02020603050405020304" pitchFamily="18" charset="0"/>
              </a:rPr>
              <a:t>cross-encoder re-ranking</a:t>
            </a:r>
            <a:r>
              <a:rPr lang="en-US" dirty="0">
                <a:latin typeface="Times New Roman" panose="02020603050405020304" pitchFamily="18" charset="0"/>
                <a:cs typeface="Times New Roman" panose="02020603050405020304" pitchFamily="18" charset="0"/>
              </a:rPr>
              <a:t> to select the most relevant recipes</a:t>
            </a:r>
            <a:r>
              <a:rPr lang="en-US" dirty="0"/>
              <a:t>.</a:t>
            </a:r>
          </a:p>
          <a:p>
            <a:endParaRPr lang="en-IN"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Recipe Generation Model</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Uses the </a:t>
            </a:r>
            <a:r>
              <a:rPr lang="en-US" b="1" dirty="0">
                <a:latin typeface="Times New Roman" panose="02020603050405020304" pitchFamily="18" charset="0"/>
                <a:cs typeface="Times New Roman" panose="02020603050405020304" pitchFamily="18" charset="0"/>
              </a:rPr>
              <a:t>Phi-3 Mini model fine-tuned with </a:t>
            </a:r>
            <a:r>
              <a:rPr lang="en-US" b="1" dirty="0" err="1">
                <a:latin typeface="Times New Roman" panose="02020603050405020304" pitchFamily="18" charset="0"/>
                <a:cs typeface="Times New Roman" panose="02020603050405020304" pitchFamily="18" charset="0"/>
              </a:rPr>
              <a:t>QLoRA</a:t>
            </a:r>
            <a:r>
              <a:rPr lang="en-US" dirty="0">
                <a:latin typeface="Times New Roman" panose="02020603050405020304" pitchFamily="18" charset="0"/>
                <a:cs typeface="Times New Roman" panose="02020603050405020304" pitchFamily="18" charset="0"/>
              </a:rPr>
              <a:t> for domain-specific recipe generation.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Combines </a:t>
            </a:r>
            <a:r>
              <a:rPr lang="en-US" b="1" dirty="0">
                <a:latin typeface="Times New Roman" panose="02020603050405020304" pitchFamily="18" charset="0"/>
                <a:cs typeface="Times New Roman" panose="02020603050405020304" pitchFamily="18" charset="0"/>
              </a:rPr>
              <a:t>user ingredients with retrieved recipes through a prompt builder</a:t>
            </a:r>
            <a:r>
              <a:rPr lang="en-US"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Generates a </a:t>
            </a:r>
            <a:r>
              <a:rPr lang="en-US" b="1" dirty="0">
                <a:latin typeface="Times New Roman" panose="02020603050405020304" pitchFamily="18" charset="0"/>
                <a:cs typeface="Times New Roman" panose="02020603050405020304" pitchFamily="18" charset="0"/>
              </a:rPr>
              <a:t>complete recipe including title, ingredients, and step-by-step instructions</a:t>
            </a:r>
            <a:r>
              <a:rPr lang="en-US"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Produces </a:t>
            </a:r>
            <a:r>
              <a:rPr lang="en-US" b="1" dirty="0">
                <a:latin typeface="Times New Roman" panose="02020603050405020304" pitchFamily="18" charset="0"/>
                <a:cs typeface="Times New Roman" panose="02020603050405020304" pitchFamily="18" charset="0"/>
              </a:rPr>
              <a:t>contextually grounded and ingredient-consistent outputs</a:t>
            </a:r>
            <a:r>
              <a:rPr lang="en-US" dirty="0">
                <a:latin typeface="Times New Roman" panose="02020603050405020304" pitchFamily="18" charset="0"/>
                <a:cs typeface="Times New Roman" panose="02020603050405020304" pitchFamily="18" charset="0"/>
              </a:rPr>
              <a:t>. </a:t>
            </a:r>
          </a:p>
          <a:p>
            <a:endParaRPr lang="en-IN"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Output &amp; Storage</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Provides </a:t>
            </a:r>
            <a:r>
              <a:rPr lang="en-US" b="1" dirty="0">
                <a:latin typeface="Times New Roman" panose="02020603050405020304" pitchFamily="18" charset="0"/>
                <a:cs typeface="Times New Roman" panose="02020603050405020304" pitchFamily="18" charset="0"/>
              </a:rPr>
              <a:t>step-level culinary explanations</a:t>
            </a:r>
            <a:r>
              <a:rPr lang="en-US" dirty="0">
                <a:latin typeface="Times New Roman" panose="02020603050405020304" pitchFamily="18" charset="0"/>
                <a:cs typeface="Times New Roman" panose="02020603050405020304" pitchFamily="18" charset="0"/>
              </a:rPr>
              <a:t> to improve user understanding.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Stores generated recipes in </a:t>
            </a:r>
            <a:r>
              <a:rPr lang="en-US" b="1" dirty="0">
                <a:latin typeface="Times New Roman" panose="02020603050405020304" pitchFamily="18" charset="0"/>
                <a:cs typeface="Times New Roman" panose="02020603050405020304" pitchFamily="18" charset="0"/>
              </a:rPr>
              <a:t>MongoDB for persistent storage</a:t>
            </a:r>
            <a:r>
              <a:rPr lang="en-US"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Uses </a:t>
            </a:r>
            <a:r>
              <a:rPr lang="en-US" b="1" dirty="0">
                <a:latin typeface="Times New Roman" panose="02020603050405020304" pitchFamily="18" charset="0"/>
                <a:cs typeface="Times New Roman" panose="02020603050405020304" pitchFamily="18" charset="0"/>
              </a:rPr>
              <a:t>Redis caching</a:t>
            </a:r>
            <a:r>
              <a:rPr lang="en-US" dirty="0">
                <a:latin typeface="Times New Roman" panose="02020603050405020304" pitchFamily="18" charset="0"/>
                <a:cs typeface="Times New Roman" panose="02020603050405020304" pitchFamily="18" charset="0"/>
              </a:rPr>
              <a:t> to improve performance and reduce repeated computation.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Displays the final recipe and explanations on the </a:t>
            </a:r>
            <a:r>
              <a:rPr lang="en-US" b="1" dirty="0">
                <a:latin typeface="Times New Roman" panose="02020603050405020304" pitchFamily="18" charset="0"/>
                <a:cs typeface="Times New Roman" panose="02020603050405020304" pitchFamily="18" charset="0"/>
              </a:rPr>
              <a:t>React dashboard interface</a:t>
            </a:r>
            <a:r>
              <a:rPr lang="en-US"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8385248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5C3CB3F0-1791-D544-8FAA-919D89A6D20E}"/>
              </a:ext>
            </a:extLst>
          </p:cNvPr>
          <p:cNvSpPr>
            <a:spLocks noGrp="1"/>
          </p:cNvSpPr>
          <p:nvPr>
            <p:ph type="ftr" sz="quarter" idx="11"/>
          </p:nvPr>
        </p:nvSpPr>
        <p:spPr>
          <a:xfrm>
            <a:off x="2553911" y="6362930"/>
            <a:ext cx="7084177" cy="365125"/>
          </a:xfrm>
        </p:spPr>
        <p:txBody>
          <a:bodyPr/>
          <a:lstStyle/>
          <a:p>
            <a:r>
              <a:rPr lang="en-US" sz="1100" dirty="0">
                <a:solidFill>
                  <a:schemeClr val="dk1"/>
                </a:solidFill>
                <a:latin typeface="Times New Roman"/>
                <a:ea typeface="Times New Roman"/>
                <a:cs typeface="Times New Roman"/>
                <a:sym typeface="Times New Roman"/>
              </a:rPr>
              <a:t>Chef Guru: A Hybrid RAG and Fine-Tuning Framework for Personalized AI-Powered Recipe Generation</a:t>
            </a:r>
            <a:endParaRPr lang="en-US" sz="1100" dirty="0"/>
          </a:p>
        </p:txBody>
      </p:sp>
      <p:sp>
        <p:nvSpPr>
          <p:cNvPr id="5" name="Slide Number Placeholder 4">
            <a:extLst>
              <a:ext uri="{FF2B5EF4-FFF2-40B4-BE49-F238E27FC236}">
                <a16:creationId xmlns:a16="http://schemas.microsoft.com/office/drawing/2014/main" id="{4EAAE0BD-7567-0172-16F4-06AF70687871}"/>
              </a:ext>
            </a:extLst>
          </p:cNvPr>
          <p:cNvSpPr>
            <a:spLocks noGrp="1"/>
          </p:cNvSpPr>
          <p:nvPr>
            <p:ph type="sldNum" sz="quarter" idx="12"/>
          </p:nvPr>
        </p:nvSpPr>
        <p:spPr/>
        <p:txBody>
          <a:bodyPr/>
          <a:lstStyle/>
          <a:p>
            <a:fld id="{FC6BEB0F-7D1A-4CFC-9A6C-0E77E068DA9D}" type="slidenum">
              <a:rPr lang="en-US" smtClean="0"/>
              <a:t>17</a:t>
            </a:fld>
            <a:endParaRPr lang="en-US"/>
          </a:p>
        </p:txBody>
      </p:sp>
      <p:sp>
        <p:nvSpPr>
          <p:cNvPr id="7" name="TextBox 6">
            <a:extLst>
              <a:ext uri="{FF2B5EF4-FFF2-40B4-BE49-F238E27FC236}">
                <a16:creationId xmlns:a16="http://schemas.microsoft.com/office/drawing/2014/main" id="{5D02996F-0E08-4FF7-16FC-213035CE7AE1}"/>
              </a:ext>
            </a:extLst>
          </p:cNvPr>
          <p:cNvSpPr txBox="1"/>
          <p:nvPr/>
        </p:nvSpPr>
        <p:spPr>
          <a:xfrm>
            <a:off x="1012054" y="826974"/>
            <a:ext cx="9694607" cy="5355312"/>
          </a:xfrm>
          <a:prstGeom prst="rect">
            <a:avLst/>
          </a:prstGeom>
          <a:noFill/>
        </p:spPr>
        <p:txBody>
          <a:bodyPr wrap="square">
            <a:spAutoFit/>
          </a:bodyPr>
          <a:lstStyle/>
          <a:p>
            <a:pPr marL="342900" indent="-34290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Ingredient Input Module</a:t>
            </a: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Accepts ingredient input from users through the React frontend interface and sends the data to the backend API for processing.</a:t>
            </a:r>
          </a:p>
          <a:p>
            <a:pPr marL="342900" indent="-342900">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Input Validation Module</a:t>
            </a: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Validates ingredient entries, checks for empty or invalid inputs, and ensures the format is suitable for further processing.</a:t>
            </a:r>
          </a:p>
          <a:p>
            <a:pPr marL="342900" indent="-342900">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Ingredient Preprocessing Module</a:t>
            </a: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Performs ingredient normalization, duplicate removal, and formatting to align with the dataset and embedding model requirements.</a:t>
            </a:r>
          </a:p>
          <a:p>
            <a:pPr marL="342900" indent="-342900">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Query Expansion Module</a:t>
            </a: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Expands the ingredient list using an LLM to include related culinary context and improve retrieval accuracy.</a:t>
            </a:r>
          </a:p>
          <a:p>
            <a:pPr marL="342900" indent="-342900">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Recipe Retrieval Module</a:t>
            </a: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Uses </a:t>
            </a:r>
            <a:r>
              <a:rPr lang="en-US" b="1" dirty="0" err="1">
                <a:latin typeface="Times New Roman" panose="02020603050405020304" pitchFamily="18" charset="0"/>
                <a:cs typeface="Times New Roman" panose="02020603050405020304" pitchFamily="18" charset="0"/>
              </a:rPr>
              <a:t>SentenceTransformer</a:t>
            </a:r>
            <a:r>
              <a:rPr lang="en-US" b="1" dirty="0">
                <a:latin typeface="Times New Roman" panose="02020603050405020304" pitchFamily="18" charset="0"/>
                <a:cs typeface="Times New Roman" panose="02020603050405020304" pitchFamily="18" charset="0"/>
              </a:rPr>
              <a:t> embeddings and </a:t>
            </a:r>
            <a:r>
              <a:rPr lang="en-US" b="1" dirty="0" err="1">
                <a:latin typeface="Times New Roman" panose="02020603050405020304" pitchFamily="18" charset="0"/>
                <a:cs typeface="Times New Roman" panose="02020603050405020304" pitchFamily="18" charset="0"/>
              </a:rPr>
              <a:t>ChromaDB</a:t>
            </a:r>
            <a:r>
              <a:rPr lang="en-US" b="1" dirty="0">
                <a:latin typeface="Times New Roman" panose="02020603050405020304" pitchFamily="18" charset="0"/>
                <a:cs typeface="Times New Roman" panose="02020603050405020304" pitchFamily="18" charset="0"/>
              </a:rPr>
              <a:t> vector database</a:t>
            </a:r>
            <a:r>
              <a:rPr lang="en-US" dirty="0">
                <a:latin typeface="Times New Roman" panose="02020603050405020304" pitchFamily="18" charset="0"/>
                <a:cs typeface="Times New Roman" panose="02020603050405020304" pitchFamily="18" charset="0"/>
              </a:rPr>
              <a:t> to retrieve recipes similar to the user’s ingredient list.</a:t>
            </a:r>
          </a:p>
        </p:txBody>
      </p:sp>
      <p:sp>
        <p:nvSpPr>
          <p:cNvPr id="3" name="TextBox 2">
            <a:extLst>
              <a:ext uri="{FF2B5EF4-FFF2-40B4-BE49-F238E27FC236}">
                <a16:creationId xmlns:a16="http://schemas.microsoft.com/office/drawing/2014/main" id="{74A95068-1FBC-718B-0B2D-199A7FCA46C3}"/>
              </a:ext>
            </a:extLst>
          </p:cNvPr>
          <p:cNvSpPr txBox="1"/>
          <p:nvPr/>
        </p:nvSpPr>
        <p:spPr>
          <a:xfrm>
            <a:off x="3723640" y="0"/>
            <a:ext cx="4744720" cy="646331"/>
          </a:xfrm>
          <a:prstGeom prst="rect">
            <a:avLst/>
          </a:prstGeom>
          <a:noFill/>
        </p:spPr>
        <p:txBody>
          <a:bodyPr wrap="square">
            <a:spAutoFit/>
          </a:bodyPr>
          <a:lstStyle/>
          <a:p>
            <a:pPr>
              <a:buNone/>
            </a:pPr>
            <a:r>
              <a:rPr lang="en-IN" sz="3600" b="1" dirty="0">
                <a:latin typeface="Times New Roman" panose="02020603050405020304" pitchFamily="18" charset="0"/>
                <a:cs typeface="Times New Roman" panose="02020603050405020304" pitchFamily="18" charset="0"/>
              </a:rPr>
              <a:t>SYSTEM MODULES</a:t>
            </a:r>
          </a:p>
        </p:txBody>
      </p:sp>
    </p:spTree>
    <p:extLst>
      <p:ext uri="{BB962C8B-B14F-4D97-AF65-F5344CB8AC3E}">
        <p14:creationId xmlns:p14="http://schemas.microsoft.com/office/powerpoint/2010/main" val="22924453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A1724A-E61C-4E45-B478-93B90F917460}"/>
              </a:ext>
            </a:extLst>
          </p:cNvPr>
          <p:cNvSpPr>
            <a:spLocks noGrp="1"/>
          </p:cNvSpPr>
          <p:nvPr>
            <p:ph idx="1"/>
          </p:nvPr>
        </p:nvSpPr>
        <p:spPr>
          <a:xfrm>
            <a:off x="1066800" y="1054957"/>
            <a:ext cx="10058400" cy="4582271"/>
          </a:xfrm>
        </p:spPr>
        <p:txBody>
          <a:bodyPr>
            <a:noAutofit/>
          </a:bodyPr>
          <a:lstStyle/>
          <a:p>
            <a:pPr>
              <a:lnSpc>
                <a:spcPct val="12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Re-Ranking Module</a:t>
            </a:r>
          </a:p>
          <a:p>
            <a:pPr>
              <a:lnSpc>
                <a:spcPct val="120000"/>
              </a:lnSpc>
            </a:pPr>
            <a:r>
              <a:rPr lang="en-US" sz="1800" dirty="0">
                <a:latin typeface="Times New Roman" panose="02020603050405020304" pitchFamily="18" charset="0"/>
                <a:cs typeface="Times New Roman" panose="02020603050405020304" pitchFamily="18" charset="0"/>
              </a:rPr>
              <a:t>Applies a </a:t>
            </a:r>
            <a:r>
              <a:rPr lang="en-US" sz="1800" b="1" dirty="0">
                <a:latin typeface="Times New Roman" panose="02020603050405020304" pitchFamily="18" charset="0"/>
                <a:cs typeface="Times New Roman" panose="02020603050405020304" pitchFamily="18" charset="0"/>
              </a:rPr>
              <a:t>cross-encoder model</a:t>
            </a:r>
            <a:r>
              <a:rPr lang="en-US" sz="1800" dirty="0">
                <a:latin typeface="Times New Roman" panose="02020603050405020304" pitchFamily="18" charset="0"/>
                <a:cs typeface="Times New Roman" panose="02020603050405020304" pitchFamily="18" charset="0"/>
              </a:rPr>
              <a:t> to rank retrieved recipes and select the most relevant ones for generation.</a:t>
            </a:r>
            <a:endParaRPr lang="en-US" sz="1800" b="1" dirty="0">
              <a:solidFill>
                <a:srgbClr val="000000"/>
              </a:solidFill>
              <a:latin typeface="Times New Roman" panose="02020603050405020304" pitchFamily="18" charset="0"/>
              <a:cs typeface="Times New Roman" panose="02020603050405020304" pitchFamily="18" charset="0"/>
            </a:endParaRPr>
          </a:p>
          <a:p>
            <a:pPr algn="l" rtl="0" eaLnBrk="1" latinLnBrk="0" hangingPunct="1">
              <a:lnSpc>
                <a:spcPct val="120000"/>
              </a:lnSpc>
              <a:spcBef>
                <a:spcPts val="0"/>
              </a:spcBef>
              <a:spcAft>
                <a:spcPts val="0"/>
              </a:spcAft>
              <a:buFont typeface="Wingdings" panose="05000000000000000000" pitchFamily="2" charset="2"/>
              <a:buChar char="Ø"/>
            </a:pPr>
            <a:r>
              <a:rPr lang="en-US" sz="1800" b="1" kern="1200" dirty="0">
                <a:solidFill>
                  <a:srgbClr val="000000"/>
                </a:solidFill>
                <a:effectLst/>
                <a:latin typeface="Times New Roman" panose="02020603050405020304" pitchFamily="18" charset="0"/>
                <a:cs typeface="Times New Roman" panose="02020603050405020304" pitchFamily="18" charset="0"/>
              </a:rPr>
              <a:t>Recipe Generation Module</a:t>
            </a:r>
            <a:endParaRPr lang="en-US" sz="1800" dirty="0">
              <a:effectLst/>
              <a:latin typeface="Times New Roman" panose="02020603050405020304" pitchFamily="18" charset="0"/>
              <a:cs typeface="Times New Roman" panose="02020603050405020304" pitchFamily="18" charset="0"/>
            </a:endParaRPr>
          </a:p>
          <a:p>
            <a:pPr marL="0" algn="l" rtl="0" eaLnBrk="1" latinLnBrk="0" hangingPunct="1">
              <a:lnSpc>
                <a:spcPct val="120000"/>
              </a:lnSpc>
              <a:spcBef>
                <a:spcPts val="0"/>
              </a:spcBef>
              <a:spcAft>
                <a:spcPts val="0"/>
              </a:spcAft>
            </a:pPr>
            <a:r>
              <a:rPr lang="en-US" sz="1800" kern="1200" dirty="0">
                <a:solidFill>
                  <a:srgbClr val="000000"/>
                </a:solidFill>
                <a:effectLst/>
                <a:latin typeface="Times New Roman" panose="02020603050405020304" pitchFamily="18" charset="0"/>
                <a:cs typeface="Times New Roman" panose="02020603050405020304" pitchFamily="18" charset="0"/>
              </a:rPr>
              <a:t>Uses the </a:t>
            </a:r>
            <a:r>
              <a:rPr lang="en-US" sz="1800" b="1" kern="1200" dirty="0" err="1">
                <a:solidFill>
                  <a:srgbClr val="000000"/>
                </a:solidFill>
                <a:effectLst/>
                <a:latin typeface="Times New Roman" panose="02020603050405020304" pitchFamily="18" charset="0"/>
                <a:cs typeface="Times New Roman" panose="02020603050405020304" pitchFamily="18" charset="0"/>
              </a:rPr>
              <a:t>QLoRA</a:t>
            </a:r>
            <a:r>
              <a:rPr lang="en-US" sz="1800" b="1" kern="1200" dirty="0">
                <a:solidFill>
                  <a:srgbClr val="000000"/>
                </a:solidFill>
                <a:effectLst/>
                <a:latin typeface="Times New Roman" panose="02020603050405020304" pitchFamily="18" charset="0"/>
                <a:cs typeface="Times New Roman" panose="02020603050405020304" pitchFamily="18" charset="0"/>
              </a:rPr>
              <a:t> fine-tuned Phi-3 Mini model</a:t>
            </a:r>
            <a:r>
              <a:rPr lang="en-US" sz="1800" kern="1200" dirty="0">
                <a:solidFill>
                  <a:srgbClr val="000000"/>
                </a:solidFill>
                <a:effectLst/>
                <a:latin typeface="Times New Roman" panose="02020603050405020304" pitchFamily="18" charset="0"/>
                <a:cs typeface="Times New Roman" panose="02020603050405020304" pitchFamily="18" charset="0"/>
              </a:rPr>
              <a:t> to generate complete recipes with ingredients and step-by-step instructions.</a:t>
            </a:r>
            <a:endParaRPr lang="en-US" sz="1800" dirty="0">
              <a:effectLst/>
              <a:latin typeface="Times New Roman" panose="02020603050405020304" pitchFamily="18" charset="0"/>
              <a:cs typeface="Times New Roman" panose="02020603050405020304" pitchFamily="18" charset="0"/>
            </a:endParaRPr>
          </a:p>
          <a:p>
            <a:pPr algn="l" rtl="0" eaLnBrk="1" latinLnBrk="0" hangingPunct="1">
              <a:lnSpc>
                <a:spcPct val="120000"/>
              </a:lnSpc>
              <a:spcBef>
                <a:spcPts val="0"/>
              </a:spcBef>
              <a:spcAft>
                <a:spcPts val="0"/>
              </a:spcAft>
              <a:buFont typeface="Wingdings" panose="05000000000000000000" pitchFamily="2" charset="2"/>
              <a:buChar char="Ø"/>
            </a:pPr>
            <a:r>
              <a:rPr lang="en-US" sz="1800" b="1" kern="1200" dirty="0">
                <a:solidFill>
                  <a:srgbClr val="000000"/>
                </a:solidFill>
                <a:effectLst/>
                <a:latin typeface="Times New Roman" panose="02020603050405020304" pitchFamily="18" charset="0"/>
                <a:cs typeface="Times New Roman" panose="02020603050405020304" pitchFamily="18" charset="0"/>
              </a:rPr>
              <a:t>Culinary Explanation Module</a:t>
            </a:r>
            <a:endParaRPr lang="en-US" sz="1800" dirty="0">
              <a:effectLst/>
              <a:latin typeface="Times New Roman" panose="02020603050405020304" pitchFamily="18" charset="0"/>
              <a:cs typeface="Times New Roman" panose="02020603050405020304" pitchFamily="18" charset="0"/>
            </a:endParaRPr>
          </a:p>
          <a:p>
            <a:pPr marL="0" algn="l" rtl="0" eaLnBrk="1" latinLnBrk="0" hangingPunct="1">
              <a:lnSpc>
                <a:spcPct val="120000"/>
              </a:lnSpc>
              <a:spcBef>
                <a:spcPts val="0"/>
              </a:spcBef>
              <a:spcAft>
                <a:spcPts val="0"/>
              </a:spcAft>
            </a:pPr>
            <a:r>
              <a:rPr lang="en-US" sz="1800" kern="1200" dirty="0">
                <a:solidFill>
                  <a:srgbClr val="000000"/>
                </a:solidFill>
                <a:effectLst/>
                <a:latin typeface="Times New Roman" panose="02020603050405020304" pitchFamily="18" charset="0"/>
                <a:cs typeface="Times New Roman" panose="02020603050405020304" pitchFamily="18" charset="0"/>
              </a:rPr>
              <a:t>Provides explanations for each cooking step, describing the purpose, technique, and ingredient interactions.</a:t>
            </a:r>
            <a:endParaRPr lang="en-US" sz="1800" dirty="0">
              <a:effectLst/>
              <a:latin typeface="Times New Roman" panose="02020603050405020304" pitchFamily="18" charset="0"/>
              <a:cs typeface="Times New Roman" panose="02020603050405020304" pitchFamily="18" charset="0"/>
            </a:endParaRPr>
          </a:p>
          <a:p>
            <a:pPr marL="160020" indent="-342900" algn="l" rtl="0" eaLnBrk="1" latinLnBrk="0" hangingPunct="1">
              <a:lnSpc>
                <a:spcPct val="120000"/>
              </a:lnSpc>
              <a:spcBef>
                <a:spcPts val="0"/>
              </a:spcBef>
              <a:spcAft>
                <a:spcPts val="0"/>
              </a:spcAft>
              <a:buFont typeface="Wingdings" panose="05000000000000000000" pitchFamily="2" charset="2"/>
              <a:buChar char="Ø"/>
            </a:pPr>
            <a:r>
              <a:rPr lang="en-US" sz="1800" b="1" kern="1200" dirty="0">
                <a:solidFill>
                  <a:srgbClr val="000000"/>
                </a:solidFill>
                <a:effectLst/>
                <a:latin typeface="Times New Roman" panose="02020603050405020304" pitchFamily="18" charset="0"/>
                <a:cs typeface="Times New Roman" panose="02020603050405020304" pitchFamily="18" charset="0"/>
              </a:rPr>
              <a:t>Output Module</a:t>
            </a:r>
            <a:endParaRPr lang="en-US" sz="1800" dirty="0">
              <a:effectLst/>
              <a:latin typeface="Times New Roman" panose="02020603050405020304" pitchFamily="18" charset="0"/>
              <a:cs typeface="Times New Roman" panose="02020603050405020304" pitchFamily="18" charset="0"/>
            </a:endParaRPr>
          </a:p>
          <a:p>
            <a:pPr marL="0" algn="l" rtl="0" eaLnBrk="1" latinLnBrk="0" hangingPunct="1">
              <a:lnSpc>
                <a:spcPct val="120000"/>
              </a:lnSpc>
              <a:spcBef>
                <a:spcPts val="0"/>
              </a:spcBef>
              <a:spcAft>
                <a:spcPts val="0"/>
              </a:spcAft>
            </a:pPr>
            <a:r>
              <a:rPr lang="en-US" sz="1800" kern="1200" dirty="0">
                <a:solidFill>
                  <a:srgbClr val="000000"/>
                </a:solidFill>
                <a:effectLst/>
                <a:latin typeface="Times New Roman" panose="02020603050405020304" pitchFamily="18" charset="0"/>
                <a:cs typeface="Times New Roman" panose="02020603050405020304" pitchFamily="18" charset="0"/>
              </a:rPr>
              <a:t>Returns the generated recipe along with step explanations and displays it on the React dashboard.</a:t>
            </a:r>
            <a:endParaRPr lang="en-US" sz="1800" dirty="0">
              <a:effectLst/>
              <a:latin typeface="Times New Roman" panose="02020603050405020304" pitchFamily="18" charset="0"/>
              <a:cs typeface="Times New Roman" panose="02020603050405020304" pitchFamily="18" charset="0"/>
            </a:endParaRPr>
          </a:p>
          <a:p>
            <a:pPr marL="160020" indent="-342900" algn="l" rtl="0" eaLnBrk="1" latinLnBrk="0" hangingPunct="1">
              <a:lnSpc>
                <a:spcPct val="120000"/>
              </a:lnSpc>
              <a:spcBef>
                <a:spcPts val="0"/>
              </a:spcBef>
              <a:spcAft>
                <a:spcPts val="0"/>
              </a:spcAft>
              <a:buFont typeface="Wingdings" panose="05000000000000000000" pitchFamily="2" charset="2"/>
              <a:buChar char="Ø"/>
            </a:pPr>
            <a:r>
              <a:rPr lang="en-US" sz="1800" b="1" kern="1200" dirty="0">
                <a:solidFill>
                  <a:srgbClr val="000000"/>
                </a:solidFill>
                <a:effectLst/>
                <a:latin typeface="Times New Roman" panose="02020603050405020304" pitchFamily="18" charset="0"/>
                <a:cs typeface="Times New Roman" panose="02020603050405020304" pitchFamily="18" charset="0"/>
              </a:rPr>
              <a:t>Database Module</a:t>
            </a:r>
            <a:endParaRPr lang="en-US" sz="1800" dirty="0">
              <a:effectLst/>
              <a:latin typeface="Times New Roman" panose="02020603050405020304" pitchFamily="18" charset="0"/>
              <a:cs typeface="Times New Roman" panose="02020603050405020304" pitchFamily="18" charset="0"/>
            </a:endParaRPr>
          </a:p>
          <a:p>
            <a:pPr marL="0" algn="l" rtl="0" eaLnBrk="1" latinLnBrk="0" hangingPunct="1">
              <a:lnSpc>
                <a:spcPct val="120000"/>
              </a:lnSpc>
              <a:spcBef>
                <a:spcPts val="0"/>
              </a:spcBef>
              <a:spcAft>
                <a:spcPts val="0"/>
              </a:spcAft>
            </a:pPr>
            <a:r>
              <a:rPr lang="en-US" sz="1800" kern="1200" dirty="0">
                <a:solidFill>
                  <a:srgbClr val="000000"/>
                </a:solidFill>
                <a:effectLst/>
                <a:latin typeface="Times New Roman" panose="02020603050405020304" pitchFamily="18" charset="0"/>
                <a:cs typeface="Times New Roman" panose="02020603050405020304" pitchFamily="18" charset="0"/>
              </a:rPr>
              <a:t>Stores generated recipes, user inputs, and recipe history in </a:t>
            </a:r>
            <a:r>
              <a:rPr lang="en-US" sz="1800" b="1" kern="1200" dirty="0">
                <a:solidFill>
                  <a:srgbClr val="000000"/>
                </a:solidFill>
                <a:effectLst/>
                <a:latin typeface="Times New Roman" panose="02020603050405020304" pitchFamily="18" charset="0"/>
                <a:cs typeface="Times New Roman" panose="02020603050405020304" pitchFamily="18" charset="0"/>
              </a:rPr>
              <a:t>MongoDB</a:t>
            </a:r>
            <a:r>
              <a:rPr lang="en-US" sz="1800" kern="1200" dirty="0">
                <a:solidFill>
                  <a:srgbClr val="000000"/>
                </a:solidFill>
                <a:effectLst/>
                <a:latin typeface="Times New Roman" panose="02020603050405020304" pitchFamily="18" charset="0"/>
                <a:cs typeface="Times New Roman" panose="02020603050405020304" pitchFamily="18" charset="0"/>
              </a:rPr>
              <a:t>, while </a:t>
            </a:r>
            <a:r>
              <a:rPr lang="en-US" sz="1800" b="1" kern="1200" dirty="0">
                <a:solidFill>
                  <a:srgbClr val="000000"/>
                </a:solidFill>
                <a:effectLst/>
                <a:latin typeface="Times New Roman" panose="02020603050405020304" pitchFamily="18" charset="0"/>
                <a:cs typeface="Times New Roman" panose="02020603050405020304" pitchFamily="18" charset="0"/>
              </a:rPr>
              <a:t>Redis caching</a:t>
            </a:r>
            <a:r>
              <a:rPr lang="en-US" sz="1800" kern="1200" dirty="0">
                <a:solidFill>
                  <a:srgbClr val="000000"/>
                </a:solidFill>
                <a:effectLst/>
                <a:latin typeface="Times New Roman" panose="02020603050405020304" pitchFamily="18" charset="0"/>
                <a:cs typeface="Times New Roman" panose="02020603050405020304" pitchFamily="18" charset="0"/>
              </a:rPr>
              <a:t> improves response time and performance.</a:t>
            </a:r>
            <a:endParaRPr lang="en-US" sz="1800" dirty="0">
              <a:effectLst/>
              <a:latin typeface="Times New Roman" panose="02020603050405020304" pitchFamily="18" charset="0"/>
              <a:cs typeface="Times New Roman" panose="02020603050405020304" pitchFamily="18" charset="0"/>
            </a:endParaRPr>
          </a:p>
          <a:p>
            <a:endParaRPr lang="en-US" sz="1800" dirty="0"/>
          </a:p>
        </p:txBody>
      </p:sp>
      <p:sp>
        <p:nvSpPr>
          <p:cNvPr id="4" name="Footer Placeholder 3">
            <a:extLst>
              <a:ext uri="{FF2B5EF4-FFF2-40B4-BE49-F238E27FC236}">
                <a16:creationId xmlns:a16="http://schemas.microsoft.com/office/drawing/2014/main" id="{2672A227-0296-4998-A678-9BA001EEED1F}"/>
              </a:ext>
            </a:extLst>
          </p:cNvPr>
          <p:cNvSpPr>
            <a:spLocks noGrp="1"/>
          </p:cNvSpPr>
          <p:nvPr>
            <p:ph type="ftr" sz="quarter" idx="11"/>
          </p:nvPr>
        </p:nvSpPr>
        <p:spPr/>
        <p:txBody>
          <a:bodyPr/>
          <a:lstStyle/>
          <a:p>
            <a:r>
              <a:rPr lang="en-US" sz="1100" dirty="0">
                <a:solidFill>
                  <a:schemeClr val="dk1"/>
                </a:solidFill>
                <a:latin typeface="Times New Roman"/>
                <a:ea typeface="Times New Roman"/>
                <a:cs typeface="Times New Roman"/>
                <a:sym typeface="Times New Roman"/>
              </a:rPr>
              <a:t>Chef Guru: A Hybrid RAG and Fine-Tuning Framework for Personalized AI-Powered Recipe Generation</a:t>
            </a:r>
            <a:endParaRPr lang="en-US" sz="1100" dirty="0"/>
          </a:p>
        </p:txBody>
      </p:sp>
      <p:sp>
        <p:nvSpPr>
          <p:cNvPr id="5" name="Slide Number Placeholder 4">
            <a:extLst>
              <a:ext uri="{FF2B5EF4-FFF2-40B4-BE49-F238E27FC236}">
                <a16:creationId xmlns:a16="http://schemas.microsoft.com/office/drawing/2014/main" id="{1CA7166E-AA96-4074-A1AE-9203AD4BC769}"/>
              </a:ext>
            </a:extLst>
          </p:cNvPr>
          <p:cNvSpPr>
            <a:spLocks noGrp="1"/>
          </p:cNvSpPr>
          <p:nvPr>
            <p:ph type="sldNum" sz="quarter" idx="12"/>
          </p:nvPr>
        </p:nvSpPr>
        <p:spPr/>
        <p:txBody>
          <a:bodyPr/>
          <a:lstStyle/>
          <a:p>
            <a:fld id="{FC6BEB0F-7D1A-4CFC-9A6C-0E77E068DA9D}" type="slidenum">
              <a:rPr lang="en-US" smtClean="0"/>
              <a:t>18</a:t>
            </a:fld>
            <a:endParaRPr lang="en-US"/>
          </a:p>
        </p:txBody>
      </p:sp>
      <p:sp>
        <p:nvSpPr>
          <p:cNvPr id="7" name="TextBox 6">
            <a:extLst>
              <a:ext uri="{FF2B5EF4-FFF2-40B4-BE49-F238E27FC236}">
                <a16:creationId xmlns:a16="http://schemas.microsoft.com/office/drawing/2014/main" id="{F04FF0AF-DDA0-4BED-A13E-57E50F5C5177}"/>
              </a:ext>
            </a:extLst>
          </p:cNvPr>
          <p:cNvSpPr txBox="1"/>
          <p:nvPr/>
        </p:nvSpPr>
        <p:spPr>
          <a:xfrm>
            <a:off x="3546836" y="220091"/>
            <a:ext cx="6094428" cy="646331"/>
          </a:xfrm>
          <a:prstGeom prst="rect">
            <a:avLst/>
          </a:prstGeom>
          <a:noFill/>
        </p:spPr>
        <p:txBody>
          <a:bodyPr wrap="square">
            <a:spAutoFit/>
          </a:bodyPr>
          <a:lstStyle/>
          <a:p>
            <a:pPr>
              <a:buNone/>
            </a:pPr>
            <a:r>
              <a:rPr lang="en-IN" sz="3600" b="1" dirty="0">
                <a:latin typeface="Times New Roman" panose="02020603050405020304" pitchFamily="18" charset="0"/>
                <a:cs typeface="Times New Roman" panose="02020603050405020304" pitchFamily="18" charset="0"/>
              </a:rPr>
              <a:t>SYSTEM MODULES</a:t>
            </a:r>
          </a:p>
        </p:txBody>
      </p:sp>
    </p:spTree>
    <p:extLst>
      <p:ext uri="{BB962C8B-B14F-4D97-AF65-F5344CB8AC3E}">
        <p14:creationId xmlns:p14="http://schemas.microsoft.com/office/powerpoint/2010/main" val="17273070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2">
          <a:extLst>
            <a:ext uri="{FF2B5EF4-FFF2-40B4-BE49-F238E27FC236}">
              <a16:creationId xmlns:a16="http://schemas.microsoft.com/office/drawing/2014/main" id="{8695B0E3-BBDB-C42C-AEFC-866FC186EAED}"/>
            </a:ext>
          </a:extLst>
        </p:cNvPr>
        <p:cNvGrpSpPr/>
        <p:nvPr/>
      </p:nvGrpSpPr>
      <p:grpSpPr>
        <a:xfrm>
          <a:off x="0" y="0"/>
          <a:ext cx="0" cy="0"/>
          <a:chOff x="0" y="0"/>
          <a:chExt cx="0" cy="0"/>
        </a:xfrm>
      </p:grpSpPr>
      <p:sp>
        <p:nvSpPr>
          <p:cNvPr id="203" name="Google Shape;203;p28">
            <a:extLst>
              <a:ext uri="{FF2B5EF4-FFF2-40B4-BE49-F238E27FC236}">
                <a16:creationId xmlns:a16="http://schemas.microsoft.com/office/drawing/2014/main" id="{338CC1E9-D842-09D1-8780-7A7F6FA51CF8}"/>
              </a:ext>
            </a:extLst>
          </p:cNvPr>
          <p:cNvSpPr txBox="1"/>
          <p:nvPr/>
        </p:nvSpPr>
        <p:spPr>
          <a:xfrm>
            <a:off x="3238500" y="0"/>
            <a:ext cx="5715000" cy="646290"/>
          </a:xfrm>
          <a:prstGeom prst="rect">
            <a:avLst/>
          </a:prstGeom>
          <a:noFill/>
          <a:ln>
            <a:noFill/>
          </a:ln>
        </p:spPr>
        <p:txBody>
          <a:bodyPr spcFirstLastPara="1" wrap="square" lIns="91425" tIns="45700" rIns="91425" bIns="45700" anchor="t" anchorCtr="0">
            <a:spAutoFit/>
          </a:bodyPr>
          <a:lstStyle/>
          <a:p>
            <a:pPr>
              <a:buClr>
                <a:schemeClr val="lt2"/>
              </a:buClr>
              <a:buSzPts val="2400"/>
            </a:pPr>
            <a:r>
              <a:rPr lang="en-US" sz="3600" b="1">
                <a:solidFill>
                  <a:schemeClr val="tx1">
                    <a:lumMod val="95000"/>
                    <a:lumOff val="5000"/>
                  </a:schemeClr>
                </a:solidFill>
                <a:effectLst>
                  <a:outerShdw blurRad="38100" dist="38100" dir="2700000" algn="tl">
                    <a:srgbClr val="000000">
                      <a:alpha val="43137"/>
                    </a:srgbClr>
                  </a:outerShdw>
                </a:effectLst>
                <a:latin typeface="Times New Roman"/>
                <a:cs typeface="Times New Roman"/>
                <a:sym typeface="Times New Roman"/>
              </a:rPr>
              <a:t>TECHNOLOGY STACK</a:t>
            </a:r>
            <a:endParaRPr sz="3600" b="1">
              <a:solidFill>
                <a:schemeClr val="tx1">
                  <a:lumMod val="95000"/>
                  <a:lumOff val="5000"/>
                </a:schemeClr>
              </a:solidFill>
              <a:effectLst>
                <a:outerShdw blurRad="38100" dist="38100" dir="2700000" algn="tl">
                  <a:srgbClr val="000000">
                    <a:alpha val="43137"/>
                  </a:srgbClr>
                </a:outerShdw>
              </a:effectLst>
            </a:endParaRPr>
          </a:p>
        </p:txBody>
      </p:sp>
      <p:sp>
        <p:nvSpPr>
          <p:cNvPr id="3" name="Footer Placeholder 2">
            <a:extLst>
              <a:ext uri="{FF2B5EF4-FFF2-40B4-BE49-F238E27FC236}">
                <a16:creationId xmlns:a16="http://schemas.microsoft.com/office/drawing/2014/main" id="{648237AC-0132-40D3-8F58-880A2968D1C3}"/>
              </a:ext>
            </a:extLst>
          </p:cNvPr>
          <p:cNvSpPr>
            <a:spLocks noGrp="1"/>
          </p:cNvSpPr>
          <p:nvPr>
            <p:ph type="ftr" sz="quarter" idx="11"/>
          </p:nvPr>
        </p:nvSpPr>
        <p:spPr/>
        <p:txBody>
          <a:bodyPr/>
          <a:lstStyle/>
          <a:p>
            <a:r>
              <a:rPr lang="en-US" sz="1100" dirty="0">
                <a:solidFill>
                  <a:schemeClr val="dk1"/>
                </a:solidFill>
                <a:latin typeface="Times New Roman"/>
                <a:ea typeface="Times New Roman"/>
                <a:cs typeface="Times New Roman"/>
                <a:sym typeface="Times New Roman"/>
              </a:rPr>
              <a:t>Chef Guru: A Hybrid RAG and Fine-Tuning Framework for Personalized AI-Powered Recipe Generation</a:t>
            </a:r>
            <a:endParaRPr lang="en-US" sz="1100" dirty="0"/>
          </a:p>
        </p:txBody>
      </p:sp>
      <p:sp>
        <p:nvSpPr>
          <p:cNvPr id="2" name="Slide Number Placeholder 1">
            <a:extLst>
              <a:ext uri="{FF2B5EF4-FFF2-40B4-BE49-F238E27FC236}">
                <a16:creationId xmlns:a16="http://schemas.microsoft.com/office/drawing/2014/main" id="{CB77FD40-2D84-221A-A37E-4AF84723ADCA}"/>
              </a:ext>
            </a:extLst>
          </p:cNvPr>
          <p:cNvSpPr>
            <a:spLocks noGrp="1"/>
          </p:cNvSpPr>
          <p:nvPr>
            <p:ph type="sldNum" sz="quarter" idx="12"/>
          </p:nvPr>
        </p:nvSpPr>
        <p:spPr/>
        <p:txBody>
          <a:bodyPr/>
          <a:lstStyle/>
          <a:p>
            <a:fld id="{FC6BEB0F-7D1A-4CFC-9A6C-0E77E068DA9D}" type="slidenum">
              <a:rPr lang="en-US" smtClean="0"/>
              <a:t>19</a:t>
            </a:fld>
            <a:endParaRPr lang="en-US"/>
          </a:p>
        </p:txBody>
      </p:sp>
      <p:graphicFrame>
        <p:nvGraphicFramePr>
          <p:cNvPr id="4" name="Table 3">
            <a:extLst>
              <a:ext uri="{FF2B5EF4-FFF2-40B4-BE49-F238E27FC236}">
                <a16:creationId xmlns:a16="http://schemas.microsoft.com/office/drawing/2014/main" id="{D140166E-82E1-E5A2-30E1-C31C5C8650A3}"/>
              </a:ext>
            </a:extLst>
          </p:cNvPr>
          <p:cNvGraphicFramePr>
            <a:graphicFrameLocks noGrp="1"/>
          </p:cNvGraphicFramePr>
          <p:nvPr>
            <p:extLst>
              <p:ext uri="{D42A27DB-BD31-4B8C-83A1-F6EECF244321}">
                <p14:modId xmlns:p14="http://schemas.microsoft.com/office/powerpoint/2010/main" val="204943592"/>
              </p:ext>
            </p:extLst>
          </p:nvPr>
        </p:nvGraphicFramePr>
        <p:xfrm>
          <a:off x="1635760" y="1028700"/>
          <a:ext cx="8516908" cy="4757047"/>
        </p:xfrm>
        <a:graphic>
          <a:graphicData uri="http://schemas.openxmlformats.org/drawingml/2006/table">
            <a:tbl>
              <a:tblPr>
                <a:tableStyleId>{5940675A-B579-460E-94D1-54222C63F5DA}</a:tableStyleId>
              </a:tblPr>
              <a:tblGrid>
                <a:gridCol w="4258454">
                  <a:extLst>
                    <a:ext uri="{9D8B030D-6E8A-4147-A177-3AD203B41FA5}">
                      <a16:colId xmlns:a16="http://schemas.microsoft.com/office/drawing/2014/main" val="192300377"/>
                    </a:ext>
                  </a:extLst>
                </a:gridCol>
                <a:gridCol w="4258454">
                  <a:extLst>
                    <a:ext uri="{9D8B030D-6E8A-4147-A177-3AD203B41FA5}">
                      <a16:colId xmlns:a16="http://schemas.microsoft.com/office/drawing/2014/main" val="2987170152"/>
                    </a:ext>
                  </a:extLst>
                </a:gridCol>
              </a:tblGrid>
              <a:tr h="494553">
                <a:tc>
                  <a:txBody>
                    <a:bodyPr/>
                    <a:lstStyle/>
                    <a:p>
                      <a:pPr>
                        <a:buNone/>
                      </a:pPr>
                      <a:r>
                        <a:rPr lang="en-IN" sz="2000" b="1" dirty="0">
                          <a:latin typeface="Times New Roman" panose="02020603050405020304" pitchFamily="18" charset="0"/>
                          <a:cs typeface="Times New Roman" panose="02020603050405020304" pitchFamily="18" charset="0"/>
                        </a:rPr>
                        <a:t>Category</a:t>
                      </a:r>
                    </a:p>
                  </a:txBody>
                  <a:tcPr anchor="ctr"/>
                </a:tc>
                <a:tc>
                  <a:txBody>
                    <a:bodyPr/>
                    <a:lstStyle/>
                    <a:p>
                      <a:pPr>
                        <a:buNone/>
                      </a:pPr>
                      <a:r>
                        <a:rPr lang="en-IN" sz="2000" b="1">
                          <a:latin typeface="Times New Roman" panose="02020603050405020304" pitchFamily="18" charset="0"/>
                          <a:cs typeface="Times New Roman" panose="02020603050405020304" pitchFamily="18" charset="0"/>
                        </a:rPr>
                        <a:t>Technologies Used</a:t>
                      </a:r>
                    </a:p>
                  </a:txBody>
                  <a:tcPr anchor="ctr"/>
                </a:tc>
                <a:extLst>
                  <a:ext uri="{0D108BD9-81ED-4DB2-BD59-A6C34878D82A}">
                    <a16:rowId xmlns:a16="http://schemas.microsoft.com/office/drawing/2014/main" val="1957090844"/>
                  </a:ext>
                </a:extLst>
              </a:tr>
              <a:tr h="494553">
                <a:tc>
                  <a:txBody>
                    <a:bodyPr/>
                    <a:lstStyle/>
                    <a:p>
                      <a:pPr>
                        <a:buNone/>
                      </a:pPr>
                      <a:r>
                        <a:rPr lang="en-IN" sz="2000">
                          <a:latin typeface="Times New Roman" panose="02020603050405020304" pitchFamily="18" charset="0"/>
                          <a:cs typeface="Times New Roman" panose="02020603050405020304" pitchFamily="18" charset="0"/>
                        </a:rPr>
                        <a:t>Programming Languages</a:t>
                      </a:r>
                    </a:p>
                  </a:txBody>
                  <a:tcPr anchor="ctr"/>
                </a:tc>
                <a:tc>
                  <a:txBody>
                    <a:bodyPr/>
                    <a:lstStyle/>
                    <a:p>
                      <a:pPr>
                        <a:buNone/>
                      </a:pPr>
                      <a:r>
                        <a:rPr lang="en-IN" sz="2000" dirty="0">
                          <a:latin typeface="Times New Roman" panose="02020603050405020304" pitchFamily="18" charset="0"/>
                          <a:cs typeface="Times New Roman" panose="02020603050405020304" pitchFamily="18" charset="0"/>
                        </a:rPr>
                        <a:t>Python, </a:t>
                      </a:r>
                      <a:r>
                        <a:rPr lang="en-IN" sz="2000" dirty="0" err="1">
                          <a:latin typeface="Times New Roman" panose="02020603050405020304" pitchFamily="18" charset="0"/>
                          <a:cs typeface="Times New Roman" panose="02020603050405020304" pitchFamily="18" charset="0"/>
                        </a:rPr>
                        <a:t>JavaScripts</a:t>
                      </a:r>
                      <a:endParaRPr lang="en-IN"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310907993"/>
                  </a:ext>
                </a:extLst>
              </a:tr>
              <a:tr h="865468">
                <a:tc>
                  <a:txBody>
                    <a:bodyPr/>
                    <a:lstStyle/>
                    <a:p>
                      <a:pPr>
                        <a:buNone/>
                      </a:pPr>
                      <a:r>
                        <a:rPr lang="en-IN" sz="2000" dirty="0">
                          <a:latin typeface="Times New Roman" panose="02020603050405020304" pitchFamily="18" charset="0"/>
                          <a:cs typeface="Times New Roman" panose="02020603050405020304" pitchFamily="18" charset="0"/>
                        </a:rPr>
                        <a:t>Tools</a:t>
                      </a:r>
                    </a:p>
                  </a:txBody>
                  <a:tcPr anchor="ctr"/>
                </a:tc>
                <a:tc>
                  <a:txBody>
                    <a:bodyPr/>
                    <a:lstStyle/>
                    <a:p>
                      <a:pPr>
                        <a:buNone/>
                      </a:pPr>
                      <a:r>
                        <a:rPr lang="en-IN" sz="2000" dirty="0">
                          <a:latin typeface="Times New Roman" panose="02020603050405020304" pitchFamily="18" charset="0"/>
                          <a:cs typeface="Times New Roman" panose="02020603050405020304" pitchFamily="18" charset="0"/>
                        </a:rPr>
                        <a:t>VS Code, </a:t>
                      </a:r>
                      <a:r>
                        <a:rPr lang="en-IN" sz="2000" dirty="0" err="1">
                          <a:latin typeface="Times New Roman" panose="02020603050405020304" pitchFamily="18" charset="0"/>
                          <a:cs typeface="Times New Roman" panose="02020603050405020304" pitchFamily="18" charset="0"/>
                        </a:rPr>
                        <a:t>Jupyter</a:t>
                      </a:r>
                      <a:r>
                        <a:rPr lang="en-IN" sz="2000" dirty="0">
                          <a:latin typeface="Times New Roman" panose="02020603050405020304" pitchFamily="18" charset="0"/>
                          <a:cs typeface="Times New Roman" panose="02020603050405020304" pitchFamily="18" charset="0"/>
                        </a:rPr>
                        <a:t> Notebook, Docker, Git ,Pandas, Chroma DB</a:t>
                      </a:r>
                    </a:p>
                  </a:txBody>
                  <a:tcPr anchor="ctr"/>
                </a:tc>
                <a:extLst>
                  <a:ext uri="{0D108BD9-81ED-4DB2-BD59-A6C34878D82A}">
                    <a16:rowId xmlns:a16="http://schemas.microsoft.com/office/drawing/2014/main" val="3495406215"/>
                  </a:ext>
                </a:extLst>
              </a:tr>
              <a:tr h="494553">
                <a:tc>
                  <a:txBody>
                    <a:bodyPr/>
                    <a:lstStyle/>
                    <a:p>
                      <a:pPr>
                        <a:buNone/>
                      </a:pPr>
                      <a:r>
                        <a:rPr lang="en-IN" sz="2000">
                          <a:latin typeface="Times New Roman" panose="02020603050405020304" pitchFamily="18" charset="0"/>
                          <a:cs typeface="Times New Roman" panose="02020603050405020304" pitchFamily="18" charset="0"/>
                        </a:rPr>
                        <a:t>Frameworks</a:t>
                      </a:r>
                    </a:p>
                  </a:txBody>
                  <a:tcPr anchor="ctr"/>
                </a:tc>
                <a:tc>
                  <a:txBody>
                    <a:bodyPr/>
                    <a:lstStyle/>
                    <a:p>
                      <a:r>
                        <a:rPr lang="en-US" sz="2000" dirty="0">
                          <a:latin typeface="Times New Roman" panose="02020603050405020304" pitchFamily="18" charset="0"/>
                          <a:cs typeface="Times New Roman" panose="02020603050405020304" pitchFamily="18" charset="0"/>
                        </a:rPr>
                        <a:t>React.js, Flask / </a:t>
                      </a:r>
                      <a:r>
                        <a:rPr lang="en-US" sz="2000" dirty="0" err="1">
                          <a:latin typeface="Times New Roman" panose="02020603050405020304" pitchFamily="18" charset="0"/>
                          <a:cs typeface="Times New Roman" panose="02020603050405020304" pitchFamily="18" charset="0"/>
                        </a:rPr>
                        <a:t>FastAPI</a:t>
                      </a:r>
                      <a:r>
                        <a:rPr lang="en-US" sz="2000" dirty="0">
                          <a:latin typeface="Times New Roman" panose="02020603050405020304" pitchFamily="18" charset="0"/>
                          <a:cs typeface="Times New Roman" panose="02020603050405020304" pitchFamily="18" charset="0"/>
                        </a:rPr>
                        <a:t>, Hugging Face Transformers, </a:t>
                      </a:r>
                      <a:r>
                        <a:rPr lang="en-US" sz="2000" dirty="0" err="1">
                          <a:latin typeface="Times New Roman" panose="02020603050405020304" pitchFamily="18" charset="0"/>
                          <a:cs typeface="Times New Roman" panose="02020603050405020304" pitchFamily="18" charset="0"/>
                        </a:rPr>
                        <a:t>SentenceTransformers</a:t>
                      </a:r>
                      <a:endParaRPr lang="en-US"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892140915"/>
                  </a:ext>
                </a:extLst>
              </a:tr>
              <a:tr h="494553">
                <a:tc>
                  <a:txBody>
                    <a:bodyPr/>
                    <a:lstStyle/>
                    <a:p>
                      <a:pPr>
                        <a:buNone/>
                      </a:pPr>
                      <a:r>
                        <a:rPr lang="en-IN" sz="2000">
                          <a:latin typeface="Times New Roman" panose="02020603050405020304" pitchFamily="18" charset="0"/>
                          <a:cs typeface="Times New Roman" panose="02020603050405020304" pitchFamily="18" charset="0"/>
                        </a:rPr>
                        <a:t>Database</a:t>
                      </a:r>
                    </a:p>
                  </a:txBody>
                  <a:tcPr anchor="ctr"/>
                </a:tc>
                <a:tc>
                  <a:txBody>
                    <a:bodyPr/>
                    <a:lstStyle/>
                    <a:p>
                      <a:pPr>
                        <a:buNone/>
                      </a:pPr>
                      <a:r>
                        <a:rPr lang="en-IN" sz="2000" dirty="0">
                          <a:latin typeface="Times New Roman" panose="02020603050405020304" pitchFamily="18" charset="0"/>
                          <a:cs typeface="Times New Roman" panose="02020603050405020304" pitchFamily="18" charset="0"/>
                        </a:rPr>
                        <a:t>MongoDB, Redis</a:t>
                      </a:r>
                    </a:p>
                  </a:txBody>
                  <a:tcPr anchor="ctr"/>
                </a:tc>
                <a:extLst>
                  <a:ext uri="{0D108BD9-81ED-4DB2-BD59-A6C34878D82A}">
                    <a16:rowId xmlns:a16="http://schemas.microsoft.com/office/drawing/2014/main" val="3330528901"/>
                  </a:ext>
                </a:extLst>
              </a:tr>
              <a:tr h="494553">
                <a:tc>
                  <a:txBody>
                    <a:bodyPr/>
                    <a:lstStyle/>
                    <a:p>
                      <a:pPr>
                        <a:buNone/>
                      </a:pPr>
                      <a:r>
                        <a:rPr lang="en-IN" sz="2000">
                          <a:latin typeface="Times New Roman" panose="02020603050405020304" pitchFamily="18" charset="0"/>
                          <a:cs typeface="Times New Roman" panose="02020603050405020304" pitchFamily="18" charset="0"/>
                        </a:rPr>
                        <a:t>APIs</a:t>
                      </a:r>
                    </a:p>
                  </a:txBody>
                  <a:tcPr anchor="ctr"/>
                </a:tc>
                <a:tc>
                  <a:txBody>
                    <a:bodyPr/>
                    <a:lstStyle/>
                    <a:p>
                      <a:pPr>
                        <a:buNone/>
                      </a:pPr>
                      <a:r>
                        <a:rPr lang="en-IN" sz="2000" dirty="0">
                          <a:latin typeface="Times New Roman" panose="02020603050405020304" pitchFamily="18" charset="0"/>
                          <a:cs typeface="Times New Roman" panose="02020603050405020304" pitchFamily="18" charset="0"/>
                        </a:rPr>
                        <a:t>REST APIs (</a:t>
                      </a:r>
                      <a:r>
                        <a:rPr lang="en-IN" sz="2000" dirty="0" err="1">
                          <a:latin typeface="Times New Roman" panose="02020603050405020304" pitchFamily="18" charset="0"/>
                          <a:cs typeface="Times New Roman" panose="02020603050405020304" pitchFamily="18" charset="0"/>
                        </a:rPr>
                        <a:t>FastAPI</a:t>
                      </a:r>
                      <a:r>
                        <a:rPr lang="en-IN" sz="2000" dirty="0">
                          <a:latin typeface="Times New Roman" panose="02020603050405020304" pitchFamily="18" charset="0"/>
                          <a:cs typeface="Times New Roman" panose="02020603050405020304" pitchFamily="18" charset="0"/>
                        </a:rPr>
                        <a:t> Endpoints), Hugging Face API</a:t>
                      </a:r>
                    </a:p>
                  </a:txBody>
                  <a:tcPr anchor="ctr"/>
                </a:tc>
                <a:extLst>
                  <a:ext uri="{0D108BD9-81ED-4DB2-BD59-A6C34878D82A}">
                    <a16:rowId xmlns:a16="http://schemas.microsoft.com/office/drawing/2014/main" val="1738914020"/>
                  </a:ext>
                </a:extLst>
              </a:tr>
              <a:tr h="865468">
                <a:tc>
                  <a:txBody>
                    <a:bodyPr/>
                    <a:lstStyle/>
                    <a:p>
                      <a:pPr>
                        <a:buNone/>
                      </a:pPr>
                      <a:r>
                        <a:rPr lang="en-IN" sz="2000">
                          <a:latin typeface="Times New Roman" panose="02020603050405020304" pitchFamily="18" charset="0"/>
                          <a:cs typeface="Times New Roman" panose="02020603050405020304" pitchFamily="18" charset="0"/>
                        </a:rPr>
                        <a:t>Hardware</a:t>
                      </a:r>
                    </a:p>
                  </a:txBody>
                  <a:tcPr anchor="ctr"/>
                </a:tc>
                <a:tc>
                  <a:txBody>
                    <a:bodyPr/>
                    <a:lstStyle/>
                    <a:p>
                      <a:pPr>
                        <a:buNone/>
                      </a:pPr>
                      <a:r>
                        <a:rPr lang="en-IN" sz="2000" dirty="0">
                          <a:latin typeface="Times New Roman" panose="02020603050405020304" pitchFamily="18" charset="0"/>
                          <a:cs typeface="Times New Roman" panose="02020603050405020304" pitchFamily="18" charset="0"/>
                        </a:rPr>
                        <a:t>Intel i5/i7 Processor, 8GB RAM (16GB recommended), 50GB Storage, NVIDIA GPU 16 GB RAM.</a:t>
                      </a:r>
                    </a:p>
                  </a:txBody>
                  <a:tcPr anchor="ctr"/>
                </a:tc>
                <a:extLst>
                  <a:ext uri="{0D108BD9-81ED-4DB2-BD59-A6C34878D82A}">
                    <a16:rowId xmlns:a16="http://schemas.microsoft.com/office/drawing/2014/main" val="4178556212"/>
                  </a:ext>
                </a:extLst>
              </a:tr>
            </a:tbl>
          </a:graphicData>
        </a:graphic>
      </p:graphicFrame>
    </p:spTree>
    <p:extLst>
      <p:ext uri="{BB962C8B-B14F-4D97-AF65-F5344CB8AC3E}">
        <p14:creationId xmlns:p14="http://schemas.microsoft.com/office/powerpoint/2010/main" val="23710303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2">
          <a:extLst>
            <a:ext uri="{FF2B5EF4-FFF2-40B4-BE49-F238E27FC236}">
              <a16:creationId xmlns:a16="http://schemas.microsoft.com/office/drawing/2014/main" id="{FCE4435B-E637-F593-BAA2-8B2C22F5A56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0556AB4-0F70-45FE-D994-D1A805C4889D}"/>
              </a:ext>
            </a:extLst>
          </p:cNvPr>
          <p:cNvSpPr>
            <a:spLocks noGrp="1"/>
          </p:cNvSpPr>
          <p:nvPr>
            <p:ph type="ftr" sz="quarter" idx="11"/>
          </p:nvPr>
        </p:nvSpPr>
        <p:spPr>
          <a:xfrm>
            <a:off x="1869323" y="6455346"/>
            <a:ext cx="7084177" cy="365125"/>
          </a:xfrm>
        </p:spPr>
        <p:txBody>
          <a:bodyPr/>
          <a:lstStyle/>
          <a:p>
            <a:r>
              <a:rPr lang="en-US" sz="1100" dirty="0">
                <a:solidFill>
                  <a:schemeClr val="dk1"/>
                </a:solidFill>
                <a:latin typeface="Times New Roman"/>
                <a:ea typeface="Times New Roman"/>
                <a:cs typeface="Times New Roman"/>
                <a:sym typeface="Times New Roman"/>
              </a:rPr>
              <a:t>Chef Guru: A Hybrid RAG and Fine-Tuning Framework for Personalized AI-Powered Recipe Generation</a:t>
            </a:r>
            <a:endParaRPr lang="en-US" sz="1100" dirty="0"/>
          </a:p>
        </p:txBody>
      </p:sp>
      <p:sp>
        <p:nvSpPr>
          <p:cNvPr id="2" name="Slide Number Placeholder 1">
            <a:extLst>
              <a:ext uri="{FF2B5EF4-FFF2-40B4-BE49-F238E27FC236}">
                <a16:creationId xmlns:a16="http://schemas.microsoft.com/office/drawing/2014/main" id="{0847F9A8-C4CC-25F2-C1CB-8C8697B6BEAB}"/>
              </a:ext>
            </a:extLst>
          </p:cNvPr>
          <p:cNvSpPr>
            <a:spLocks noGrp="1"/>
          </p:cNvSpPr>
          <p:nvPr>
            <p:ph type="sldNum" sz="quarter" idx="12"/>
          </p:nvPr>
        </p:nvSpPr>
        <p:spPr/>
        <p:txBody>
          <a:bodyPr/>
          <a:lstStyle/>
          <a:p>
            <a:fld id="{FC6BEB0F-7D1A-4CFC-9A6C-0E77E068DA9D}" type="slidenum">
              <a:rPr lang="en-US" smtClean="0"/>
              <a:t>20</a:t>
            </a:fld>
            <a:endParaRPr lang="en-US"/>
          </a:p>
        </p:txBody>
      </p:sp>
      <p:sp>
        <p:nvSpPr>
          <p:cNvPr id="5" name="Google Shape;203;p28">
            <a:extLst>
              <a:ext uri="{FF2B5EF4-FFF2-40B4-BE49-F238E27FC236}">
                <a16:creationId xmlns:a16="http://schemas.microsoft.com/office/drawing/2014/main" id="{BB2FAFE2-8B3D-4D7E-A99C-C78D5594BCC6}"/>
              </a:ext>
            </a:extLst>
          </p:cNvPr>
          <p:cNvSpPr txBox="1"/>
          <p:nvPr/>
        </p:nvSpPr>
        <p:spPr>
          <a:xfrm>
            <a:off x="3238500" y="0"/>
            <a:ext cx="5715000" cy="646290"/>
          </a:xfrm>
          <a:prstGeom prst="rect">
            <a:avLst/>
          </a:prstGeom>
          <a:noFill/>
          <a:ln>
            <a:noFill/>
          </a:ln>
        </p:spPr>
        <p:txBody>
          <a:bodyPr spcFirstLastPara="1" wrap="square" lIns="91425" tIns="45700" rIns="91425" bIns="45700" anchor="t" anchorCtr="0">
            <a:spAutoFit/>
          </a:bodyPr>
          <a:lstStyle/>
          <a:p>
            <a:pPr>
              <a:buClr>
                <a:schemeClr val="lt2"/>
              </a:buClr>
              <a:buSzPts val="2400"/>
            </a:pPr>
            <a:r>
              <a:rPr lang="en-US" sz="3600" b="1" dirty="0">
                <a:solidFill>
                  <a:schemeClr val="tx1">
                    <a:lumMod val="95000"/>
                    <a:lumOff val="5000"/>
                  </a:schemeClr>
                </a:solidFill>
                <a:effectLst>
                  <a:outerShdw blurRad="38100" dist="38100" dir="2700000" algn="tl">
                    <a:srgbClr val="000000">
                      <a:alpha val="43137"/>
                    </a:srgbClr>
                  </a:outerShdw>
                </a:effectLst>
                <a:latin typeface="Times New Roman"/>
                <a:cs typeface="Times New Roman"/>
                <a:sym typeface="Times New Roman"/>
              </a:rPr>
              <a:t>METHODOLOGY</a:t>
            </a:r>
            <a:endParaRPr sz="2800" b="1" dirty="0">
              <a:solidFill>
                <a:schemeClr val="tx1">
                  <a:lumMod val="95000"/>
                  <a:lumOff val="5000"/>
                </a:schemeClr>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7D6E4750-A137-5023-DC73-4B6A181626BD}"/>
              </a:ext>
            </a:extLst>
          </p:cNvPr>
          <p:cNvSpPr txBox="1"/>
          <p:nvPr/>
        </p:nvSpPr>
        <p:spPr>
          <a:xfrm>
            <a:off x="762000" y="829661"/>
            <a:ext cx="10668000" cy="4708981"/>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Ingredient Input &amp; Validation:</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Accepts ingredient input from the user through the React frontend and validates the format to ensure the ingredients are suitable for processing.</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Ingredient Preprocessing:</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Cleans and normalizes ingredient inputs by removing duplicates, correcting formatting, and preparing the data for further processing.</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Query Expansion:</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Expands the ingredient list using a lightweight language model to add related culinary context and improve retrieval accuracy.</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Semantic Retrieval:</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Generates ingredient embeddings using </a:t>
            </a:r>
            <a:r>
              <a:rPr lang="en-US" sz="2000" dirty="0" err="1">
                <a:latin typeface="Times New Roman" panose="02020603050405020304" pitchFamily="18" charset="0"/>
                <a:cs typeface="Times New Roman" panose="02020603050405020304" pitchFamily="18" charset="0"/>
              </a:rPr>
              <a:t>SentenceTransformer</a:t>
            </a:r>
            <a:r>
              <a:rPr lang="en-US" sz="2000" dirty="0">
                <a:latin typeface="Times New Roman" panose="02020603050405020304" pitchFamily="18" charset="0"/>
                <a:cs typeface="Times New Roman" panose="02020603050405020304" pitchFamily="18" charset="0"/>
              </a:rPr>
              <a:t> and retrieves similar recipes from the </a:t>
            </a:r>
            <a:r>
              <a:rPr lang="en-US" sz="2000" dirty="0" err="1">
                <a:latin typeface="Times New Roman" panose="02020603050405020304" pitchFamily="18" charset="0"/>
                <a:cs typeface="Times New Roman" panose="02020603050405020304" pitchFamily="18" charset="0"/>
              </a:rPr>
              <a:t>ChromaDB</a:t>
            </a:r>
            <a:r>
              <a:rPr lang="en-US" sz="2000" dirty="0">
                <a:latin typeface="Times New Roman" panose="02020603050405020304" pitchFamily="18" charset="0"/>
                <a:cs typeface="Times New Roman" panose="02020603050405020304" pitchFamily="18" charset="0"/>
              </a:rPr>
              <a:t> vector database.</a:t>
            </a:r>
          </a:p>
        </p:txBody>
      </p:sp>
    </p:spTree>
    <p:extLst>
      <p:ext uri="{BB962C8B-B14F-4D97-AF65-F5344CB8AC3E}">
        <p14:creationId xmlns:p14="http://schemas.microsoft.com/office/powerpoint/2010/main" val="41970871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58E2AC1-DFA7-4EAF-9D2F-FFA51502368A}"/>
              </a:ext>
            </a:extLst>
          </p:cNvPr>
          <p:cNvSpPr>
            <a:spLocks noGrp="1"/>
          </p:cNvSpPr>
          <p:nvPr>
            <p:ph type="ftr" sz="quarter" idx="11"/>
          </p:nvPr>
        </p:nvSpPr>
        <p:spPr/>
        <p:txBody>
          <a:bodyPr/>
          <a:lstStyle/>
          <a:p>
            <a:r>
              <a:rPr lang="en-US" sz="1100" dirty="0">
                <a:solidFill>
                  <a:schemeClr val="dk1"/>
                </a:solidFill>
                <a:latin typeface="Times New Roman"/>
                <a:ea typeface="Times New Roman"/>
                <a:cs typeface="Times New Roman"/>
                <a:sym typeface="Times New Roman"/>
              </a:rPr>
              <a:t>Chef Guru: A Hybrid RAG and Fine-Tuning Framework for Personalized AI-Powered Recipe Generation</a:t>
            </a:r>
            <a:endParaRPr lang="en-US" sz="1100" dirty="0"/>
          </a:p>
        </p:txBody>
      </p:sp>
      <p:sp>
        <p:nvSpPr>
          <p:cNvPr id="5" name="Slide Number Placeholder 4">
            <a:extLst>
              <a:ext uri="{FF2B5EF4-FFF2-40B4-BE49-F238E27FC236}">
                <a16:creationId xmlns:a16="http://schemas.microsoft.com/office/drawing/2014/main" id="{C7A1A835-B8ED-4FE4-858D-18C7A4570E68}"/>
              </a:ext>
            </a:extLst>
          </p:cNvPr>
          <p:cNvSpPr>
            <a:spLocks noGrp="1"/>
          </p:cNvSpPr>
          <p:nvPr>
            <p:ph type="sldNum" sz="quarter" idx="12"/>
          </p:nvPr>
        </p:nvSpPr>
        <p:spPr/>
        <p:txBody>
          <a:bodyPr/>
          <a:lstStyle/>
          <a:p>
            <a:fld id="{FC6BEB0F-7D1A-4CFC-9A6C-0E77E068DA9D}" type="slidenum">
              <a:rPr lang="en-US" smtClean="0"/>
              <a:t>21</a:t>
            </a:fld>
            <a:endParaRPr lang="en-US"/>
          </a:p>
        </p:txBody>
      </p:sp>
      <p:sp>
        <p:nvSpPr>
          <p:cNvPr id="6" name="Google Shape;203;p28">
            <a:extLst>
              <a:ext uri="{FF2B5EF4-FFF2-40B4-BE49-F238E27FC236}">
                <a16:creationId xmlns:a16="http://schemas.microsoft.com/office/drawing/2014/main" id="{FF56E8D6-B333-460B-91BF-AF0EA896C021}"/>
              </a:ext>
            </a:extLst>
          </p:cNvPr>
          <p:cNvSpPr txBox="1"/>
          <p:nvPr/>
        </p:nvSpPr>
        <p:spPr>
          <a:xfrm>
            <a:off x="3238500" y="-9427"/>
            <a:ext cx="5715000" cy="646290"/>
          </a:xfrm>
          <a:prstGeom prst="rect">
            <a:avLst/>
          </a:prstGeom>
          <a:noFill/>
          <a:ln>
            <a:noFill/>
          </a:ln>
        </p:spPr>
        <p:txBody>
          <a:bodyPr spcFirstLastPara="1" wrap="square" lIns="91425" tIns="45700" rIns="91425" bIns="45700" anchor="t" anchorCtr="0">
            <a:spAutoFit/>
          </a:bodyPr>
          <a:lstStyle/>
          <a:p>
            <a:pPr>
              <a:buClr>
                <a:schemeClr val="lt2"/>
              </a:buClr>
              <a:buSzPts val="2400"/>
            </a:pPr>
            <a:r>
              <a:rPr lang="en-US" sz="3600" b="1" dirty="0">
                <a:solidFill>
                  <a:schemeClr val="tx1">
                    <a:lumMod val="95000"/>
                    <a:lumOff val="5000"/>
                  </a:schemeClr>
                </a:solidFill>
                <a:effectLst>
                  <a:outerShdw blurRad="38100" dist="38100" dir="2700000" algn="tl">
                    <a:srgbClr val="000000">
                      <a:alpha val="43137"/>
                    </a:srgbClr>
                  </a:outerShdw>
                </a:effectLst>
                <a:latin typeface="Times New Roman"/>
                <a:cs typeface="Times New Roman"/>
                <a:sym typeface="Times New Roman"/>
              </a:rPr>
              <a:t>METHODOLOGY</a:t>
            </a:r>
            <a:endParaRPr sz="2800" b="1" dirty="0">
              <a:solidFill>
                <a:schemeClr val="tx1">
                  <a:lumMod val="95000"/>
                  <a:lumOff val="5000"/>
                </a:schemeClr>
              </a:solidFill>
              <a:effectLst>
                <a:outerShdw blurRad="38100" dist="38100" dir="2700000" algn="tl">
                  <a:srgbClr val="000000">
                    <a:alpha val="43137"/>
                  </a:srgbClr>
                </a:outerShdw>
              </a:effectLst>
            </a:endParaRPr>
          </a:p>
        </p:txBody>
      </p:sp>
      <p:sp>
        <p:nvSpPr>
          <p:cNvPr id="8" name="TextBox 7">
            <a:extLst>
              <a:ext uri="{FF2B5EF4-FFF2-40B4-BE49-F238E27FC236}">
                <a16:creationId xmlns:a16="http://schemas.microsoft.com/office/drawing/2014/main" id="{515E84C3-0325-4DB2-9E28-102FA606ED6A}"/>
              </a:ext>
            </a:extLst>
          </p:cNvPr>
          <p:cNvSpPr txBox="1"/>
          <p:nvPr/>
        </p:nvSpPr>
        <p:spPr>
          <a:xfrm>
            <a:off x="1366887" y="1197204"/>
            <a:ext cx="8936610" cy="4708981"/>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Re-Ranking:</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Uses a cross-encoder model to rank the retrieved recipes and select the most relevant ones for recipe generation.</a:t>
            </a:r>
          </a:p>
          <a:p>
            <a:endParaRPr lang="en-US" sz="2000" b="1"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Recipe Generation:</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Combines user ingredients with retrieved recipes through a prompt builder and uses the </a:t>
            </a:r>
            <a:r>
              <a:rPr lang="en-US" sz="2000" dirty="0" err="1">
                <a:latin typeface="Times New Roman" panose="02020603050405020304" pitchFamily="18" charset="0"/>
                <a:cs typeface="Times New Roman" panose="02020603050405020304" pitchFamily="18" charset="0"/>
              </a:rPr>
              <a:t>QLoRA</a:t>
            </a:r>
            <a:r>
              <a:rPr lang="en-US" sz="2000" dirty="0">
                <a:latin typeface="Times New Roman" panose="02020603050405020304" pitchFamily="18" charset="0"/>
                <a:cs typeface="Times New Roman" panose="02020603050405020304" pitchFamily="18" charset="0"/>
              </a:rPr>
              <a:t> fine-tuned Phi-3 Mini model to generate a complete recipe.</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Culinary Explanation:</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Provides step-level explanations describing cooking techniques, ingredient interactions, and preparation guidance.</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Storage &amp; Display:</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Stores generated recipes in MongoDB, caches results using Redis, and displays the final recipe with explanations on the React dashboard.</a:t>
            </a:r>
          </a:p>
        </p:txBody>
      </p:sp>
    </p:spTree>
    <p:extLst>
      <p:ext uri="{BB962C8B-B14F-4D97-AF65-F5344CB8AC3E}">
        <p14:creationId xmlns:p14="http://schemas.microsoft.com/office/powerpoint/2010/main" val="21736015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D64119-9451-B507-96A2-0FB5310C7B12}"/>
              </a:ext>
            </a:extLst>
          </p:cNvPr>
          <p:cNvSpPr>
            <a:spLocks noGrp="1"/>
          </p:cNvSpPr>
          <p:nvPr>
            <p:ph idx="1"/>
          </p:nvPr>
        </p:nvSpPr>
        <p:spPr>
          <a:xfrm>
            <a:off x="981391" y="2580640"/>
            <a:ext cx="3270569" cy="1696720"/>
          </a:xfrm>
        </p:spPr>
        <p:txBody>
          <a:bodyPr>
            <a:noAutofit/>
          </a:bodyPr>
          <a:lstStyle/>
          <a:p>
            <a:pPr marL="0" indent="0">
              <a:buNone/>
            </a:pPr>
            <a:r>
              <a:rPr lang="en-US" sz="3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USE CASE DIAGRAM</a:t>
            </a:r>
            <a:endParaRPr lang="en-IN" sz="3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02D26F55-F421-6123-AC26-1B437B5FE14B}"/>
              </a:ext>
            </a:extLst>
          </p:cNvPr>
          <p:cNvSpPr>
            <a:spLocks noGrp="1"/>
          </p:cNvSpPr>
          <p:nvPr>
            <p:ph type="ftr" sz="quarter" idx="11"/>
          </p:nvPr>
        </p:nvSpPr>
        <p:spPr/>
        <p:txBody>
          <a:bodyPr/>
          <a:lstStyle/>
          <a:p>
            <a:r>
              <a:rPr lang="en-US" sz="1100" dirty="0">
                <a:solidFill>
                  <a:schemeClr val="dk1"/>
                </a:solidFill>
                <a:latin typeface="Times New Roman"/>
                <a:ea typeface="Times New Roman"/>
                <a:cs typeface="Times New Roman"/>
                <a:sym typeface="Times New Roman"/>
              </a:rPr>
              <a:t>Chef Guru: A Hybrid RAG and Fine-Tuning Framework for Personalized AI-Powered Recipe Generation</a:t>
            </a:r>
            <a:endParaRPr lang="en-US" sz="1100" dirty="0"/>
          </a:p>
        </p:txBody>
      </p:sp>
      <p:sp>
        <p:nvSpPr>
          <p:cNvPr id="5" name="Slide Number Placeholder 4">
            <a:extLst>
              <a:ext uri="{FF2B5EF4-FFF2-40B4-BE49-F238E27FC236}">
                <a16:creationId xmlns:a16="http://schemas.microsoft.com/office/drawing/2014/main" id="{F79971C0-A7F5-3394-6603-62E52FB394C9}"/>
              </a:ext>
            </a:extLst>
          </p:cNvPr>
          <p:cNvSpPr>
            <a:spLocks noGrp="1"/>
          </p:cNvSpPr>
          <p:nvPr>
            <p:ph type="sldNum" sz="quarter" idx="12"/>
          </p:nvPr>
        </p:nvSpPr>
        <p:spPr/>
        <p:txBody>
          <a:bodyPr/>
          <a:lstStyle/>
          <a:p>
            <a:fld id="{FC6BEB0F-7D1A-4CFC-9A6C-0E77E068DA9D}" type="slidenum">
              <a:rPr lang="en-US" smtClean="0"/>
              <a:t>22</a:t>
            </a:fld>
            <a:endParaRPr lang="en-US"/>
          </a:p>
        </p:txBody>
      </p:sp>
      <p:pic>
        <p:nvPicPr>
          <p:cNvPr id="4098" name="Picture 2">
            <a:extLst>
              <a:ext uri="{FF2B5EF4-FFF2-40B4-BE49-F238E27FC236}">
                <a16:creationId xmlns:a16="http://schemas.microsoft.com/office/drawing/2014/main" id="{4C3D954C-521C-4307-9EDD-9F1AF17198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2109" y="367646"/>
            <a:ext cx="5467350" cy="57974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76335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D0378-7295-C953-852B-F479DC808AF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3422E0-F268-6E1C-930A-04D8006258C6}"/>
              </a:ext>
            </a:extLst>
          </p:cNvPr>
          <p:cNvSpPr>
            <a:spLocks noGrp="1"/>
          </p:cNvSpPr>
          <p:nvPr>
            <p:ph idx="1"/>
          </p:nvPr>
        </p:nvSpPr>
        <p:spPr>
          <a:xfrm>
            <a:off x="1484311" y="2804160"/>
            <a:ext cx="2640649" cy="1249680"/>
          </a:xfrm>
        </p:spPr>
        <p:txBody>
          <a:bodyPr>
            <a:noAutofit/>
          </a:bodyPr>
          <a:lstStyle/>
          <a:p>
            <a:pPr marL="0" indent="0">
              <a:buNone/>
            </a:pPr>
            <a:r>
              <a:rPr lang="en-US" sz="36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ACTIVITY DIAGRAM</a:t>
            </a:r>
            <a:endParaRPr lang="en-IN" sz="36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329183C0-CC59-0CA1-E6BF-9ADF50651BD9}"/>
              </a:ext>
            </a:extLst>
          </p:cNvPr>
          <p:cNvSpPr>
            <a:spLocks noGrp="1"/>
          </p:cNvSpPr>
          <p:nvPr>
            <p:ph type="ftr" sz="quarter" idx="11"/>
          </p:nvPr>
        </p:nvSpPr>
        <p:spPr/>
        <p:txBody>
          <a:bodyPr/>
          <a:lstStyle/>
          <a:p>
            <a:r>
              <a:rPr lang="en-US" sz="1100" dirty="0">
                <a:solidFill>
                  <a:schemeClr val="dk1"/>
                </a:solidFill>
                <a:latin typeface="Times New Roman"/>
                <a:ea typeface="Times New Roman"/>
                <a:cs typeface="Times New Roman"/>
                <a:sym typeface="Times New Roman"/>
              </a:rPr>
              <a:t>Chef Guru: A Hybrid RAG and Fine-Tuning Framework for Personalized AI-Powered Recipe Generation</a:t>
            </a:r>
            <a:endParaRPr lang="en-US" sz="1100" dirty="0"/>
          </a:p>
        </p:txBody>
      </p:sp>
      <p:sp>
        <p:nvSpPr>
          <p:cNvPr id="5" name="Slide Number Placeholder 4">
            <a:extLst>
              <a:ext uri="{FF2B5EF4-FFF2-40B4-BE49-F238E27FC236}">
                <a16:creationId xmlns:a16="http://schemas.microsoft.com/office/drawing/2014/main" id="{9327A304-57FC-3CD6-B179-B6757629D7BF}"/>
              </a:ext>
            </a:extLst>
          </p:cNvPr>
          <p:cNvSpPr>
            <a:spLocks noGrp="1"/>
          </p:cNvSpPr>
          <p:nvPr>
            <p:ph type="sldNum" sz="quarter" idx="12"/>
          </p:nvPr>
        </p:nvSpPr>
        <p:spPr/>
        <p:txBody>
          <a:bodyPr/>
          <a:lstStyle/>
          <a:p>
            <a:fld id="{FC6BEB0F-7D1A-4CFC-9A6C-0E77E068DA9D}" type="slidenum">
              <a:rPr lang="en-US" smtClean="0"/>
              <a:t>23</a:t>
            </a:fld>
            <a:endParaRPr lang="en-US"/>
          </a:p>
        </p:txBody>
      </p:sp>
      <p:pic>
        <p:nvPicPr>
          <p:cNvPr id="5122" name="Picture 2">
            <a:extLst>
              <a:ext uri="{FF2B5EF4-FFF2-40B4-BE49-F238E27FC236}">
                <a16:creationId xmlns:a16="http://schemas.microsoft.com/office/drawing/2014/main" id="{DC125EE0-C5D2-445E-9992-010D3E6636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51960" y="295505"/>
            <a:ext cx="5943600" cy="5905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67013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B42D2-140D-D39B-FDED-38A9218AFD5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997CFA-6DA1-815F-DE72-4C986195F48D}"/>
              </a:ext>
            </a:extLst>
          </p:cNvPr>
          <p:cNvSpPr>
            <a:spLocks noGrp="1"/>
          </p:cNvSpPr>
          <p:nvPr>
            <p:ph idx="1"/>
          </p:nvPr>
        </p:nvSpPr>
        <p:spPr>
          <a:xfrm>
            <a:off x="3287236" y="0"/>
            <a:ext cx="5617529" cy="487679"/>
          </a:xfrm>
        </p:spPr>
        <p:txBody>
          <a:bodyPr>
            <a:noAutofit/>
          </a:bodyPr>
          <a:lstStyle/>
          <a:p>
            <a:pPr marL="0" indent="0">
              <a:buNone/>
            </a:pPr>
            <a:r>
              <a:rPr lang="en-US" sz="36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SEQUENCE DIAGRAM</a:t>
            </a:r>
            <a:endParaRPr lang="en-IN" sz="36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DF569F9E-33C3-41F3-E567-635BFE0240A9}"/>
              </a:ext>
            </a:extLst>
          </p:cNvPr>
          <p:cNvSpPr>
            <a:spLocks noGrp="1"/>
          </p:cNvSpPr>
          <p:nvPr>
            <p:ph type="ftr" sz="quarter" idx="11"/>
          </p:nvPr>
        </p:nvSpPr>
        <p:spPr/>
        <p:txBody>
          <a:bodyPr/>
          <a:lstStyle/>
          <a:p>
            <a:r>
              <a:rPr lang="en-US" sz="1100" dirty="0">
                <a:solidFill>
                  <a:schemeClr val="dk1"/>
                </a:solidFill>
                <a:latin typeface="Times New Roman"/>
                <a:ea typeface="Times New Roman"/>
                <a:cs typeface="Times New Roman"/>
                <a:sym typeface="Times New Roman"/>
              </a:rPr>
              <a:t>Chef Guru: A Hybrid RAG and Fine-Tuning Framework for Personalized AI-Powered Recipe Generation</a:t>
            </a:r>
            <a:endParaRPr lang="en-US" sz="1100" dirty="0"/>
          </a:p>
        </p:txBody>
      </p:sp>
      <p:sp>
        <p:nvSpPr>
          <p:cNvPr id="5" name="Slide Number Placeholder 4">
            <a:extLst>
              <a:ext uri="{FF2B5EF4-FFF2-40B4-BE49-F238E27FC236}">
                <a16:creationId xmlns:a16="http://schemas.microsoft.com/office/drawing/2014/main" id="{91481921-FDE2-31CC-F21F-A6F7BA515EF0}"/>
              </a:ext>
            </a:extLst>
          </p:cNvPr>
          <p:cNvSpPr>
            <a:spLocks noGrp="1"/>
          </p:cNvSpPr>
          <p:nvPr>
            <p:ph type="sldNum" sz="quarter" idx="12"/>
          </p:nvPr>
        </p:nvSpPr>
        <p:spPr/>
        <p:txBody>
          <a:bodyPr/>
          <a:lstStyle/>
          <a:p>
            <a:fld id="{FC6BEB0F-7D1A-4CFC-9A6C-0E77E068DA9D}" type="slidenum">
              <a:rPr lang="en-US" smtClean="0"/>
              <a:t>24</a:t>
            </a:fld>
            <a:endParaRPr lang="en-US"/>
          </a:p>
        </p:txBody>
      </p:sp>
      <p:pic>
        <p:nvPicPr>
          <p:cNvPr id="6146" name="Picture 2">
            <a:extLst>
              <a:ext uri="{FF2B5EF4-FFF2-40B4-BE49-F238E27FC236}">
                <a16:creationId xmlns:a16="http://schemas.microsoft.com/office/drawing/2014/main" id="{0A4A3951-DAA0-4625-930C-8262EE0FA3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8042" y="1194848"/>
            <a:ext cx="9980234" cy="47134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70722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29"/>
          <p:cNvSpPr txBox="1"/>
          <p:nvPr/>
        </p:nvSpPr>
        <p:spPr>
          <a:xfrm>
            <a:off x="3238500" y="0"/>
            <a:ext cx="5715000" cy="646290"/>
          </a:xfrm>
          <a:prstGeom prst="rect">
            <a:avLst/>
          </a:prstGeom>
          <a:noFill/>
          <a:ln>
            <a:noFill/>
          </a:ln>
        </p:spPr>
        <p:txBody>
          <a:bodyPr spcFirstLastPara="1" wrap="square" lIns="91425" tIns="45700" rIns="91425" bIns="45700" anchor="t" anchorCtr="0">
            <a:spAutoFit/>
          </a:bodyPr>
          <a:lstStyle/>
          <a:p>
            <a:pPr>
              <a:buClr>
                <a:schemeClr val="lt2"/>
              </a:buClr>
              <a:buSzPts val="2400"/>
            </a:pPr>
            <a:r>
              <a:rPr lang="en-US" sz="3600" b="1">
                <a:solidFill>
                  <a:schemeClr val="tx1">
                    <a:lumMod val="95000"/>
                    <a:lumOff val="5000"/>
                  </a:schemeClr>
                </a:solidFill>
                <a:effectLst>
                  <a:outerShdw blurRad="38100" dist="38100" dir="2700000" algn="tl">
                    <a:srgbClr val="000000">
                      <a:alpha val="43137"/>
                    </a:srgbClr>
                  </a:outerShdw>
                </a:effectLst>
                <a:latin typeface="Times New Roman"/>
                <a:cs typeface="Times New Roman"/>
                <a:sym typeface="Times New Roman"/>
              </a:rPr>
              <a:t>IMPLEMENTATION</a:t>
            </a:r>
            <a:endParaRPr sz="3600" b="1">
              <a:solidFill>
                <a:schemeClr val="tx1">
                  <a:lumMod val="95000"/>
                  <a:lumOff val="5000"/>
                </a:schemeClr>
              </a:solidFill>
              <a:effectLst>
                <a:outerShdw blurRad="38100" dist="38100" dir="2700000" algn="tl">
                  <a:srgbClr val="000000">
                    <a:alpha val="43137"/>
                  </a:srgbClr>
                </a:outerShdw>
              </a:effectLst>
            </a:endParaRPr>
          </a:p>
        </p:txBody>
      </p:sp>
      <p:sp>
        <p:nvSpPr>
          <p:cNvPr id="3" name="Footer Placeholder 2">
            <a:extLst>
              <a:ext uri="{FF2B5EF4-FFF2-40B4-BE49-F238E27FC236}">
                <a16:creationId xmlns:a16="http://schemas.microsoft.com/office/drawing/2014/main" id="{FAB600A0-F062-5EF8-76AE-8089CDDDF743}"/>
              </a:ext>
            </a:extLst>
          </p:cNvPr>
          <p:cNvSpPr>
            <a:spLocks noGrp="1"/>
          </p:cNvSpPr>
          <p:nvPr>
            <p:ph type="ftr" sz="quarter" idx="11"/>
          </p:nvPr>
        </p:nvSpPr>
        <p:spPr/>
        <p:txBody>
          <a:bodyPr/>
          <a:lstStyle/>
          <a:p>
            <a:r>
              <a:rPr lang="en-US" sz="1100" dirty="0">
                <a:solidFill>
                  <a:schemeClr val="dk1"/>
                </a:solidFill>
                <a:latin typeface="Times New Roman"/>
                <a:ea typeface="Times New Roman"/>
                <a:cs typeface="Times New Roman"/>
                <a:sym typeface="Times New Roman"/>
              </a:rPr>
              <a:t>Chef Guru: A Hybrid RAG and Fine-Tuning Framework for Personalized AI-Powered Recipe Generation</a:t>
            </a:r>
            <a:endParaRPr lang="en-US" sz="1100" dirty="0"/>
          </a:p>
        </p:txBody>
      </p:sp>
      <p:sp>
        <p:nvSpPr>
          <p:cNvPr id="2" name="Slide Number Placeholder 1">
            <a:extLst>
              <a:ext uri="{FF2B5EF4-FFF2-40B4-BE49-F238E27FC236}">
                <a16:creationId xmlns:a16="http://schemas.microsoft.com/office/drawing/2014/main" id="{4E1508C2-E566-1FE6-7268-6F3992CE6BF4}"/>
              </a:ext>
            </a:extLst>
          </p:cNvPr>
          <p:cNvSpPr>
            <a:spLocks noGrp="1"/>
          </p:cNvSpPr>
          <p:nvPr>
            <p:ph type="sldNum" sz="quarter" idx="12"/>
          </p:nvPr>
        </p:nvSpPr>
        <p:spPr/>
        <p:txBody>
          <a:bodyPr/>
          <a:lstStyle/>
          <a:p>
            <a:fld id="{FC6BEB0F-7D1A-4CFC-9A6C-0E77E068DA9D}" type="slidenum">
              <a:rPr lang="en-US" smtClean="0"/>
              <a:t>25</a:t>
            </a:fld>
            <a:endParaRPr lang="en-US"/>
          </a:p>
        </p:txBody>
      </p:sp>
      <p:sp>
        <p:nvSpPr>
          <p:cNvPr id="6" name="Rectangle 5">
            <a:extLst>
              <a:ext uri="{FF2B5EF4-FFF2-40B4-BE49-F238E27FC236}">
                <a16:creationId xmlns:a16="http://schemas.microsoft.com/office/drawing/2014/main" id="{1FAA90A7-A87B-815C-FB91-8A8BA0BAD76B}"/>
              </a:ext>
            </a:extLst>
          </p:cNvPr>
          <p:cNvSpPr/>
          <p:nvPr/>
        </p:nvSpPr>
        <p:spPr>
          <a:xfrm>
            <a:off x="10312400" y="111760"/>
            <a:ext cx="1638808" cy="140208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170" name="Picture 2">
            <a:extLst>
              <a:ext uri="{FF2B5EF4-FFF2-40B4-BE49-F238E27FC236}">
                <a16:creationId xmlns:a16="http://schemas.microsoft.com/office/drawing/2014/main" id="{4552363E-F94B-43E7-8490-01FE9E1DD2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2594" y="1386253"/>
            <a:ext cx="8319800" cy="414656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09">
          <a:extLst>
            <a:ext uri="{FF2B5EF4-FFF2-40B4-BE49-F238E27FC236}">
              <a16:creationId xmlns:a16="http://schemas.microsoft.com/office/drawing/2014/main" id="{785FB616-82A8-2C9E-D9E9-F83A65E64371}"/>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F968A8CC-E186-E2DC-09F8-1CFFBE6F6079}"/>
              </a:ext>
            </a:extLst>
          </p:cNvPr>
          <p:cNvSpPr>
            <a:spLocks noGrp="1"/>
          </p:cNvSpPr>
          <p:nvPr>
            <p:ph type="ftr" sz="quarter" idx="11"/>
          </p:nvPr>
        </p:nvSpPr>
        <p:spPr/>
        <p:txBody>
          <a:bodyPr/>
          <a:lstStyle/>
          <a:p>
            <a:r>
              <a:rPr lang="en-US" sz="1100" dirty="0">
                <a:solidFill>
                  <a:schemeClr val="dk1"/>
                </a:solidFill>
                <a:latin typeface="Times New Roman"/>
                <a:ea typeface="Times New Roman"/>
                <a:cs typeface="Times New Roman"/>
                <a:sym typeface="Times New Roman"/>
              </a:rPr>
              <a:t>Chef Guru: A Hybrid RAG and Fine-Tuning Framework for Personalized AI-Powered Recipe Generation</a:t>
            </a:r>
            <a:endParaRPr lang="en-US" sz="1100" dirty="0"/>
          </a:p>
        </p:txBody>
      </p:sp>
      <p:sp>
        <p:nvSpPr>
          <p:cNvPr id="2" name="Slide Number Placeholder 1">
            <a:extLst>
              <a:ext uri="{FF2B5EF4-FFF2-40B4-BE49-F238E27FC236}">
                <a16:creationId xmlns:a16="http://schemas.microsoft.com/office/drawing/2014/main" id="{38320F15-D205-B8D4-5422-5A0D106C619F}"/>
              </a:ext>
            </a:extLst>
          </p:cNvPr>
          <p:cNvSpPr>
            <a:spLocks noGrp="1"/>
          </p:cNvSpPr>
          <p:nvPr>
            <p:ph type="sldNum" sz="quarter" idx="12"/>
          </p:nvPr>
        </p:nvSpPr>
        <p:spPr/>
        <p:txBody>
          <a:bodyPr/>
          <a:lstStyle/>
          <a:p>
            <a:fld id="{FC6BEB0F-7D1A-4CFC-9A6C-0E77E068DA9D}" type="slidenum">
              <a:rPr lang="en-US" smtClean="0"/>
              <a:t>26</a:t>
            </a:fld>
            <a:endParaRPr lang="en-US"/>
          </a:p>
        </p:txBody>
      </p:sp>
      <p:sp>
        <p:nvSpPr>
          <p:cNvPr id="5" name="Google Shape;210;p29">
            <a:extLst>
              <a:ext uri="{FF2B5EF4-FFF2-40B4-BE49-F238E27FC236}">
                <a16:creationId xmlns:a16="http://schemas.microsoft.com/office/drawing/2014/main" id="{9C3E2AE7-7861-4DDE-0709-8F430E8336D2}"/>
              </a:ext>
            </a:extLst>
          </p:cNvPr>
          <p:cNvSpPr txBox="1"/>
          <p:nvPr/>
        </p:nvSpPr>
        <p:spPr>
          <a:xfrm>
            <a:off x="3238500" y="0"/>
            <a:ext cx="5715000" cy="646290"/>
          </a:xfrm>
          <a:prstGeom prst="rect">
            <a:avLst/>
          </a:prstGeom>
          <a:noFill/>
          <a:ln>
            <a:noFill/>
          </a:ln>
        </p:spPr>
        <p:txBody>
          <a:bodyPr spcFirstLastPara="1" wrap="square" lIns="91425" tIns="45700" rIns="91425" bIns="45700" anchor="t" anchorCtr="0">
            <a:spAutoFit/>
          </a:bodyPr>
          <a:lstStyle/>
          <a:p>
            <a:pPr>
              <a:buClr>
                <a:schemeClr val="lt2"/>
              </a:buClr>
              <a:buSzPts val="2400"/>
            </a:pPr>
            <a:r>
              <a:rPr lang="en-US" sz="3600" b="1">
                <a:solidFill>
                  <a:schemeClr val="tx1">
                    <a:lumMod val="95000"/>
                    <a:lumOff val="5000"/>
                  </a:schemeClr>
                </a:solidFill>
                <a:effectLst>
                  <a:outerShdw blurRad="38100" dist="38100" dir="2700000" algn="tl">
                    <a:srgbClr val="000000">
                      <a:alpha val="43137"/>
                    </a:srgbClr>
                  </a:outerShdw>
                </a:effectLst>
                <a:latin typeface="Times New Roman"/>
                <a:cs typeface="Times New Roman"/>
                <a:sym typeface="Times New Roman"/>
              </a:rPr>
              <a:t>IMPLEMENTATION</a:t>
            </a:r>
            <a:endParaRPr sz="3600" b="1">
              <a:solidFill>
                <a:schemeClr val="tx1">
                  <a:lumMod val="95000"/>
                  <a:lumOff val="5000"/>
                </a:schemeClr>
              </a:solidFill>
              <a:effectLst>
                <a:outerShdw blurRad="38100" dist="38100" dir="2700000" algn="tl">
                  <a:srgbClr val="000000">
                    <a:alpha val="43137"/>
                  </a:srgbClr>
                </a:outerShdw>
              </a:effectLst>
            </a:endParaRPr>
          </a:p>
        </p:txBody>
      </p:sp>
      <p:sp>
        <p:nvSpPr>
          <p:cNvPr id="7" name="Rectangle 6">
            <a:extLst>
              <a:ext uri="{FF2B5EF4-FFF2-40B4-BE49-F238E27FC236}">
                <a16:creationId xmlns:a16="http://schemas.microsoft.com/office/drawing/2014/main" id="{3514A95F-6F27-501B-E4E9-56383D3F0D05}"/>
              </a:ext>
            </a:extLst>
          </p:cNvPr>
          <p:cNvSpPr/>
          <p:nvPr/>
        </p:nvSpPr>
        <p:spPr>
          <a:xfrm>
            <a:off x="10312400" y="111760"/>
            <a:ext cx="1638808" cy="140208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8194" name="Picture 2">
            <a:extLst>
              <a:ext uri="{FF2B5EF4-FFF2-40B4-BE49-F238E27FC236}">
                <a16:creationId xmlns:a16="http://schemas.microsoft.com/office/drawing/2014/main" id="{ABE24D3E-E4E1-4B4B-B095-3826419FCB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2798" y="1402811"/>
            <a:ext cx="8253357" cy="41134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81257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09">
          <a:extLst>
            <a:ext uri="{FF2B5EF4-FFF2-40B4-BE49-F238E27FC236}">
              <a16:creationId xmlns:a16="http://schemas.microsoft.com/office/drawing/2014/main" id="{798D43F5-99BF-9C25-9175-E5131D08DC37}"/>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0984FE54-5C1D-04D6-4598-465BAD4A22CD}"/>
              </a:ext>
            </a:extLst>
          </p:cNvPr>
          <p:cNvSpPr>
            <a:spLocks noGrp="1"/>
          </p:cNvSpPr>
          <p:nvPr>
            <p:ph type="ftr" sz="quarter" idx="11"/>
          </p:nvPr>
        </p:nvSpPr>
        <p:spPr/>
        <p:txBody>
          <a:bodyPr/>
          <a:lstStyle/>
          <a:p>
            <a:r>
              <a:rPr lang="en-US" sz="1100" dirty="0">
                <a:solidFill>
                  <a:schemeClr val="dk1"/>
                </a:solidFill>
                <a:latin typeface="Times New Roman"/>
                <a:ea typeface="Times New Roman"/>
                <a:cs typeface="Times New Roman"/>
                <a:sym typeface="Times New Roman"/>
              </a:rPr>
              <a:t>Chef Guru: A Hybrid RAG and Fine-Tuning Framework for Personalized AI-Powered Recipe Generation</a:t>
            </a:r>
            <a:endParaRPr lang="en-US" sz="1100" dirty="0"/>
          </a:p>
        </p:txBody>
      </p:sp>
      <p:sp>
        <p:nvSpPr>
          <p:cNvPr id="2" name="Slide Number Placeholder 1">
            <a:extLst>
              <a:ext uri="{FF2B5EF4-FFF2-40B4-BE49-F238E27FC236}">
                <a16:creationId xmlns:a16="http://schemas.microsoft.com/office/drawing/2014/main" id="{78C4E9F9-56A1-745F-7ADA-F528E7C96AEF}"/>
              </a:ext>
            </a:extLst>
          </p:cNvPr>
          <p:cNvSpPr>
            <a:spLocks noGrp="1"/>
          </p:cNvSpPr>
          <p:nvPr>
            <p:ph type="sldNum" sz="quarter" idx="12"/>
          </p:nvPr>
        </p:nvSpPr>
        <p:spPr/>
        <p:txBody>
          <a:bodyPr/>
          <a:lstStyle/>
          <a:p>
            <a:fld id="{FC6BEB0F-7D1A-4CFC-9A6C-0E77E068DA9D}" type="slidenum">
              <a:rPr lang="en-US" smtClean="0"/>
              <a:t>27</a:t>
            </a:fld>
            <a:endParaRPr lang="en-US"/>
          </a:p>
        </p:txBody>
      </p:sp>
      <p:sp>
        <p:nvSpPr>
          <p:cNvPr id="6" name="Google Shape;210;p29">
            <a:extLst>
              <a:ext uri="{FF2B5EF4-FFF2-40B4-BE49-F238E27FC236}">
                <a16:creationId xmlns:a16="http://schemas.microsoft.com/office/drawing/2014/main" id="{51BA8D6E-3A85-2268-B3EF-E4054B58B256}"/>
              </a:ext>
            </a:extLst>
          </p:cNvPr>
          <p:cNvSpPr txBox="1"/>
          <p:nvPr/>
        </p:nvSpPr>
        <p:spPr>
          <a:xfrm>
            <a:off x="3238500" y="0"/>
            <a:ext cx="5715000" cy="646290"/>
          </a:xfrm>
          <a:prstGeom prst="rect">
            <a:avLst/>
          </a:prstGeom>
          <a:noFill/>
          <a:ln>
            <a:noFill/>
          </a:ln>
        </p:spPr>
        <p:txBody>
          <a:bodyPr spcFirstLastPara="1" wrap="square" lIns="91425" tIns="45700" rIns="91425" bIns="45700" anchor="t" anchorCtr="0">
            <a:spAutoFit/>
          </a:bodyPr>
          <a:lstStyle/>
          <a:p>
            <a:pPr>
              <a:buClr>
                <a:schemeClr val="lt2"/>
              </a:buClr>
              <a:buSzPts val="2400"/>
            </a:pPr>
            <a:r>
              <a:rPr lang="en-US" sz="3600" b="1">
                <a:solidFill>
                  <a:schemeClr val="tx1">
                    <a:lumMod val="95000"/>
                    <a:lumOff val="5000"/>
                  </a:schemeClr>
                </a:solidFill>
                <a:effectLst>
                  <a:outerShdw blurRad="38100" dist="38100" dir="2700000" algn="tl">
                    <a:srgbClr val="000000">
                      <a:alpha val="43137"/>
                    </a:srgbClr>
                  </a:outerShdw>
                </a:effectLst>
                <a:latin typeface="Times New Roman"/>
                <a:cs typeface="Times New Roman"/>
                <a:sym typeface="Times New Roman"/>
              </a:rPr>
              <a:t>IMPLEMENTATION</a:t>
            </a:r>
            <a:endParaRPr sz="3600" b="1">
              <a:solidFill>
                <a:schemeClr val="tx1">
                  <a:lumMod val="95000"/>
                  <a:lumOff val="5000"/>
                </a:schemeClr>
              </a:solidFill>
              <a:effectLst>
                <a:outerShdw blurRad="38100" dist="38100" dir="2700000" algn="tl">
                  <a:srgbClr val="000000">
                    <a:alpha val="43137"/>
                  </a:srgbClr>
                </a:outerShdw>
              </a:effectLst>
            </a:endParaRPr>
          </a:p>
        </p:txBody>
      </p:sp>
      <p:sp>
        <p:nvSpPr>
          <p:cNvPr id="7" name="Rectangle 6">
            <a:extLst>
              <a:ext uri="{FF2B5EF4-FFF2-40B4-BE49-F238E27FC236}">
                <a16:creationId xmlns:a16="http://schemas.microsoft.com/office/drawing/2014/main" id="{6E4092C2-BC24-6E71-6BBC-C185B15ECAFB}"/>
              </a:ext>
            </a:extLst>
          </p:cNvPr>
          <p:cNvSpPr/>
          <p:nvPr/>
        </p:nvSpPr>
        <p:spPr>
          <a:xfrm>
            <a:off x="10312400" y="111760"/>
            <a:ext cx="1638808" cy="140208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218" name="Picture 2">
            <a:extLst>
              <a:ext uri="{FF2B5EF4-FFF2-40B4-BE49-F238E27FC236}">
                <a16:creationId xmlns:a16="http://schemas.microsoft.com/office/drawing/2014/main" id="{F9AC668D-B8C8-4B3A-9EBB-0832FE6E21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2084" y="1178350"/>
            <a:ext cx="8307831" cy="41006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31396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09">
          <a:extLst>
            <a:ext uri="{FF2B5EF4-FFF2-40B4-BE49-F238E27FC236}">
              <a16:creationId xmlns:a16="http://schemas.microsoft.com/office/drawing/2014/main" id="{A1768AF2-A745-9726-C98E-3674CE50D6C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2AA2053F-6FD0-649A-DCCD-8CEF399A50D9}"/>
              </a:ext>
            </a:extLst>
          </p:cNvPr>
          <p:cNvSpPr>
            <a:spLocks noGrp="1"/>
          </p:cNvSpPr>
          <p:nvPr>
            <p:ph type="ftr" sz="quarter" idx="11"/>
          </p:nvPr>
        </p:nvSpPr>
        <p:spPr/>
        <p:txBody>
          <a:bodyPr/>
          <a:lstStyle/>
          <a:p>
            <a:r>
              <a:rPr lang="en-US" sz="1100" dirty="0">
                <a:solidFill>
                  <a:schemeClr val="dk1"/>
                </a:solidFill>
                <a:latin typeface="Times New Roman"/>
                <a:ea typeface="Times New Roman"/>
                <a:cs typeface="Times New Roman"/>
                <a:sym typeface="Times New Roman"/>
              </a:rPr>
              <a:t>Chef Guru: A Hybrid RAG and Fine-Tuning Framework for Personalized AI-Powered Recipe Generation</a:t>
            </a:r>
            <a:endParaRPr lang="en-US" sz="1100" dirty="0"/>
          </a:p>
        </p:txBody>
      </p:sp>
      <p:sp>
        <p:nvSpPr>
          <p:cNvPr id="2" name="Slide Number Placeholder 1">
            <a:extLst>
              <a:ext uri="{FF2B5EF4-FFF2-40B4-BE49-F238E27FC236}">
                <a16:creationId xmlns:a16="http://schemas.microsoft.com/office/drawing/2014/main" id="{806113BE-A297-CD65-B126-9CD061C31E9F}"/>
              </a:ext>
            </a:extLst>
          </p:cNvPr>
          <p:cNvSpPr>
            <a:spLocks noGrp="1"/>
          </p:cNvSpPr>
          <p:nvPr>
            <p:ph type="sldNum" sz="quarter" idx="12"/>
          </p:nvPr>
        </p:nvSpPr>
        <p:spPr/>
        <p:txBody>
          <a:bodyPr/>
          <a:lstStyle/>
          <a:p>
            <a:fld id="{FC6BEB0F-7D1A-4CFC-9A6C-0E77E068DA9D}" type="slidenum">
              <a:rPr lang="en-US" smtClean="0"/>
              <a:t>28</a:t>
            </a:fld>
            <a:endParaRPr lang="en-US"/>
          </a:p>
        </p:txBody>
      </p:sp>
      <p:sp>
        <p:nvSpPr>
          <p:cNvPr id="5" name="Google Shape;210;p29">
            <a:extLst>
              <a:ext uri="{FF2B5EF4-FFF2-40B4-BE49-F238E27FC236}">
                <a16:creationId xmlns:a16="http://schemas.microsoft.com/office/drawing/2014/main" id="{D1A4B858-2622-1188-516F-E2267E4017AB}"/>
              </a:ext>
            </a:extLst>
          </p:cNvPr>
          <p:cNvSpPr txBox="1"/>
          <p:nvPr/>
        </p:nvSpPr>
        <p:spPr>
          <a:xfrm>
            <a:off x="3238500" y="0"/>
            <a:ext cx="5715000" cy="646290"/>
          </a:xfrm>
          <a:prstGeom prst="rect">
            <a:avLst/>
          </a:prstGeom>
          <a:noFill/>
          <a:ln>
            <a:noFill/>
          </a:ln>
        </p:spPr>
        <p:txBody>
          <a:bodyPr spcFirstLastPara="1" wrap="square" lIns="91425" tIns="45700" rIns="91425" bIns="45700" anchor="t" anchorCtr="0">
            <a:spAutoFit/>
          </a:bodyPr>
          <a:lstStyle/>
          <a:p>
            <a:pPr>
              <a:buClr>
                <a:schemeClr val="lt2"/>
              </a:buClr>
              <a:buSzPts val="2400"/>
            </a:pPr>
            <a:r>
              <a:rPr lang="en-US" sz="3600" b="1">
                <a:solidFill>
                  <a:schemeClr val="tx1">
                    <a:lumMod val="95000"/>
                    <a:lumOff val="5000"/>
                  </a:schemeClr>
                </a:solidFill>
                <a:effectLst>
                  <a:outerShdw blurRad="38100" dist="38100" dir="2700000" algn="tl">
                    <a:srgbClr val="000000">
                      <a:alpha val="43137"/>
                    </a:srgbClr>
                  </a:outerShdw>
                </a:effectLst>
                <a:latin typeface="Times New Roman"/>
                <a:cs typeface="Times New Roman"/>
                <a:sym typeface="Times New Roman"/>
              </a:rPr>
              <a:t>IMPLEMENTATION</a:t>
            </a:r>
            <a:endParaRPr sz="3600" b="1">
              <a:solidFill>
                <a:schemeClr val="tx1">
                  <a:lumMod val="95000"/>
                  <a:lumOff val="5000"/>
                </a:schemeClr>
              </a:solidFill>
              <a:effectLst>
                <a:outerShdw blurRad="38100" dist="38100" dir="2700000" algn="tl">
                  <a:srgbClr val="000000">
                    <a:alpha val="43137"/>
                  </a:srgbClr>
                </a:outerShdw>
              </a:effectLst>
            </a:endParaRPr>
          </a:p>
        </p:txBody>
      </p:sp>
      <p:sp>
        <p:nvSpPr>
          <p:cNvPr id="6" name="Rectangle 5">
            <a:extLst>
              <a:ext uri="{FF2B5EF4-FFF2-40B4-BE49-F238E27FC236}">
                <a16:creationId xmlns:a16="http://schemas.microsoft.com/office/drawing/2014/main" id="{CB4772B2-9185-98F5-D547-00567D02E771}"/>
              </a:ext>
            </a:extLst>
          </p:cNvPr>
          <p:cNvSpPr/>
          <p:nvPr/>
        </p:nvSpPr>
        <p:spPr>
          <a:xfrm>
            <a:off x="10312400" y="111760"/>
            <a:ext cx="1638808" cy="140208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42" name="Picture 2">
            <a:extLst>
              <a:ext uri="{FF2B5EF4-FFF2-40B4-BE49-F238E27FC236}">
                <a16:creationId xmlns:a16="http://schemas.microsoft.com/office/drawing/2014/main" id="{ED9B7F4A-132E-4E98-9A6E-EA102BD40D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5508" y="1055803"/>
            <a:ext cx="8980983" cy="45048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27204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09">
          <a:extLst>
            <a:ext uri="{FF2B5EF4-FFF2-40B4-BE49-F238E27FC236}">
              <a16:creationId xmlns:a16="http://schemas.microsoft.com/office/drawing/2014/main" id="{9FECA50E-0F46-EAA7-5EB8-B28C0281349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6CBEF623-3613-DCA4-6FCB-828F2D1C5776}"/>
              </a:ext>
            </a:extLst>
          </p:cNvPr>
          <p:cNvSpPr>
            <a:spLocks noGrp="1"/>
          </p:cNvSpPr>
          <p:nvPr>
            <p:ph type="ftr" sz="quarter" idx="11"/>
          </p:nvPr>
        </p:nvSpPr>
        <p:spPr/>
        <p:txBody>
          <a:bodyPr/>
          <a:lstStyle/>
          <a:p>
            <a:r>
              <a:rPr lang="en-US" sz="1100" dirty="0">
                <a:solidFill>
                  <a:schemeClr val="dk1"/>
                </a:solidFill>
                <a:latin typeface="Times New Roman"/>
                <a:ea typeface="Times New Roman"/>
                <a:cs typeface="Times New Roman"/>
                <a:sym typeface="Times New Roman"/>
              </a:rPr>
              <a:t>Chef Guru: A Hybrid RAG and Fine-Tuning Framework for Personalized AI-Powered Recipe Generation</a:t>
            </a:r>
            <a:endParaRPr lang="en-US" sz="1100" dirty="0"/>
          </a:p>
        </p:txBody>
      </p:sp>
      <p:sp>
        <p:nvSpPr>
          <p:cNvPr id="2" name="Slide Number Placeholder 1">
            <a:extLst>
              <a:ext uri="{FF2B5EF4-FFF2-40B4-BE49-F238E27FC236}">
                <a16:creationId xmlns:a16="http://schemas.microsoft.com/office/drawing/2014/main" id="{3346268B-3138-5C2F-070A-2C180D246F66}"/>
              </a:ext>
            </a:extLst>
          </p:cNvPr>
          <p:cNvSpPr>
            <a:spLocks noGrp="1"/>
          </p:cNvSpPr>
          <p:nvPr>
            <p:ph type="sldNum" sz="quarter" idx="12"/>
          </p:nvPr>
        </p:nvSpPr>
        <p:spPr/>
        <p:txBody>
          <a:bodyPr/>
          <a:lstStyle/>
          <a:p>
            <a:fld id="{FC6BEB0F-7D1A-4CFC-9A6C-0E77E068DA9D}" type="slidenum">
              <a:rPr lang="en-US" smtClean="0"/>
              <a:t>29</a:t>
            </a:fld>
            <a:endParaRPr lang="en-US" dirty="0"/>
          </a:p>
        </p:txBody>
      </p:sp>
      <p:sp>
        <p:nvSpPr>
          <p:cNvPr id="4" name="TextBox 3">
            <a:extLst>
              <a:ext uri="{FF2B5EF4-FFF2-40B4-BE49-F238E27FC236}">
                <a16:creationId xmlns:a16="http://schemas.microsoft.com/office/drawing/2014/main" id="{2F8672B3-C9ED-8ECA-2757-BD5976562CC2}"/>
              </a:ext>
            </a:extLst>
          </p:cNvPr>
          <p:cNvSpPr txBox="1"/>
          <p:nvPr/>
        </p:nvSpPr>
        <p:spPr>
          <a:xfrm>
            <a:off x="240792" y="111760"/>
            <a:ext cx="2543048" cy="1200329"/>
          </a:xfrm>
          <a:prstGeom prst="rect">
            <a:avLst/>
          </a:prstGeom>
          <a:noFill/>
        </p:spPr>
        <p:txBody>
          <a:bodyPr wrap="square" rtlCol="0">
            <a:spAutoFit/>
          </a:bodyPr>
          <a:lstStyle/>
          <a:p>
            <a:r>
              <a:rPr lang="en-US" sz="3600" b="1" dirty="0">
                <a:latin typeface="Times New Roman" panose="02020603050405020304" pitchFamily="18" charset="0"/>
                <a:cs typeface="Times New Roman" panose="02020603050405020304" pitchFamily="18" charset="0"/>
              </a:rPr>
              <a:t>CODE</a:t>
            </a:r>
          </a:p>
          <a:p>
            <a:r>
              <a:rPr lang="en-US" sz="3600" b="1" dirty="0">
                <a:latin typeface="Times New Roman" panose="02020603050405020304" pitchFamily="18" charset="0"/>
                <a:cs typeface="Times New Roman" panose="02020603050405020304" pitchFamily="18" charset="0"/>
              </a:rPr>
              <a:t>MODULES</a:t>
            </a:r>
            <a:endParaRPr lang="en-IN" sz="2800" b="1"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2D7B7E93-B3F7-2BF3-EABF-DD930652DEB2}"/>
              </a:ext>
            </a:extLst>
          </p:cNvPr>
          <p:cNvSpPr/>
          <p:nvPr/>
        </p:nvSpPr>
        <p:spPr>
          <a:xfrm>
            <a:off x="10312400" y="111760"/>
            <a:ext cx="1638808" cy="140208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a:extLst>
              <a:ext uri="{FF2B5EF4-FFF2-40B4-BE49-F238E27FC236}">
                <a16:creationId xmlns:a16="http://schemas.microsoft.com/office/drawing/2014/main" id="{2B76A01C-B9A2-4521-A83C-E2E8911201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84752" y="255441"/>
            <a:ext cx="7326376" cy="5970209"/>
          </a:xfrm>
          <a:prstGeom prst="rect">
            <a:avLst/>
          </a:prstGeom>
        </p:spPr>
      </p:pic>
    </p:spTree>
    <p:extLst>
      <p:ext uri="{BB962C8B-B14F-4D97-AF65-F5344CB8AC3E}">
        <p14:creationId xmlns:p14="http://schemas.microsoft.com/office/powerpoint/2010/main" val="6288586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30"/>
          <p:cNvSpPr txBox="1"/>
          <p:nvPr/>
        </p:nvSpPr>
        <p:spPr>
          <a:xfrm>
            <a:off x="4966970" y="0"/>
            <a:ext cx="2258060" cy="646290"/>
          </a:xfrm>
          <a:prstGeom prst="rect">
            <a:avLst/>
          </a:prstGeom>
          <a:noFill/>
          <a:ln>
            <a:noFill/>
          </a:ln>
        </p:spPr>
        <p:txBody>
          <a:bodyPr spcFirstLastPara="1" wrap="square" lIns="91425" tIns="45700" rIns="91425" bIns="45700" anchor="t" anchorCtr="0">
            <a:spAutoFit/>
          </a:bodyPr>
          <a:lstStyle/>
          <a:p>
            <a:pPr>
              <a:buClr>
                <a:schemeClr val="lt2"/>
              </a:buClr>
              <a:buSzPts val="2400"/>
            </a:pPr>
            <a:r>
              <a:rPr lang="en-US" sz="3600" b="1" dirty="0">
                <a:solidFill>
                  <a:schemeClr val="tx1">
                    <a:lumMod val="95000"/>
                    <a:lumOff val="5000"/>
                  </a:schemeClr>
                </a:solidFill>
                <a:effectLst>
                  <a:outerShdw blurRad="38100" dist="38100" dir="2700000" algn="tl">
                    <a:srgbClr val="000000">
                      <a:alpha val="43137"/>
                    </a:srgbClr>
                  </a:outerShdw>
                </a:effectLst>
                <a:latin typeface="Times New Roman" panose="02020603050405020304" pitchFamily="18" charset="0"/>
                <a:ea typeface="Times New Roman"/>
                <a:cs typeface="Times New Roman" panose="02020603050405020304" pitchFamily="18" charset="0"/>
                <a:sym typeface="Times New Roman"/>
              </a:rPr>
              <a:t>TESTING</a:t>
            </a:r>
            <a:endParaRPr sz="3600" b="1" dirty="0">
              <a:solidFill>
                <a:schemeClr val="tx1">
                  <a:lumMod val="95000"/>
                  <a:lumOff val="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37DF4A6D-B7BF-A855-A7D8-685EBD63A689}"/>
              </a:ext>
            </a:extLst>
          </p:cNvPr>
          <p:cNvSpPr>
            <a:spLocks noGrp="1"/>
          </p:cNvSpPr>
          <p:nvPr>
            <p:ph type="ftr" sz="quarter" idx="11"/>
          </p:nvPr>
        </p:nvSpPr>
        <p:spPr>
          <a:xfrm>
            <a:off x="2837750" y="6356428"/>
            <a:ext cx="7084177" cy="365125"/>
          </a:xfrm>
        </p:spPr>
        <p:txBody>
          <a:bodyPr/>
          <a:lstStyle/>
          <a:p>
            <a:r>
              <a:rPr lang="en-US" sz="1100" dirty="0">
                <a:solidFill>
                  <a:schemeClr val="dk1"/>
                </a:solidFill>
                <a:latin typeface="Times New Roman"/>
                <a:ea typeface="Times New Roman"/>
                <a:cs typeface="Times New Roman"/>
                <a:sym typeface="Times New Roman"/>
              </a:rPr>
              <a:t>Chef Guru: A Hybrid RAG and Fine-Tuning Framework for Personalized AI-Powered Recipe Generation</a:t>
            </a:r>
            <a:endParaRPr lang="en-US" sz="1100" dirty="0"/>
          </a:p>
        </p:txBody>
      </p:sp>
      <p:sp>
        <p:nvSpPr>
          <p:cNvPr id="2" name="Slide Number Placeholder 1">
            <a:extLst>
              <a:ext uri="{FF2B5EF4-FFF2-40B4-BE49-F238E27FC236}">
                <a16:creationId xmlns:a16="http://schemas.microsoft.com/office/drawing/2014/main" id="{3E5A532C-92EC-D630-6843-D713B2CB78BF}"/>
              </a:ext>
            </a:extLst>
          </p:cNvPr>
          <p:cNvSpPr>
            <a:spLocks noGrp="1"/>
          </p:cNvSpPr>
          <p:nvPr>
            <p:ph type="sldNum" sz="quarter" idx="12"/>
          </p:nvPr>
        </p:nvSpPr>
        <p:spPr/>
        <p:txBody>
          <a:bodyPr/>
          <a:lstStyle/>
          <a:p>
            <a:fld id="{FC6BEB0F-7D1A-4CFC-9A6C-0E77E068DA9D}" type="slidenum">
              <a:rPr lang="en-US" smtClean="0"/>
              <a:t>30</a:t>
            </a:fld>
            <a:endParaRPr lang="en-US"/>
          </a:p>
        </p:txBody>
      </p:sp>
      <p:graphicFrame>
        <p:nvGraphicFramePr>
          <p:cNvPr id="5" name="Table 4">
            <a:extLst>
              <a:ext uri="{FF2B5EF4-FFF2-40B4-BE49-F238E27FC236}">
                <a16:creationId xmlns:a16="http://schemas.microsoft.com/office/drawing/2014/main" id="{8759D9F5-E26E-9E36-3160-79A24257EDB1}"/>
              </a:ext>
            </a:extLst>
          </p:cNvPr>
          <p:cNvGraphicFramePr>
            <a:graphicFrameLocks noGrp="1"/>
          </p:cNvGraphicFramePr>
          <p:nvPr>
            <p:extLst>
              <p:ext uri="{D42A27DB-BD31-4B8C-83A1-F6EECF244321}">
                <p14:modId xmlns:p14="http://schemas.microsoft.com/office/powerpoint/2010/main" val="2693104201"/>
              </p:ext>
            </p:extLst>
          </p:nvPr>
        </p:nvGraphicFramePr>
        <p:xfrm>
          <a:off x="1084082" y="633808"/>
          <a:ext cx="9841583" cy="5722620"/>
        </p:xfrm>
        <a:graphic>
          <a:graphicData uri="http://schemas.openxmlformats.org/drawingml/2006/table">
            <a:tbl>
              <a:tblPr>
                <a:tableStyleId>{616DA210-FB5B-4158-B5E0-FEB733F419BA}</a:tableStyleId>
              </a:tblPr>
              <a:tblGrid>
                <a:gridCol w="1588085">
                  <a:extLst>
                    <a:ext uri="{9D8B030D-6E8A-4147-A177-3AD203B41FA5}">
                      <a16:colId xmlns:a16="http://schemas.microsoft.com/office/drawing/2014/main" val="328299378"/>
                    </a:ext>
                  </a:extLst>
                </a:gridCol>
                <a:gridCol w="2514012">
                  <a:extLst>
                    <a:ext uri="{9D8B030D-6E8A-4147-A177-3AD203B41FA5}">
                      <a16:colId xmlns:a16="http://schemas.microsoft.com/office/drawing/2014/main" val="2124909731"/>
                    </a:ext>
                  </a:extLst>
                </a:gridCol>
                <a:gridCol w="2100740">
                  <a:extLst>
                    <a:ext uri="{9D8B030D-6E8A-4147-A177-3AD203B41FA5}">
                      <a16:colId xmlns:a16="http://schemas.microsoft.com/office/drawing/2014/main" val="2096985227"/>
                    </a:ext>
                  </a:extLst>
                </a:gridCol>
                <a:gridCol w="2422015">
                  <a:extLst>
                    <a:ext uri="{9D8B030D-6E8A-4147-A177-3AD203B41FA5}">
                      <a16:colId xmlns:a16="http://schemas.microsoft.com/office/drawing/2014/main" val="1787749162"/>
                    </a:ext>
                  </a:extLst>
                </a:gridCol>
                <a:gridCol w="1216731">
                  <a:extLst>
                    <a:ext uri="{9D8B030D-6E8A-4147-A177-3AD203B41FA5}">
                      <a16:colId xmlns:a16="http://schemas.microsoft.com/office/drawing/2014/main" val="2380983928"/>
                    </a:ext>
                  </a:extLst>
                </a:gridCol>
              </a:tblGrid>
              <a:tr h="479425">
                <a:tc>
                  <a:txBody>
                    <a:bodyPr/>
                    <a:lstStyle/>
                    <a:p>
                      <a:pPr>
                        <a:buNone/>
                      </a:pPr>
                      <a:r>
                        <a:rPr lang="en-IN" sz="1600" b="1">
                          <a:latin typeface="Times New Roman" panose="02020603050405020304" pitchFamily="18" charset="0"/>
                          <a:cs typeface="Times New Roman" panose="02020603050405020304" pitchFamily="18" charset="0"/>
                        </a:rPr>
                        <a:t>Test Case ID</a:t>
                      </a:r>
                    </a:p>
                  </a:txBody>
                  <a:tcPr marL="29198" marR="29198" marT="14599" marB="14599" anchor="ctr"/>
                </a:tc>
                <a:tc>
                  <a:txBody>
                    <a:bodyPr/>
                    <a:lstStyle/>
                    <a:p>
                      <a:pPr>
                        <a:buNone/>
                      </a:pPr>
                      <a:r>
                        <a:rPr lang="en-IN" sz="1600" b="1">
                          <a:latin typeface="Times New Roman" panose="02020603050405020304" pitchFamily="18" charset="0"/>
                          <a:cs typeface="Times New Roman" panose="02020603050405020304" pitchFamily="18" charset="0"/>
                        </a:rPr>
                        <a:t>Description</a:t>
                      </a:r>
                    </a:p>
                  </a:txBody>
                  <a:tcPr marL="29198" marR="29198" marT="14599" marB="14599" anchor="ctr"/>
                </a:tc>
                <a:tc>
                  <a:txBody>
                    <a:bodyPr/>
                    <a:lstStyle/>
                    <a:p>
                      <a:pPr>
                        <a:buNone/>
                      </a:pPr>
                      <a:r>
                        <a:rPr lang="en-IN" sz="1600" b="1">
                          <a:latin typeface="Times New Roman" panose="02020603050405020304" pitchFamily="18" charset="0"/>
                          <a:cs typeface="Times New Roman" panose="02020603050405020304" pitchFamily="18" charset="0"/>
                        </a:rPr>
                        <a:t>Input</a:t>
                      </a:r>
                    </a:p>
                  </a:txBody>
                  <a:tcPr marL="29198" marR="29198" marT="14599" marB="14599" anchor="ctr"/>
                </a:tc>
                <a:tc>
                  <a:txBody>
                    <a:bodyPr/>
                    <a:lstStyle/>
                    <a:p>
                      <a:pPr>
                        <a:buNone/>
                      </a:pPr>
                      <a:r>
                        <a:rPr lang="en-IN" sz="1600" b="1">
                          <a:latin typeface="Times New Roman" panose="02020603050405020304" pitchFamily="18" charset="0"/>
                          <a:cs typeface="Times New Roman" panose="02020603050405020304" pitchFamily="18" charset="0"/>
                        </a:rPr>
                        <a:t>Expected Output</a:t>
                      </a:r>
                    </a:p>
                  </a:txBody>
                  <a:tcPr marL="29198" marR="29198" marT="14599" marB="14599" anchor="ctr"/>
                </a:tc>
                <a:tc>
                  <a:txBody>
                    <a:bodyPr/>
                    <a:lstStyle/>
                    <a:p>
                      <a:pPr>
                        <a:buNone/>
                      </a:pPr>
                      <a:r>
                        <a:rPr lang="en-IN" sz="1600" b="1">
                          <a:latin typeface="Times New Roman" panose="02020603050405020304" pitchFamily="18" charset="0"/>
                          <a:cs typeface="Times New Roman" panose="02020603050405020304" pitchFamily="18" charset="0"/>
                        </a:rPr>
                        <a:t>Result</a:t>
                      </a:r>
                    </a:p>
                  </a:txBody>
                  <a:tcPr marL="29198" marR="29198" marT="14599" marB="14599" anchor="ctr"/>
                </a:tc>
                <a:extLst>
                  <a:ext uri="{0D108BD9-81ED-4DB2-BD59-A6C34878D82A}">
                    <a16:rowId xmlns:a16="http://schemas.microsoft.com/office/drawing/2014/main" val="3902251748"/>
                  </a:ext>
                </a:extLst>
              </a:tr>
              <a:tr h="479425">
                <a:tc>
                  <a:txBody>
                    <a:bodyPr/>
                    <a:lstStyle/>
                    <a:p>
                      <a:pPr rtl="0" fontAlgn="t">
                        <a:spcBef>
                          <a:spcPts val="0"/>
                        </a:spcBef>
                        <a:spcAft>
                          <a:spcPts val="0"/>
                        </a:spcAft>
                      </a:pPr>
                      <a:r>
                        <a:rPr lang="en-US" sz="1600" b="0" i="0" u="none" strike="noStrike" dirty="0">
                          <a:solidFill>
                            <a:srgbClr val="000000"/>
                          </a:solidFill>
                          <a:effectLst/>
                          <a:latin typeface="Times New Roman" panose="02020603050405020304" pitchFamily="18" charset="0"/>
                        </a:rPr>
                        <a:t>TC - 01</a:t>
                      </a:r>
                      <a:endParaRPr lang="en-US" sz="1600" dirty="0">
                        <a:effectLst/>
                      </a:endParaRPr>
                    </a:p>
                  </a:txBody>
                  <a:tcPr marL="63500" marR="63500" marT="63500" marB="63500"/>
                </a:tc>
                <a:tc>
                  <a:txBody>
                    <a:bodyPr/>
                    <a:lstStyle/>
                    <a:p>
                      <a:pPr rtl="0" fontAlgn="t">
                        <a:spcBef>
                          <a:spcPts val="0"/>
                        </a:spcBef>
                        <a:spcAft>
                          <a:spcPts val="0"/>
                        </a:spcAft>
                      </a:pPr>
                      <a:r>
                        <a:rPr lang="en-US" sz="1600" b="0" i="0" u="none" strike="noStrike" dirty="0">
                          <a:solidFill>
                            <a:srgbClr val="000000"/>
                          </a:solidFill>
                          <a:effectLst/>
                          <a:latin typeface="Times New Roman" panose="02020603050405020304" pitchFamily="18" charset="0"/>
                        </a:rPr>
                        <a:t>Valid Ingredients</a:t>
                      </a:r>
                      <a:endParaRPr lang="en-US" sz="1600" dirty="0">
                        <a:effectLst/>
                      </a:endParaRPr>
                    </a:p>
                  </a:txBody>
                  <a:tcPr marL="63500" marR="63500" marT="63500" marB="63500"/>
                </a:tc>
                <a:tc>
                  <a:txBody>
                    <a:bodyPr/>
                    <a:lstStyle/>
                    <a:p>
                      <a:pPr rtl="0" fontAlgn="t">
                        <a:spcBef>
                          <a:spcPts val="0"/>
                        </a:spcBef>
                        <a:spcAft>
                          <a:spcPts val="0"/>
                        </a:spcAft>
                      </a:pPr>
                      <a:r>
                        <a:rPr lang="en-US" sz="1600" b="0" i="0" u="none" strike="noStrike" dirty="0">
                          <a:solidFill>
                            <a:srgbClr val="000000"/>
                          </a:solidFill>
                          <a:effectLst/>
                          <a:latin typeface="Times New Roman" panose="02020603050405020304" pitchFamily="18" charset="0"/>
                        </a:rPr>
                        <a:t>['eggs', 'cheese', 'spinach']</a:t>
                      </a:r>
                      <a:endParaRPr lang="en-US" sz="1600" dirty="0">
                        <a:effectLst/>
                      </a:endParaRPr>
                    </a:p>
                  </a:txBody>
                  <a:tcPr marL="63500" marR="63500" marT="63500" marB="63500"/>
                </a:tc>
                <a:tc>
                  <a:txBody>
                    <a:bodyPr/>
                    <a:lstStyle/>
                    <a:p>
                      <a:pPr rtl="0" fontAlgn="t">
                        <a:spcBef>
                          <a:spcPts val="0"/>
                        </a:spcBef>
                        <a:spcAft>
                          <a:spcPts val="0"/>
                        </a:spcAft>
                      </a:pPr>
                      <a:r>
                        <a:rPr lang="en-US" sz="1600" b="0" i="0" u="none" strike="noStrike" dirty="0">
                          <a:solidFill>
                            <a:srgbClr val="000000"/>
                          </a:solidFill>
                          <a:effectLst/>
                          <a:latin typeface="Times New Roman" panose="02020603050405020304" pitchFamily="18" charset="0"/>
                        </a:rPr>
                        <a:t>Complete recipe with title, ingredients, and steps.</a:t>
                      </a:r>
                      <a:endParaRPr lang="en-US" sz="1600" dirty="0">
                        <a:effectLst/>
                      </a:endParaRPr>
                    </a:p>
                  </a:txBody>
                  <a:tcPr marL="63500" marR="63500" marT="63500" marB="63500"/>
                </a:tc>
                <a:tc>
                  <a:txBody>
                    <a:bodyPr/>
                    <a:lstStyle/>
                    <a:p>
                      <a:pPr rtl="0" fontAlgn="t">
                        <a:spcBef>
                          <a:spcPts val="0"/>
                        </a:spcBef>
                        <a:spcAft>
                          <a:spcPts val="0"/>
                        </a:spcAft>
                      </a:pPr>
                      <a:r>
                        <a:rPr lang="en-US" sz="1600" b="0" i="0" u="none" strike="noStrike" dirty="0">
                          <a:solidFill>
                            <a:srgbClr val="000000"/>
                          </a:solidFill>
                          <a:effectLst/>
                          <a:latin typeface="Times New Roman" panose="02020603050405020304" pitchFamily="18" charset="0"/>
                        </a:rPr>
                        <a:t>Pass</a:t>
                      </a:r>
                      <a:endParaRPr lang="en-US" sz="1600" dirty="0">
                        <a:effectLst/>
                      </a:endParaRPr>
                    </a:p>
                  </a:txBody>
                  <a:tcPr marL="63500" marR="63500" marT="63500" marB="63500"/>
                </a:tc>
                <a:extLst>
                  <a:ext uri="{0D108BD9-81ED-4DB2-BD59-A6C34878D82A}">
                    <a16:rowId xmlns:a16="http://schemas.microsoft.com/office/drawing/2014/main" val="2607407574"/>
                  </a:ext>
                </a:extLst>
              </a:tr>
              <a:tr h="479425">
                <a:tc>
                  <a:txBody>
                    <a:bodyPr/>
                    <a:lstStyle/>
                    <a:p>
                      <a:pPr rtl="0" fontAlgn="t">
                        <a:spcBef>
                          <a:spcPts val="0"/>
                        </a:spcBef>
                        <a:spcAft>
                          <a:spcPts val="0"/>
                        </a:spcAft>
                      </a:pPr>
                      <a:r>
                        <a:rPr lang="en-US" sz="1600" b="0" i="0" u="none" strike="noStrike">
                          <a:solidFill>
                            <a:srgbClr val="000000"/>
                          </a:solidFill>
                          <a:effectLst/>
                          <a:latin typeface="Times New Roman" panose="02020603050405020304" pitchFamily="18" charset="0"/>
                        </a:rPr>
                        <a:t>TC - 02</a:t>
                      </a:r>
                      <a:endParaRPr lang="en-US" sz="1600">
                        <a:effectLst/>
                      </a:endParaRPr>
                    </a:p>
                  </a:txBody>
                  <a:tcPr marL="63500" marR="63500" marT="63500" marB="63500"/>
                </a:tc>
                <a:tc>
                  <a:txBody>
                    <a:bodyPr/>
                    <a:lstStyle/>
                    <a:p>
                      <a:pPr rtl="0" fontAlgn="t">
                        <a:spcBef>
                          <a:spcPts val="0"/>
                        </a:spcBef>
                        <a:spcAft>
                          <a:spcPts val="0"/>
                        </a:spcAft>
                      </a:pPr>
                      <a:r>
                        <a:rPr lang="en-US" sz="1600" b="0" i="0" u="none" strike="noStrike">
                          <a:solidFill>
                            <a:srgbClr val="000000"/>
                          </a:solidFill>
                          <a:effectLst/>
                          <a:latin typeface="Times New Roman" panose="02020603050405020304" pitchFamily="18" charset="0"/>
                        </a:rPr>
                        <a:t>Empty ingredient input</a:t>
                      </a:r>
                      <a:endParaRPr lang="en-US" sz="1600">
                        <a:effectLst/>
                      </a:endParaRPr>
                    </a:p>
                  </a:txBody>
                  <a:tcPr marL="63500" marR="63500" marT="63500" marB="63500"/>
                </a:tc>
                <a:tc>
                  <a:txBody>
                    <a:bodyPr/>
                    <a:lstStyle/>
                    <a:p>
                      <a:pPr rtl="0" fontAlgn="t">
                        <a:spcBef>
                          <a:spcPts val="0"/>
                        </a:spcBef>
                        <a:spcAft>
                          <a:spcPts val="0"/>
                        </a:spcAft>
                      </a:pPr>
                      <a:r>
                        <a:rPr lang="en-US" sz="1600" b="0" i="0" u="none" strike="noStrike">
                          <a:solidFill>
                            <a:srgbClr val="000000"/>
                          </a:solidFill>
                          <a:effectLst/>
                          <a:latin typeface="Times New Roman" panose="02020603050405020304" pitchFamily="18" charset="0"/>
                        </a:rPr>
                        <a:t>Blank Field</a:t>
                      </a:r>
                      <a:endParaRPr lang="en-US" sz="1600">
                        <a:effectLst/>
                      </a:endParaRPr>
                    </a:p>
                  </a:txBody>
                  <a:tcPr marL="63500" marR="63500" marT="63500" marB="63500"/>
                </a:tc>
                <a:tc>
                  <a:txBody>
                    <a:bodyPr/>
                    <a:lstStyle/>
                    <a:p>
                      <a:pPr rtl="0" fontAlgn="t">
                        <a:spcBef>
                          <a:spcPts val="0"/>
                        </a:spcBef>
                        <a:spcAft>
                          <a:spcPts val="0"/>
                        </a:spcAft>
                      </a:pPr>
                      <a:r>
                        <a:rPr lang="en-US" sz="1600" b="0" i="0" u="none" strike="noStrike">
                          <a:solidFill>
                            <a:srgbClr val="000000"/>
                          </a:solidFill>
                          <a:effectLst/>
                          <a:latin typeface="Times New Roman" panose="02020603050405020304" pitchFamily="18" charset="0"/>
                        </a:rPr>
                        <a:t>Validation error</a:t>
                      </a:r>
                      <a:endParaRPr lang="en-US" sz="1600">
                        <a:effectLst/>
                      </a:endParaRPr>
                    </a:p>
                  </a:txBody>
                  <a:tcPr marL="63500" marR="63500" marT="63500" marB="63500"/>
                </a:tc>
                <a:tc>
                  <a:txBody>
                    <a:bodyPr/>
                    <a:lstStyle/>
                    <a:p>
                      <a:pPr rtl="0" fontAlgn="t">
                        <a:spcBef>
                          <a:spcPts val="0"/>
                        </a:spcBef>
                        <a:spcAft>
                          <a:spcPts val="0"/>
                        </a:spcAft>
                      </a:pPr>
                      <a:r>
                        <a:rPr lang="en-US" sz="1600" b="0" i="0" u="none" strike="noStrike" dirty="0">
                          <a:solidFill>
                            <a:srgbClr val="000000"/>
                          </a:solidFill>
                          <a:effectLst/>
                          <a:latin typeface="Times New Roman" panose="02020603050405020304" pitchFamily="18" charset="0"/>
                        </a:rPr>
                        <a:t>Pass</a:t>
                      </a:r>
                      <a:endParaRPr lang="en-US" sz="1600" dirty="0">
                        <a:effectLst/>
                      </a:endParaRPr>
                    </a:p>
                  </a:txBody>
                  <a:tcPr marL="63500" marR="63500" marT="63500" marB="63500"/>
                </a:tc>
                <a:extLst>
                  <a:ext uri="{0D108BD9-81ED-4DB2-BD59-A6C34878D82A}">
                    <a16:rowId xmlns:a16="http://schemas.microsoft.com/office/drawing/2014/main" val="2324630581"/>
                  </a:ext>
                </a:extLst>
              </a:tr>
              <a:tr h="705596">
                <a:tc>
                  <a:txBody>
                    <a:bodyPr/>
                    <a:lstStyle/>
                    <a:p>
                      <a:pPr rtl="0" fontAlgn="t">
                        <a:spcBef>
                          <a:spcPts val="0"/>
                        </a:spcBef>
                        <a:spcAft>
                          <a:spcPts val="0"/>
                        </a:spcAft>
                      </a:pPr>
                      <a:r>
                        <a:rPr lang="en-US" sz="1600" b="0" i="0" u="none" strike="noStrike">
                          <a:solidFill>
                            <a:srgbClr val="000000"/>
                          </a:solidFill>
                          <a:effectLst/>
                          <a:latin typeface="Times New Roman" panose="02020603050405020304" pitchFamily="18" charset="0"/>
                        </a:rPr>
                        <a:t>TC - 03</a:t>
                      </a:r>
                      <a:endParaRPr lang="en-US" sz="1600">
                        <a:effectLst/>
                      </a:endParaRPr>
                    </a:p>
                  </a:txBody>
                  <a:tcPr marL="63500" marR="63500" marT="63500" marB="63500"/>
                </a:tc>
                <a:tc>
                  <a:txBody>
                    <a:bodyPr/>
                    <a:lstStyle/>
                    <a:p>
                      <a:pPr rtl="0" fontAlgn="t">
                        <a:spcBef>
                          <a:spcPts val="0"/>
                        </a:spcBef>
                        <a:spcAft>
                          <a:spcPts val="0"/>
                        </a:spcAft>
                      </a:pPr>
                      <a:r>
                        <a:rPr lang="en-US" sz="1600" b="0" i="0" u="none" strike="noStrike" dirty="0">
                          <a:solidFill>
                            <a:srgbClr val="000000"/>
                          </a:solidFill>
                          <a:effectLst/>
                          <a:latin typeface="Times New Roman" panose="02020603050405020304" pitchFamily="18" charset="0"/>
                        </a:rPr>
                        <a:t>User registration</a:t>
                      </a:r>
                      <a:endParaRPr lang="en-US" sz="1600" dirty="0">
                        <a:effectLst/>
                      </a:endParaRPr>
                    </a:p>
                  </a:txBody>
                  <a:tcPr marL="63500" marR="63500" marT="63500" marB="63500"/>
                </a:tc>
                <a:tc>
                  <a:txBody>
                    <a:bodyPr/>
                    <a:lstStyle/>
                    <a:p>
                      <a:pPr rtl="0" fontAlgn="t">
                        <a:spcBef>
                          <a:spcPts val="0"/>
                        </a:spcBef>
                        <a:spcAft>
                          <a:spcPts val="0"/>
                        </a:spcAft>
                      </a:pPr>
                      <a:r>
                        <a:rPr lang="en-US" sz="1600" b="0" i="0" u="none" strike="noStrike">
                          <a:solidFill>
                            <a:srgbClr val="000000"/>
                          </a:solidFill>
                          <a:effectLst/>
                          <a:latin typeface="Times New Roman" panose="02020603050405020304" pitchFamily="18" charset="0"/>
                        </a:rPr>
                        <a:t>Valid username, email, password</a:t>
                      </a:r>
                      <a:endParaRPr lang="en-US" sz="1600">
                        <a:effectLst/>
                      </a:endParaRPr>
                    </a:p>
                  </a:txBody>
                  <a:tcPr marL="63500" marR="63500" marT="63500" marB="63500"/>
                </a:tc>
                <a:tc>
                  <a:txBody>
                    <a:bodyPr/>
                    <a:lstStyle/>
                    <a:p>
                      <a:pPr rtl="0" fontAlgn="t">
                        <a:spcBef>
                          <a:spcPts val="0"/>
                        </a:spcBef>
                        <a:spcAft>
                          <a:spcPts val="0"/>
                        </a:spcAft>
                      </a:pPr>
                      <a:r>
                        <a:rPr lang="en-US" sz="1600" b="0" i="0" u="none" strike="noStrike">
                          <a:solidFill>
                            <a:srgbClr val="000000"/>
                          </a:solidFill>
                          <a:effectLst/>
                          <a:latin typeface="Times New Roman" panose="02020603050405020304" pitchFamily="18" charset="0"/>
                        </a:rPr>
                        <a:t>Account is created and a success response is returned.</a:t>
                      </a:r>
                      <a:endParaRPr lang="en-US" sz="1600">
                        <a:effectLst/>
                      </a:endParaRPr>
                    </a:p>
                  </a:txBody>
                  <a:tcPr marL="63500" marR="63500" marT="63500" marB="63500"/>
                </a:tc>
                <a:tc>
                  <a:txBody>
                    <a:bodyPr/>
                    <a:lstStyle/>
                    <a:p>
                      <a:pPr rtl="0" fontAlgn="t">
                        <a:spcBef>
                          <a:spcPts val="0"/>
                        </a:spcBef>
                        <a:spcAft>
                          <a:spcPts val="0"/>
                        </a:spcAft>
                      </a:pPr>
                      <a:r>
                        <a:rPr lang="en-US" sz="1600" b="0" i="0" u="none" strike="noStrike" dirty="0">
                          <a:solidFill>
                            <a:srgbClr val="000000"/>
                          </a:solidFill>
                          <a:effectLst/>
                          <a:latin typeface="Times New Roman" panose="02020603050405020304" pitchFamily="18" charset="0"/>
                        </a:rPr>
                        <a:t>Pass</a:t>
                      </a:r>
                      <a:endParaRPr lang="en-US" sz="1600" dirty="0">
                        <a:effectLst/>
                      </a:endParaRPr>
                    </a:p>
                  </a:txBody>
                  <a:tcPr marL="63500" marR="63500" marT="63500" marB="63500"/>
                </a:tc>
                <a:extLst>
                  <a:ext uri="{0D108BD9-81ED-4DB2-BD59-A6C34878D82A}">
                    <a16:rowId xmlns:a16="http://schemas.microsoft.com/office/drawing/2014/main" val="4040943117"/>
                  </a:ext>
                </a:extLst>
              </a:tr>
              <a:tr h="479425">
                <a:tc>
                  <a:txBody>
                    <a:bodyPr/>
                    <a:lstStyle/>
                    <a:p>
                      <a:pPr rtl="0" fontAlgn="t">
                        <a:spcBef>
                          <a:spcPts val="0"/>
                        </a:spcBef>
                        <a:spcAft>
                          <a:spcPts val="0"/>
                        </a:spcAft>
                      </a:pPr>
                      <a:r>
                        <a:rPr lang="en-US" sz="1600" b="0" i="0" u="none" strike="noStrike">
                          <a:solidFill>
                            <a:srgbClr val="000000"/>
                          </a:solidFill>
                          <a:effectLst/>
                          <a:latin typeface="Times New Roman" panose="02020603050405020304" pitchFamily="18" charset="0"/>
                        </a:rPr>
                        <a:t>TC - 04</a:t>
                      </a:r>
                      <a:endParaRPr lang="en-US" sz="1600">
                        <a:effectLst/>
                      </a:endParaRPr>
                    </a:p>
                  </a:txBody>
                  <a:tcPr marL="63500" marR="63500" marT="63500" marB="63500"/>
                </a:tc>
                <a:tc>
                  <a:txBody>
                    <a:bodyPr/>
                    <a:lstStyle/>
                    <a:p>
                      <a:pPr rtl="0" fontAlgn="t">
                        <a:spcBef>
                          <a:spcPts val="0"/>
                        </a:spcBef>
                        <a:spcAft>
                          <a:spcPts val="0"/>
                        </a:spcAft>
                      </a:pPr>
                      <a:r>
                        <a:rPr lang="en-US" sz="1600" b="0" i="0" u="none" strike="noStrike">
                          <a:solidFill>
                            <a:srgbClr val="000000"/>
                          </a:solidFill>
                          <a:effectLst/>
                          <a:latin typeface="Times New Roman" panose="02020603050405020304" pitchFamily="18" charset="0"/>
                        </a:rPr>
                        <a:t>User login</a:t>
                      </a:r>
                      <a:endParaRPr lang="en-US" sz="1600">
                        <a:effectLst/>
                      </a:endParaRPr>
                    </a:p>
                  </a:txBody>
                  <a:tcPr marL="63500" marR="63500" marT="63500" marB="63500"/>
                </a:tc>
                <a:tc>
                  <a:txBody>
                    <a:bodyPr/>
                    <a:lstStyle/>
                    <a:p>
                      <a:pPr rtl="0" fontAlgn="t">
                        <a:spcBef>
                          <a:spcPts val="0"/>
                        </a:spcBef>
                        <a:spcAft>
                          <a:spcPts val="0"/>
                        </a:spcAft>
                      </a:pPr>
                      <a:r>
                        <a:rPr lang="en-US" sz="1600" b="0" i="0" u="none" strike="noStrike">
                          <a:solidFill>
                            <a:srgbClr val="000000"/>
                          </a:solidFill>
                          <a:effectLst/>
                          <a:latin typeface="Times New Roman" panose="02020603050405020304" pitchFamily="18" charset="0"/>
                        </a:rPr>
                        <a:t>Valid credentials</a:t>
                      </a:r>
                      <a:endParaRPr lang="en-US" sz="1600">
                        <a:effectLst/>
                      </a:endParaRPr>
                    </a:p>
                  </a:txBody>
                  <a:tcPr marL="63500" marR="63500" marT="63500" marB="63500"/>
                </a:tc>
                <a:tc>
                  <a:txBody>
                    <a:bodyPr/>
                    <a:lstStyle/>
                    <a:p>
                      <a:pPr rtl="0" fontAlgn="t">
                        <a:spcBef>
                          <a:spcPts val="0"/>
                        </a:spcBef>
                        <a:spcAft>
                          <a:spcPts val="0"/>
                        </a:spcAft>
                      </a:pPr>
                      <a:r>
                        <a:rPr lang="en-US" sz="1600" b="0" i="0" u="none" strike="noStrike">
                          <a:solidFill>
                            <a:srgbClr val="000000"/>
                          </a:solidFill>
                          <a:effectLst/>
                          <a:latin typeface="Times New Roman" panose="02020603050405020304" pitchFamily="18" charset="0"/>
                        </a:rPr>
                        <a:t>JWT token is returned</a:t>
                      </a:r>
                      <a:endParaRPr lang="en-US" sz="1600">
                        <a:effectLst/>
                      </a:endParaRPr>
                    </a:p>
                  </a:txBody>
                  <a:tcPr marL="63500" marR="63500" marT="63500" marB="63500"/>
                </a:tc>
                <a:tc>
                  <a:txBody>
                    <a:bodyPr/>
                    <a:lstStyle/>
                    <a:p>
                      <a:pPr rtl="0" fontAlgn="t">
                        <a:spcBef>
                          <a:spcPts val="0"/>
                        </a:spcBef>
                        <a:spcAft>
                          <a:spcPts val="0"/>
                        </a:spcAft>
                      </a:pPr>
                      <a:r>
                        <a:rPr lang="en-US" sz="1600" b="0" i="0" u="none" strike="noStrike" dirty="0">
                          <a:solidFill>
                            <a:srgbClr val="000000"/>
                          </a:solidFill>
                          <a:effectLst/>
                          <a:latin typeface="Times New Roman" panose="02020603050405020304" pitchFamily="18" charset="0"/>
                        </a:rPr>
                        <a:t>Pass</a:t>
                      </a:r>
                      <a:endParaRPr lang="en-US" sz="1600" dirty="0">
                        <a:effectLst/>
                      </a:endParaRPr>
                    </a:p>
                  </a:txBody>
                  <a:tcPr marL="63500" marR="63500" marT="63500" marB="63500"/>
                </a:tc>
                <a:extLst>
                  <a:ext uri="{0D108BD9-81ED-4DB2-BD59-A6C34878D82A}">
                    <a16:rowId xmlns:a16="http://schemas.microsoft.com/office/drawing/2014/main" val="2597041488"/>
                  </a:ext>
                </a:extLst>
              </a:tr>
              <a:tr h="479425">
                <a:tc>
                  <a:txBody>
                    <a:bodyPr/>
                    <a:lstStyle/>
                    <a:p>
                      <a:pPr rtl="0" fontAlgn="t">
                        <a:spcBef>
                          <a:spcPts val="0"/>
                        </a:spcBef>
                        <a:spcAft>
                          <a:spcPts val="0"/>
                        </a:spcAft>
                      </a:pPr>
                      <a:r>
                        <a:rPr lang="en-US" sz="1600" b="0" i="0" u="none" strike="noStrike">
                          <a:solidFill>
                            <a:srgbClr val="000000"/>
                          </a:solidFill>
                          <a:effectLst/>
                          <a:latin typeface="Times New Roman" panose="02020603050405020304" pitchFamily="18" charset="0"/>
                        </a:rPr>
                        <a:t>TC - 05</a:t>
                      </a:r>
                      <a:endParaRPr lang="en-US" sz="1600">
                        <a:effectLst/>
                      </a:endParaRPr>
                    </a:p>
                  </a:txBody>
                  <a:tcPr marL="63500" marR="63500" marT="63500" marB="63500"/>
                </a:tc>
                <a:tc>
                  <a:txBody>
                    <a:bodyPr/>
                    <a:lstStyle/>
                    <a:p>
                      <a:pPr rtl="0" fontAlgn="t">
                        <a:spcBef>
                          <a:spcPts val="0"/>
                        </a:spcBef>
                        <a:spcAft>
                          <a:spcPts val="0"/>
                        </a:spcAft>
                      </a:pPr>
                      <a:r>
                        <a:rPr lang="en-US" sz="1600" b="0" i="0" u="none" strike="noStrike">
                          <a:solidFill>
                            <a:srgbClr val="000000"/>
                          </a:solidFill>
                          <a:effectLst/>
                          <a:latin typeface="Times New Roman" panose="02020603050405020304" pitchFamily="18" charset="0"/>
                        </a:rPr>
                        <a:t>Invalid login</a:t>
                      </a:r>
                      <a:endParaRPr lang="en-US" sz="1600">
                        <a:effectLst/>
                      </a:endParaRPr>
                    </a:p>
                  </a:txBody>
                  <a:tcPr marL="63500" marR="63500" marT="63500" marB="63500"/>
                </a:tc>
                <a:tc>
                  <a:txBody>
                    <a:bodyPr/>
                    <a:lstStyle/>
                    <a:p>
                      <a:pPr rtl="0" fontAlgn="t">
                        <a:spcBef>
                          <a:spcPts val="0"/>
                        </a:spcBef>
                        <a:spcAft>
                          <a:spcPts val="0"/>
                        </a:spcAft>
                      </a:pPr>
                      <a:r>
                        <a:rPr lang="en-US" sz="1600" b="0" i="0" u="none" strike="noStrike">
                          <a:solidFill>
                            <a:srgbClr val="000000"/>
                          </a:solidFill>
                          <a:effectLst/>
                          <a:latin typeface="Times New Roman" panose="02020603050405020304" pitchFamily="18" charset="0"/>
                        </a:rPr>
                        <a:t>Incorrect password</a:t>
                      </a:r>
                      <a:endParaRPr lang="en-US" sz="1600">
                        <a:effectLst/>
                      </a:endParaRPr>
                    </a:p>
                  </a:txBody>
                  <a:tcPr marL="63500" marR="63500" marT="63500" marB="63500"/>
                </a:tc>
                <a:tc>
                  <a:txBody>
                    <a:bodyPr/>
                    <a:lstStyle/>
                    <a:p>
                      <a:pPr rtl="0" fontAlgn="t">
                        <a:spcBef>
                          <a:spcPts val="0"/>
                        </a:spcBef>
                        <a:spcAft>
                          <a:spcPts val="0"/>
                        </a:spcAft>
                      </a:pPr>
                      <a:r>
                        <a:rPr lang="en-US" sz="1600" b="0" i="0" u="none" strike="noStrike">
                          <a:solidFill>
                            <a:srgbClr val="000000"/>
                          </a:solidFill>
                          <a:effectLst/>
                          <a:latin typeface="Times New Roman" panose="02020603050405020304" pitchFamily="18" charset="0"/>
                        </a:rPr>
                        <a:t>Error message</a:t>
                      </a:r>
                      <a:endParaRPr lang="en-US" sz="1600">
                        <a:effectLst/>
                      </a:endParaRPr>
                    </a:p>
                  </a:txBody>
                  <a:tcPr marL="63500" marR="63500" marT="63500" marB="63500"/>
                </a:tc>
                <a:tc>
                  <a:txBody>
                    <a:bodyPr/>
                    <a:lstStyle/>
                    <a:p>
                      <a:pPr rtl="0" fontAlgn="t">
                        <a:spcBef>
                          <a:spcPts val="0"/>
                        </a:spcBef>
                        <a:spcAft>
                          <a:spcPts val="0"/>
                        </a:spcAft>
                      </a:pPr>
                      <a:r>
                        <a:rPr lang="en-US" sz="1600" b="0" i="0" u="none" strike="noStrike" dirty="0">
                          <a:solidFill>
                            <a:srgbClr val="000000"/>
                          </a:solidFill>
                          <a:effectLst/>
                          <a:latin typeface="Times New Roman" panose="02020603050405020304" pitchFamily="18" charset="0"/>
                        </a:rPr>
                        <a:t>Pass</a:t>
                      </a:r>
                      <a:endParaRPr lang="en-US" sz="1600" dirty="0">
                        <a:effectLst/>
                      </a:endParaRPr>
                    </a:p>
                  </a:txBody>
                  <a:tcPr marL="63500" marR="63500" marT="63500" marB="63500"/>
                </a:tc>
                <a:extLst>
                  <a:ext uri="{0D108BD9-81ED-4DB2-BD59-A6C34878D82A}">
                    <a16:rowId xmlns:a16="http://schemas.microsoft.com/office/drawing/2014/main" val="2785644466"/>
                  </a:ext>
                </a:extLst>
              </a:tr>
              <a:tr h="0">
                <a:tc>
                  <a:txBody>
                    <a:bodyPr/>
                    <a:lstStyle/>
                    <a:p>
                      <a:pPr rtl="0" fontAlgn="t">
                        <a:spcBef>
                          <a:spcPts val="0"/>
                        </a:spcBef>
                        <a:spcAft>
                          <a:spcPts val="0"/>
                        </a:spcAft>
                      </a:pPr>
                      <a:r>
                        <a:rPr lang="en-US" sz="1600" b="0" i="0" u="none" strike="noStrike" dirty="0">
                          <a:solidFill>
                            <a:srgbClr val="000000"/>
                          </a:solidFill>
                          <a:effectLst/>
                          <a:latin typeface="Times New Roman" panose="02020603050405020304" pitchFamily="18" charset="0"/>
                        </a:rPr>
                        <a:t>TC - 06</a:t>
                      </a:r>
                      <a:endParaRPr lang="en-US" sz="1600" dirty="0">
                        <a:effectLst/>
                      </a:endParaRPr>
                    </a:p>
                  </a:txBody>
                  <a:tcPr marL="63500" marR="63500" marT="63500" marB="63500"/>
                </a:tc>
                <a:tc>
                  <a:txBody>
                    <a:bodyPr/>
                    <a:lstStyle/>
                    <a:p>
                      <a:pPr rtl="0" fontAlgn="t">
                        <a:spcBef>
                          <a:spcPts val="0"/>
                        </a:spcBef>
                        <a:spcAft>
                          <a:spcPts val="0"/>
                        </a:spcAft>
                      </a:pPr>
                      <a:r>
                        <a:rPr lang="en-US" sz="1600" b="0" i="0" u="none" strike="noStrike" dirty="0">
                          <a:solidFill>
                            <a:srgbClr val="000000"/>
                          </a:solidFill>
                          <a:effectLst/>
                          <a:latin typeface="Times New Roman" panose="02020603050405020304" pitchFamily="18" charset="0"/>
                        </a:rPr>
                        <a:t>Recipe history storage</a:t>
                      </a:r>
                      <a:endParaRPr lang="en-US" sz="1600" dirty="0">
                        <a:effectLst/>
                      </a:endParaRPr>
                    </a:p>
                  </a:txBody>
                  <a:tcPr marL="63500" marR="63500" marT="63500" marB="63500"/>
                </a:tc>
                <a:tc>
                  <a:txBody>
                    <a:bodyPr/>
                    <a:lstStyle/>
                    <a:p>
                      <a:pPr rtl="0" fontAlgn="t">
                        <a:spcBef>
                          <a:spcPts val="0"/>
                        </a:spcBef>
                        <a:spcAft>
                          <a:spcPts val="0"/>
                        </a:spcAft>
                      </a:pPr>
                      <a:r>
                        <a:rPr lang="en-US" sz="1600" b="0" i="0" u="none" strike="noStrike" dirty="0">
                          <a:solidFill>
                            <a:srgbClr val="000000"/>
                          </a:solidFill>
                          <a:effectLst/>
                          <a:latin typeface="Times New Roman" panose="02020603050405020304" pitchFamily="18" charset="0"/>
                        </a:rPr>
                        <a:t>Authenticated user generates a recipe</a:t>
                      </a:r>
                      <a:endParaRPr lang="en-US" sz="1600" dirty="0">
                        <a:effectLst/>
                      </a:endParaRPr>
                    </a:p>
                  </a:txBody>
                  <a:tcPr marL="63500" marR="63500" marT="63500" marB="63500"/>
                </a:tc>
                <a:tc>
                  <a:txBody>
                    <a:bodyPr/>
                    <a:lstStyle/>
                    <a:p>
                      <a:pPr rtl="0" fontAlgn="t">
                        <a:spcBef>
                          <a:spcPts val="0"/>
                        </a:spcBef>
                        <a:spcAft>
                          <a:spcPts val="0"/>
                        </a:spcAft>
                      </a:pPr>
                      <a:r>
                        <a:rPr lang="en-US" sz="1600" b="0" i="0" u="none" strike="noStrike">
                          <a:solidFill>
                            <a:srgbClr val="000000"/>
                          </a:solidFill>
                          <a:effectLst/>
                          <a:latin typeface="Times New Roman" panose="02020603050405020304" pitchFamily="18" charset="0"/>
                        </a:rPr>
                        <a:t>Recipe is stored in DB and appears in the history.</a:t>
                      </a:r>
                      <a:endParaRPr lang="en-US" sz="1600">
                        <a:effectLst/>
                      </a:endParaRPr>
                    </a:p>
                  </a:txBody>
                  <a:tcPr marL="63500" marR="63500" marT="63500" marB="63500"/>
                </a:tc>
                <a:tc>
                  <a:txBody>
                    <a:bodyPr/>
                    <a:lstStyle/>
                    <a:p>
                      <a:pPr rtl="0" fontAlgn="t">
                        <a:spcBef>
                          <a:spcPts val="0"/>
                        </a:spcBef>
                        <a:spcAft>
                          <a:spcPts val="0"/>
                        </a:spcAft>
                      </a:pPr>
                      <a:r>
                        <a:rPr lang="en-US" sz="1600" b="0" i="0" u="none" strike="noStrike" dirty="0">
                          <a:solidFill>
                            <a:srgbClr val="000000"/>
                          </a:solidFill>
                          <a:effectLst/>
                          <a:latin typeface="Times New Roman" panose="02020603050405020304" pitchFamily="18" charset="0"/>
                        </a:rPr>
                        <a:t>Pass</a:t>
                      </a:r>
                      <a:endParaRPr lang="en-US" sz="1600" dirty="0">
                        <a:effectLst/>
                      </a:endParaRPr>
                    </a:p>
                    <a:p>
                      <a:pPr fontAlgn="t"/>
                      <a:endParaRPr lang="en-US" sz="1600" dirty="0">
                        <a:effectLst/>
                      </a:endParaRPr>
                    </a:p>
                  </a:txBody>
                  <a:tcPr marL="63500" marR="63500" marT="63500" marB="63500"/>
                </a:tc>
                <a:extLst>
                  <a:ext uri="{0D108BD9-81ED-4DB2-BD59-A6C34878D82A}">
                    <a16:rowId xmlns:a16="http://schemas.microsoft.com/office/drawing/2014/main" val="621439806"/>
                  </a:ext>
                </a:extLst>
              </a:tr>
              <a:tr h="479425">
                <a:tc>
                  <a:txBody>
                    <a:bodyPr/>
                    <a:lstStyle/>
                    <a:p>
                      <a:pPr rtl="0" fontAlgn="t">
                        <a:spcBef>
                          <a:spcPts val="0"/>
                        </a:spcBef>
                        <a:spcAft>
                          <a:spcPts val="0"/>
                        </a:spcAft>
                      </a:pPr>
                      <a:r>
                        <a:rPr lang="en-US" sz="1600" b="0" i="0" u="none" strike="noStrike">
                          <a:solidFill>
                            <a:srgbClr val="000000"/>
                          </a:solidFill>
                          <a:effectLst/>
                          <a:latin typeface="Times New Roman" panose="02020603050405020304" pitchFamily="18" charset="0"/>
                        </a:rPr>
                        <a:t>TC - 07</a:t>
                      </a:r>
                      <a:endParaRPr lang="en-US" sz="1600">
                        <a:effectLst/>
                      </a:endParaRPr>
                    </a:p>
                  </a:txBody>
                  <a:tcPr marL="63500" marR="63500" marT="63500" marB="63500"/>
                </a:tc>
                <a:tc>
                  <a:txBody>
                    <a:bodyPr/>
                    <a:lstStyle/>
                    <a:p>
                      <a:pPr rtl="0" fontAlgn="t">
                        <a:spcBef>
                          <a:spcPts val="0"/>
                        </a:spcBef>
                        <a:spcAft>
                          <a:spcPts val="0"/>
                        </a:spcAft>
                      </a:pPr>
                      <a:r>
                        <a:rPr lang="en-US" sz="1600" b="0" i="0" u="none" strike="noStrike">
                          <a:solidFill>
                            <a:srgbClr val="000000"/>
                          </a:solidFill>
                          <a:effectLst/>
                          <a:latin typeface="Times New Roman" panose="02020603050405020304" pitchFamily="18" charset="0"/>
                        </a:rPr>
                        <a:t>Query expansion</a:t>
                      </a:r>
                      <a:endParaRPr lang="en-US" sz="1600">
                        <a:effectLst/>
                      </a:endParaRPr>
                    </a:p>
                  </a:txBody>
                  <a:tcPr marL="63500" marR="63500" marT="63500" marB="63500"/>
                </a:tc>
                <a:tc>
                  <a:txBody>
                    <a:bodyPr/>
                    <a:lstStyle/>
                    <a:p>
                      <a:pPr rtl="0" fontAlgn="t">
                        <a:spcBef>
                          <a:spcPts val="0"/>
                        </a:spcBef>
                        <a:spcAft>
                          <a:spcPts val="0"/>
                        </a:spcAft>
                      </a:pPr>
                      <a:r>
                        <a:rPr lang="en-US" sz="1600" b="0" i="0" u="none" strike="noStrike" dirty="0">
                          <a:solidFill>
                            <a:srgbClr val="000000"/>
                          </a:solidFill>
                          <a:effectLst/>
                          <a:latin typeface="Times New Roman" panose="02020603050405020304" pitchFamily="18" charset="0"/>
                        </a:rPr>
                        <a:t>['tomato', 'basil', 'pasta']</a:t>
                      </a:r>
                      <a:endParaRPr lang="en-US" sz="1600" dirty="0">
                        <a:effectLst/>
                      </a:endParaRPr>
                    </a:p>
                  </a:txBody>
                  <a:tcPr marL="63500" marR="63500" marT="63500" marB="63500"/>
                </a:tc>
                <a:tc>
                  <a:txBody>
                    <a:bodyPr/>
                    <a:lstStyle/>
                    <a:p>
                      <a:pPr rtl="0" fontAlgn="t">
                        <a:spcBef>
                          <a:spcPts val="0"/>
                        </a:spcBef>
                        <a:spcAft>
                          <a:spcPts val="0"/>
                        </a:spcAft>
                      </a:pPr>
                      <a:r>
                        <a:rPr lang="en-US" sz="1600" b="0" i="0" u="none" strike="noStrike" dirty="0">
                          <a:solidFill>
                            <a:srgbClr val="000000"/>
                          </a:solidFill>
                          <a:effectLst/>
                          <a:latin typeface="Times New Roman" panose="02020603050405020304" pitchFamily="18" charset="0"/>
                        </a:rPr>
                        <a:t>Expanded query describes a pasta dish with tomato and herb flavors</a:t>
                      </a:r>
                      <a:endParaRPr lang="en-US" sz="1600" dirty="0">
                        <a:effectLst/>
                      </a:endParaRPr>
                    </a:p>
                  </a:txBody>
                  <a:tcPr marL="63500" marR="63500" marT="63500" marB="63500"/>
                </a:tc>
                <a:tc>
                  <a:txBody>
                    <a:bodyPr/>
                    <a:lstStyle/>
                    <a:p>
                      <a:pPr rtl="0" fontAlgn="t">
                        <a:spcBef>
                          <a:spcPts val="0"/>
                        </a:spcBef>
                        <a:spcAft>
                          <a:spcPts val="0"/>
                        </a:spcAft>
                      </a:pPr>
                      <a:r>
                        <a:rPr lang="en-US" sz="1600" b="0" i="0" u="none" strike="noStrike" dirty="0">
                          <a:solidFill>
                            <a:srgbClr val="000000"/>
                          </a:solidFill>
                          <a:effectLst/>
                          <a:latin typeface="Times New Roman" panose="02020603050405020304" pitchFamily="18" charset="0"/>
                        </a:rPr>
                        <a:t>Pass</a:t>
                      </a:r>
                      <a:endParaRPr lang="en-US" sz="1600" dirty="0">
                        <a:effectLst/>
                      </a:endParaRPr>
                    </a:p>
                  </a:txBody>
                  <a:tcPr marL="63500" marR="63500" marT="63500" marB="63500"/>
                </a:tc>
                <a:extLst>
                  <a:ext uri="{0D108BD9-81ED-4DB2-BD59-A6C34878D82A}">
                    <a16:rowId xmlns:a16="http://schemas.microsoft.com/office/drawing/2014/main" val="1289059298"/>
                  </a:ext>
                </a:extLst>
              </a:tr>
              <a:tr h="479425">
                <a:tc>
                  <a:txBody>
                    <a:bodyPr/>
                    <a:lstStyle/>
                    <a:p>
                      <a:pPr rtl="0" fontAlgn="t">
                        <a:spcBef>
                          <a:spcPts val="0"/>
                        </a:spcBef>
                        <a:spcAft>
                          <a:spcPts val="0"/>
                        </a:spcAft>
                      </a:pPr>
                      <a:r>
                        <a:rPr lang="en-US" sz="1600" b="0" i="0" u="none" strike="noStrike">
                          <a:solidFill>
                            <a:srgbClr val="000000"/>
                          </a:solidFill>
                          <a:effectLst/>
                          <a:latin typeface="Times New Roman" panose="02020603050405020304" pitchFamily="18" charset="0"/>
                        </a:rPr>
                        <a:t>TC - 08</a:t>
                      </a:r>
                      <a:endParaRPr lang="en-US" sz="1600">
                        <a:effectLst/>
                      </a:endParaRPr>
                    </a:p>
                  </a:txBody>
                  <a:tcPr marL="63500" marR="63500" marT="63500" marB="63500"/>
                </a:tc>
                <a:tc>
                  <a:txBody>
                    <a:bodyPr/>
                    <a:lstStyle/>
                    <a:p>
                      <a:pPr rtl="0" fontAlgn="t">
                        <a:spcBef>
                          <a:spcPts val="0"/>
                        </a:spcBef>
                        <a:spcAft>
                          <a:spcPts val="0"/>
                        </a:spcAft>
                      </a:pPr>
                      <a:r>
                        <a:rPr lang="en-US" sz="1600" b="0" i="0" u="none" strike="noStrike" dirty="0">
                          <a:solidFill>
                            <a:srgbClr val="000000"/>
                          </a:solidFill>
                          <a:effectLst/>
                          <a:latin typeface="Times New Roman" panose="02020603050405020304" pitchFamily="18" charset="0"/>
                        </a:rPr>
                        <a:t>Recipe retrieval count</a:t>
                      </a:r>
                      <a:endParaRPr lang="en-US" sz="1600" dirty="0">
                        <a:effectLst/>
                      </a:endParaRPr>
                    </a:p>
                  </a:txBody>
                  <a:tcPr marL="63500" marR="63500" marT="63500" marB="63500"/>
                </a:tc>
                <a:tc>
                  <a:txBody>
                    <a:bodyPr/>
                    <a:lstStyle/>
                    <a:p>
                      <a:pPr rtl="0" fontAlgn="t">
                        <a:spcBef>
                          <a:spcPts val="0"/>
                        </a:spcBef>
                        <a:spcAft>
                          <a:spcPts val="0"/>
                        </a:spcAft>
                      </a:pPr>
                      <a:r>
                        <a:rPr lang="en-US" sz="1600" b="0" i="0" u="none" strike="noStrike">
                          <a:solidFill>
                            <a:srgbClr val="000000"/>
                          </a:solidFill>
                          <a:effectLst/>
                          <a:latin typeface="Times New Roman" panose="02020603050405020304" pitchFamily="18" charset="0"/>
                        </a:rPr>
                        <a:t>Expanded query for a pasta dish</a:t>
                      </a:r>
                      <a:endParaRPr lang="en-US" sz="1600">
                        <a:effectLst/>
                      </a:endParaRPr>
                    </a:p>
                  </a:txBody>
                  <a:tcPr marL="63500" marR="63500" marT="63500" marB="63500"/>
                </a:tc>
                <a:tc>
                  <a:txBody>
                    <a:bodyPr/>
                    <a:lstStyle/>
                    <a:p>
                      <a:pPr rtl="0" fontAlgn="t">
                        <a:spcBef>
                          <a:spcPts val="0"/>
                        </a:spcBef>
                        <a:spcAft>
                          <a:spcPts val="0"/>
                        </a:spcAft>
                      </a:pPr>
                      <a:r>
                        <a:rPr lang="en-US" sz="1600" b="0" i="0" u="none" strike="noStrike">
                          <a:solidFill>
                            <a:srgbClr val="000000"/>
                          </a:solidFill>
                          <a:effectLst/>
                          <a:latin typeface="Times New Roman" panose="02020603050405020304" pitchFamily="18" charset="0"/>
                        </a:rPr>
                        <a:t>ChromaDB returns 10 candidate recipes ranked by cosine similarity.</a:t>
                      </a:r>
                      <a:endParaRPr lang="en-US" sz="1600">
                        <a:effectLst/>
                      </a:endParaRPr>
                    </a:p>
                  </a:txBody>
                  <a:tcPr marL="63500" marR="63500" marT="63500" marB="63500"/>
                </a:tc>
                <a:tc>
                  <a:txBody>
                    <a:bodyPr/>
                    <a:lstStyle/>
                    <a:p>
                      <a:pPr rtl="0" fontAlgn="t">
                        <a:spcBef>
                          <a:spcPts val="0"/>
                        </a:spcBef>
                        <a:spcAft>
                          <a:spcPts val="0"/>
                        </a:spcAft>
                      </a:pPr>
                      <a:r>
                        <a:rPr lang="en-US" sz="1600" b="0" i="0" u="none" strike="noStrike" dirty="0">
                          <a:solidFill>
                            <a:srgbClr val="000000"/>
                          </a:solidFill>
                          <a:effectLst/>
                          <a:latin typeface="Times New Roman" panose="02020603050405020304" pitchFamily="18" charset="0"/>
                        </a:rPr>
                        <a:t>Pass</a:t>
                      </a:r>
                      <a:endParaRPr lang="en-US" sz="1600" dirty="0">
                        <a:effectLst/>
                      </a:endParaRPr>
                    </a:p>
                  </a:txBody>
                  <a:tcPr marL="63500" marR="63500" marT="63500" marB="63500"/>
                </a:tc>
                <a:extLst>
                  <a:ext uri="{0D108BD9-81ED-4DB2-BD59-A6C34878D82A}">
                    <a16:rowId xmlns:a16="http://schemas.microsoft.com/office/drawing/2014/main" val="2958774259"/>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16">
          <a:extLst>
            <a:ext uri="{FF2B5EF4-FFF2-40B4-BE49-F238E27FC236}">
              <a16:creationId xmlns:a16="http://schemas.microsoft.com/office/drawing/2014/main" id="{B4DEA040-F3AA-9EB8-2840-C465DD29033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A642B8D-64C7-09D5-E1E4-64D8C6FA7C40}"/>
              </a:ext>
            </a:extLst>
          </p:cNvPr>
          <p:cNvSpPr/>
          <p:nvPr/>
        </p:nvSpPr>
        <p:spPr>
          <a:xfrm>
            <a:off x="10312400" y="111760"/>
            <a:ext cx="1638808" cy="140208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Footer Placeholder 2">
            <a:extLst>
              <a:ext uri="{FF2B5EF4-FFF2-40B4-BE49-F238E27FC236}">
                <a16:creationId xmlns:a16="http://schemas.microsoft.com/office/drawing/2014/main" id="{28EA4432-8E02-61F6-13DF-324B0212224B}"/>
              </a:ext>
            </a:extLst>
          </p:cNvPr>
          <p:cNvSpPr>
            <a:spLocks noGrp="1"/>
          </p:cNvSpPr>
          <p:nvPr>
            <p:ph type="ftr" sz="quarter" idx="11"/>
          </p:nvPr>
        </p:nvSpPr>
        <p:spPr>
          <a:xfrm>
            <a:off x="2837750" y="6356428"/>
            <a:ext cx="7084177" cy="365125"/>
          </a:xfrm>
        </p:spPr>
        <p:txBody>
          <a:bodyPr/>
          <a:lstStyle/>
          <a:p>
            <a:r>
              <a:rPr lang="en-US" sz="1100" dirty="0">
                <a:solidFill>
                  <a:schemeClr val="dk1"/>
                </a:solidFill>
                <a:latin typeface="Times New Roman"/>
                <a:ea typeface="Times New Roman"/>
                <a:cs typeface="Times New Roman"/>
                <a:sym typeface="Times New Roman"/>
              </a:rPr>
              <a:t>Chef Guru: A Hybrid RAG and Fine-Tuning Framework for Personalized AI-Powered Recipe Generation</a:t>
            </a:r>
            <a:endParaRPr lang="en-US" sz="1100" dirty="0"/>
          </a:p>
        </p:txBody>
      </p:sp>
      <p:sp>
        <p:nvSpPr>
          <p:cNvPr id="2" name="Slide Number Placeholder 1">
            <a:extLst>
              <a:ext uri="{FF2B5EF4-FFF2-40B4-BE49-F238E27FC236}">
                <a16:creationId xmlns:a16="http://schemas.microsoft.com/office/drawing/2014/main" id="{4AC2C0AF-B429-9063-5EF5-80DC551795E1}"/>
              </a:ext>
            </a:extLst>
          </p:cNvPr>
          <p:cNvSpPr>
            <a:spLocks noGrp="1"/>
          </p:cNvSpPr>
          <p:nvPr>
            <p:ph type="sldNum" sz="quarter" idx="12"/>
          </p:nvPr>
        </p:nvSpPr>
        <p:spPr/>
        <p:txBody>
          <a:bodyPr/>
          <a:lstStyle/>
          <a:p>
            <a:fld id="{FC6BEB0F-7D1A-4CFC-9A6C-0E77E068DA9D}" type="slidenum">
              <a:rPr lang="en-US" smtClean="0"/>
              <a:t>31</a:t>
            </a:fld>
            <a:endParaRPr lang="en-US"/>
          </a:p>
        </p:txBody>
      </p:sp>
      <p:graphicFrame>
        <p:nvGraphicFramePr>
          <p:cNvPr id="16" name="Diagram 15">
            <a:extLst>
              <a:ext uri="{FF2B5EF4-FFF2-40B4-BE49-F238E27FC236}">
                <a16:creationId xmlns:a16="http://schemas.microsoft.com/office/drawing/2014/main" id="{5C2965D6-8D4D-7446-D06A-5E273CC7591C}"/>
              </a:ext>
            </a:extLst>
          </p:cNvPr>
          <p:cNvGraphicFramePr/>
          <p:nvPr>
            <p:extLst>
              <p:ext uri="{D42A27DB-BD31-4B8C-83A1-F6EECF244321}">
                <p14:modId xmlns:p14="http://schemas.microsoft.com/office/powerpoint/2010/main" val="3088584493"/>
              </p:ext>
            </p:extLst>
          </p:nvPr>
        </p:nvGraphicFramePr>
        <p:xfrm>
          <a:off x="711200" y="646331"/>
          <a:ext cx="10332720" cy="59130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7">
            <a:extLst>
              <a:ext uri="{FF2B5EF4-FFF2-40B4-BE49-F238E27FC236}">
                <a16:creationId xmlns:a16="http://schemas.microsoft.com/office/drawing/2014/main" id="{8B15373F-621F-2654-0EDA-03D43BA66F48}"/>
              </a:ext>
            </a:extLst>
          </p:cNvPr>
          <p:cNvSpPr txBox="1"/>
          <p:nvPr/>
        </p:nvSpPr>
        <p:spPr>
          <a:xfrm>
            <a:off x="3997960" y="0"/>
            <a:ext cx="4196080" cy="646331"/>
          </a:xfrm>
          <a:prstGeom prst="rect">
            <a:avLst/>
          </a:prstGeom>
          <a:noFill/>
        </p:spPr>
        <p:txBody>
          <a:bodyPr wrap="square">
            <a:spAutoFit/>
          </a:bodyPr>
          <a:lstStyle/>
          <a:p>
            <a:r>
              <a:rPr lang="en-US" sz="3600" b="1" dirty="0">
                <a:solidFill>
                  <a:schemeClr val="dk1"/>
                </a:solidFill>
                <a:effectLst>
                  <a:outerShdw blurRad="38100" dist="38100" dir="2700000" algn="tl">
                    <a:srgbClr val="000000">
                      <a:alpha val="43137"/>
                    </a:srgbClr>
                  </a:outerShdw>
                </a:effectLst>
                <a:latin typeface="Times New Roman"/>
                <a:cs typeface="Times New Roman"/>
              </a:rPr>
              <a:t>Validation approach</a:t>
            </a:r>
            <a:endParaRPr lang="en-IN" sz="36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0841658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72DB4-1542-18F0-5843-BF7D86FEA999}"/>
            </a:ext>
          </a:extLst>
        </p:cNvPr>
        <p:cNvGrpSpPr/>
        <p:nvPr/>
      </p:nvGrpSpPr>
      <p:grpSpPr>
        <a:xfrm>
          <a:off x="0" y="0"/>
          <a:ext cx="0" cy="0"/>
          <a:chOff x="0" y="0"/>
          <a:chExt cx="0" cy="0"/>
        </a:xfrm>
      </p:grpSpPr>
      <p:graphicFrame>
        <p:nvGraphicFramePr>
          <p:cNvPr id="11" name="Table 10">
            <a:extLst>
              <a:ext uri="{FF2B5EF4-FFF2-40B4-BE49-F238E27FC236}">
                <a16:creationId xmlns:a16="http://schemas.microsoft.com/office/drawing/2014/main" id="{1DF76DCF-A56E-29FD-36E7-2412ECD3917F}"/>
              </a:ext>
            </a:extLst>
          </p:cNvPr>
          <p:cNvGraphicFramePr>
            <a:graphicFrameLocks noGrp="1"/>
          </p:cNvGraphicFramePr>
          <p:nvPr>
            <p:extLst>
              <p:ext uri="{D42A27DB-BD31-4B8C-83A1-F6EECF244321}">
                <p14:modId xmlns:p14="http://schemas.microsoft.com/office/powerpoint/2010/main" val="3607814162"/>
              </p:ext>
            </p:extLst>
          </p:nvPr>
        </p:nvGraphicFramePr>
        <p:xfrm>
          <a:off x="687119" y="1200329"/>
          <a:ext cx="10624009" cy="5100432"/>
        </p:xfrm>
        <a:graphic>
          <a:graphicData uri="http://schemas.openxmlformats.org/drawingml/2006/table">
            <a:tbl>
              <a:tblPr>
                <a:tableStyleId>{5940675A-B579-460E-94D1-54222C63F5DA}</a:tableStyleId>
              </a:tblPr>
              <a:tblGrid>
                <a:gridCol w="2656002">
                  <a:extLst>
                    <a:ext uri="{9D8B030D-6E8A-4147-A177-3AD203B41FA5}">
                      <a16:colId xmlns:a16="http://schemas.microsoft.com/office/drawing/2014/main" val="646997785"/>
                    </a:ext>
                  </a:extLst>
                </a:gridCol>
                <a:gridCol w="2719371">
                  <a:extLst>
                    <a:ext uri="{9D8B030D-6E8A-4147-A177-3AD203B41FA5}">
                      <a16:colId xmlns:a16="http://schemas.microsoft.com/office/drawing/2014/main" val="1046840287"/>
                    </a:ext>
                  </a:extLst>
                </a:gridCol>
                <a:gridCol w="2592634">
                  <a:extLst>
                    <a:ext uri="{9D8B030D-6E8A-4147-A177-3AD203B41FA5}">
                      <a16:colId xmlns:a16="http://schemas.microsoft.com/office/drawing/2014/main" val="3847544677"/>
                    </a:ext>
                  </a:extLst>
                </a:gridCol>
                <a:gridCol w="2656002">
                  <a:extLst>
                    <a:ext uri="{9D8B030D-6E8A-4147-A177-3AD203B41FA5}">
                      <a16:colId xmlns:a16="http://schemas.microsoft.com/office/drawing/2014/main" val="2306971745"/>
                    </a:ext>
                  </a:extLst>
                </a:gridCol>
              </a:tblGrid>
              <a:tr h="341019">
                <a:tc>
                  <a:txBody>
                    <a:bodyPr/>
                    <a:lstStyle/>
                    <a:p>
                      <a:pPr>
                        <a:buNone/>
                      </a:pPr>
                      <a:r>
                        <a:rPr lang="en-IN" sz="2000" b="1" dirty="0">
                          <a:latin typeface="Times New Roman" panose="02020603050405020304" pitchFamily="18" charset="0"/>
                          <a:cs typeface="Times New Roman" panose="02020603050405020304" pitchFamily="18" charset="0"/>
                        </a:rPr>
                        <a:t>System / Model</a:t>
                      </a:r>
                    </a:p>
                  </a:txBody>
                  <a:tcPr marL="88072" marR="88072" marT="44036" marB="44036" anchor="ctr"/>
                </a:tc>
                <a:tc>
                  <a:txBody>
                    <a:bodyPr/>
                    <a:lstStyle/>
                    <a:p>
                      <a:pPr>
                        <a:buNone/>
                      </a:pPr>
                      <a:r>
                        <a:rPr lang="en-IN" sz="2000" b="1">
                          <a:latin typeface="Times New Roman" panose="02020603050405020304" pitchFamily="18" charset="0"/>
                          <a:cs typeface="Times New Roman" panose="02020603050405020304" pitchFamily="18" charset="0"/>
                        </a:rPr>
                        <a:t>Approach</a:t>
                      </a:r>
                      <a:endParaRPr lang="en-IN" sz="2000" b="1" dirty="0">
                        <a:latin typeface="Times New Roman" panose="02020603050405020304" pitchFamily="18" charset="0"/>
                        <a:cs typeface="Times New Roman" panose="02020603050405020304" pitchFamily="18" charset="0"/>
                      </a:endParaRPr>
                    </a:p>
                  </a:txBody>
                  <a:tcPr marL="88072" marR="88072" marT="44036" marB="44036" anchor="ctr"/>
                </a:tc>
                <a:tc>
                  <a:txBody>
                    <a:bodyPr/>
                    <a:lstStyle/>
                    <a:p>
                      <a:pPr>
                        <a:buNone/>
                      </a:pPr>
                      <a:r>
                        <a:rPr lang="en-IN" sz="2000" b="1">
                          <a:latin typeface="Times New Roman" panose="02020603050405020304" pitchFamily="18" charset="0"/>
                          <a:cs typeface="Times New Roman" panose="02020603050405020304" pitchFamily="18" charset="0"/>
                        </a:rPr>
                        <a:t>Accuracy (%)</a:t>
                      </a:r>
                    </a:p>
                  </a:txBody>
                  <a:tcPr marL="88072" marR="88072" marT="44036" marB="44036" anchor="ctr"/>
                </a:tc>
                <a:tc>
                  <a:txBody>
                    <a:bodyPr/>
                    <a:lstStyle/>
                    <a:p>
                      <a:pPr>
                        <a:buNone/>
                      </a:pPr>
                      <a:r>
                        <a:rPr lang="en-IN" sz="2000" b="1">
                          <a:latin typeface="Times New Roman" panose="02020603050405020304" pitchFamily="18" charset="0"/>
                          <a:cs typeface="Times New Roman" panose="02020603050405020304" pitchFamily="18" charset="0"/>
                        </a:rPr>
                        <a:t>Key Limitation</a:t>
                      </a:r>
                      <a:endParaRPr lang="en-IN" sz="2000" b="1" dirty="0">
                        <a:latin typeface="Times New Roman" panose="02020603050405020304" pitchFamily="18" charset="0"/>
                        <a:cs typeface="Times New Roman" panose="02020603050405020304" pitchFamily="18" charset="0"/>
                      </a:endParaRPr>
                    </a:p>
                  </a:txBody>
                  <a:tcPr marL="88072" marR="88072" marT="44036" marB="44036" anchor="ctr"/>
                </a:tc>
                <a:extLst>
                  <a:ext uri="{0D108BD9-81ED-4DB2-BD59-A6C34878D82A}">
                    <a16:rowId xmlns:a16="http://schemas.microsoft.com/office/drawing/2014/main" val="2074566302"/>
                  </a:ext>
                </a:extLst>
              </a:tr>
              <a:tr h="870162">
                <a:tc>
                  <a:txBody>
                    <a:bodyPr/>
                    <a:lstStyle/>
                    <a:p>
                      <a:pPr>
                        <a:buNone/>
                      </a:pPr>
                      <a:r>
                        <a:rPr lang="en-US" sz="2000">
                          <a:latin typeface="Times New Roman" panose="02020603050405020304" pitchFamily="18" charset="0"/>
                          <a:cs typeface="Times New Roman" panose="02020603050405020304" pitchFamily="18" charset="0"/>
                        </a:rPr>
                        <a:t>Gao et al. (2024)</a:t>
                      </a:r>
                      <a:endParaRPr lang="en-IN" sz="2000" dirty="0">
                        <a:latin typeface="Times New Roman" panose="02020603050405020304" pitchFamily="18" charset="0"/>
                        <a:cs typeface="Times New Roman" panose="02020603050405020304" pitchFamily="18" charset="0"/>
                      </a:endParaRPr>
                    </a:p>
                  </a:txBody>
                  <a:tcPr marL="88072" marR="88072" marT="44036" marB="44036" anchor="ctr"/>
                </a:tc>
                <a:tc>
                  <a:txBody>
                    <a:bodyPr/>
                    <a:lstStyle/>
                    <a:p>
                      <a:pPr>
                        <a:buNone/>
                      </a:pPr>
                      <a:r>
                        <a:rPr lang="en-US" sz="2000" dirty="0">
                          <a:latin typeface="Times New Roman" panose="02020603050405020304" pitchFamily="18" charset="0"/>
                          <a:cs typeface="Times New Roman" panose="02020603050405020304" pitchFamily="18" charset="0"/>
                        </a:rPr>
                        <a:t>Retrieval-Augmented Generation (RAG)</a:t>
                      </a:r>
                      <a:endParaRPr lang="en-IN" sz="2000" dirty="0">
                        <a:latin typeface="Times New Roman" panose="02020603050405020304" pitchFamily="18" charset="0"/>
                        <a:cs typeface="Times New Roman" panose="02020603050405020304" pitchFamily="18" charset="0"/>
                      </a:endParaRPr>
                    </a:p>
                  </a:txBody>
                  <a:tcPr marL="88072" marR="88072" marT="44036" marB="44036" anchor="ctr"/>
                </a:tc>
                <a:tc>
                  <a:txBody>
                    <a:bodyPr/>
                    <a:lstStyle/>
                    <a:p>
                      <a:pPr>
                        <a:buNone/>
                      </a:pPr>
                      <a:r>
                        <a:rPr lang="en-US" sz="2000" dirty="0">
                          <a:latin typeface="Times New Roman" panose="02020603050405020304" pitchFamily="18" charset="0"/>
                          <a:cs typeface="Times New Roman" panose="02020603050405020304" pitchFamily="18" charset="0"/>
                        </a:rPr>
                        <a:t>~88</a:t>
                      </a:r>
                      <a:endParaRPr lang="en-IN" sz="2000" dirty="0">
                        <a:latin typeface="Times New Roman" panose="02020603050405020304" pitchFamily="18" charset="0"/>
                        <a:cs typeface="Times New Roman" panose="02020603050405020304" pitchFamily="18" charset="0"/>
                      </a:endParaRPr>
                    </a:p>
                  </a:txBody>
                  <a:tcPr marL="88072" marR="88072" marT="44036" marB="44036" anchor="ctr"/>
                </a:tc>
                <a:tc>
                  <a:txBody>
                    <a:bodyPr/>
                    <a:lstStyle/>
                    <a:p>
                      <a:pPr>
                        <a:buNone/>
                      </a:pPr>
                      <a:r>
                        <a:rPr lang="en-US" sz="2000">
                          <a:latin typeface="Times New Roman" panose="02020603050405020304" pitchFamily="18" charset="0"/>
                          <a:cs typeface="Times New Roman" panose="02020603050405020304" pitchFamily="18" charset="0"/>
                        </a:rPr>
                        <a:t>Retrieval quality depends heavily on dataset coverage</a:t>
                      </a:r>
                      <a:endParaRPr lang="en-IN" sz="2000" dirty="0">
                        <a:latin typeface="Times New Roman" panose="02020603050405020304" pitchFamily="18" charset="0"/>
                        <a:cs typeface="Times New Roman" panose="02020603050405020304" pitchFamily="18" charset="0"/>
                      </a:endParaRPr>
                    </a:p>
                  </a:txBody>
                  <a:tcPr marL="88072" marR="88072" marT="44036" marB="44036" anchor="ctr"/>
                </a:tc>
                <a:extLst>
                  <a:ext uri="{0D108BD9-81ED-4DB2-BD59-A6C34878D82A}">
                    <a16:rowId xmlns:a16="http://schemas.microsoft.com/office/drawing/2014/main" val="1227323370"/>
                  </a:ext>
                </a:extLst>
              </a:tr>
              <a:tr h="605591">
                <a:tc>
                  <a:txBody>
                    <a:bodyPr/>
                    <a:lstStyle/>
                    <a:p>
                      <a:pPr>
                        <a:buNone/>
                      </a:pPr>
                      <a:r>
                        <a:rPr lang="en-US" sz="2000">
                          <a:latin typeface="Times New Roman" panose="02020603050405020304" pitchFamily="18" charset="0"/>
                          <a:cs typeface="Times New Roman" panose="02020603050405020304" pitchFamily="18" charset="0"/>
                        </a:rPr>
                        <a:t>Wang et al. (2023)</a:t>
                      </a:r>
                      <a:endParaRPr lang="en-IN" sz="2000" dirty="0">
                        <a:latin typeface="Times New Roman" panose="02020603050405020304" pitchFamily="18" charset="0"/>
                        <a:cs typeface="Times New Roman" panose="02020603050405020304" pitchFamily="18" charset="0"/>
                      </a:endParaRPr>
                    </a:p>
                  </a:txBody>
                  <a:tcPr marL="88072" marR="88072" marT="44036" marB="44036" anchor="ctr"/>
                </a:tc>
                <a:tc>
                  <a:txBody>
                    <a:bodyPr/>
                    <a:lstStyle/>
                    <a:p>
                      <a:r>
                        <a:rPr lang="en-US">
                          <a:latin typeface="Times New Roman" panose="02020603050405020304" pitchFamily="18" charset="0"/>
                          <a:cs typeface="Times New Roman" panose="02020603050405020304" pitchFamily="18" charset="0"/>
                        </a:rPr>
                        <a:t>Query Expansion with LLM</a:t>
                      </a:r>
                      <a:endParaRPr lang="en-US"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2000">
                          <a:latin typeface="Times New Roman" panose="02020603050405020304" pitchFamily="18" charset="0"/>
                          <a:cs typeface="Times New Roman" panose="02020603050405020304" pitchFamily="18" charset="0"/>
                        </a:rPr>
                        <a:t>~86</a:t>
                      </a:r>
                      <a:endParaRPr lang="en-IN" sz="2000" dirty="0">
                        <a:latin typeface="Times New Roman" panose="02020603050405020304" pitchFamily="18" charset="0"/>
                        <a:cs typeface="Times New Roman" panose="02020603050405020304" pitchFamily="18" charset="0"/>
                      </a:endParaRPr>
                    </a:p>
                  </a:txBody>
                  <a:tcPr marL="88072" marR="88072" marT="44036" marB="44036" anchor="ctr"/>
                </a:tc>
                <a:tc>
                  <a:txBody>
                    <a:bodyPr/>
                    <a:lstStyle/>
                    <a:p>
                      <a:pPr>
                        <a:buNone/>
                      </a:pPr>
                      <a:r>
                        <a:rPr lang="en-US" sz="2000">
                          <a:latin typeface="Times New Roman" panose="02020603050405020304" pitchFamily="18" charset="0"/>
                          <a:cs typeface="Times New Roman" panose="02020603050405020304" pitchFamily="18" charset="0"/>
                        </a:rPr>
                        <a:t>Limited control over generated query context</a:t>
                      </a:r>
                      <a:endParaRPr lang="en-IN" sz="2000" dirty="0">
                        <a:latin typeface="Times New Roman" panose="02020603050405020304" pitchFamily="18" charset="0"/>
                        <a:cs typeface="Times New Roman" panose="02020603050405020304" pitchFamily="18" charset="0"/>
                      </a:endParaRPr>
                    </a:p>
                  </a:txBody>
                  <a:tcPr marL="88072" marR="88072" marT="44036" marB="44036" anchor="ctr"/>
                </a:tc>
                <a:extLst>
                  <a:ext uri="{0D108BD9-81ED-4DB2-BD59-A6C34878D82A}">
                    <a16:rowId xmlns:a16="http://schemas.microsoft.com/office/drawing/2014/main" val="383579128"/>
                  </a:ext>
                </a:extLst>
              </a:tr>
              <a:tr h="698668">
                <a:tc>
                  <a:txBody>
                    <a:bodyPr/>
                    <a:lstStyle/>
                    <a:p>
                      <a:pPr>
                        <a:buNone/>
                      </a:pPr>
                      <a:r>
                        <a:rPr lang="en-US" sz="2000" dirty="0">
                          <a:latin typeface="Times New Roman" panose="02020603050405020304" pitchFamily="18" charset="0"/>
                          <a:cs typeface="Times New Roman" panose="02020603050405020304" pitchFamily="18" charset="0"/>
                        </a:rPr>
                        <a:t>Nogueira &amp; Cho (2020)</a:t>
                      </a:r>
                      <a:endParaRPr lang="en-IN" sz="2000" dirty="0">
                        <a:latin typeface="Times New Roman" panose="02020603050405020304" pitchFamily="18" charset="0"/>
                        <a:cs typeface="Times New Roman" panose="02020603050405020304" pitchFamily="18" charset="0"/>
                      </a:endParaRPr>
                    </a:p>
                  </a:txBody>
                  <a:tcPr marL="88072" marR="88072" marT="44036" marB="44036" anchor="ctr"/>
                </a:tc>
                <a:tc>
                  <a:txBody>
                    <a:bodyPr/>
                    <a:lstStyle/>
                    <a:p>
                      <a:r>
                        <a:rPr lang="en-US" dirty="0">
                          <a:latin typeface="Times New Roman" panose="02020603050405020304" pitchFamily="18" charset="0"/>
                          <a:cs typeface="Times New Roman" panose="02020603050405020304" pitchFamily="18" charset="0"/>
                        </a:rPr>
                        <a:t>Cross-Encoder Re-Ranking</a:t>
                      </a:r>
                    </a:p>
                  </a:txBody>
                  <a:tcPr anchor="ctr"/>
                </a:tc>
                <a:tc>
                  <a:txBody>
                    <a:bodyPr/>
                    <a:lstStyle/>
                    <a:p>
                      <a:pPr>
                        <a:buNone/>
                      </a:pPr>
                      <a:r>
                        <a:rPr lang="en-US" sz="2000" dirty="0">
                          <a:latin typeface="Times New Roman" panose="02020603050405020304" pitchFamily="18" charset="0"/>
                          <a:cs typeface="Times New Roman" panose="02020603050405020304" pitchFamily="18" charset="0"/>
                        </a:rPr>
                        <a:t>~90</a:t>
                      </a:r>
                      <a:endParaRPr lang="en-IN" sz="2000" dirty="0">
                        <a:latin typeface="Times New Roman" panose="02020603050405020304" pitchFamily="18" charset="0"/>
                        <a:cs typeface="Times New Roman" panose="02020603050405020304" pitchFamily="18" charset="0"/>
                      </a:endParaRPr>
                    </a:p>
                  </a:txBody>
                  <a:tcPr marL="88072" marR="88072" marT="44036" marB="44036" anchor="ctr"/>
                </a:tc>
                <a:tc>
                  <a:txBody>
                    <a:bodyPr/>
                    <a:lstStyle/>
                    <a:p>
                      <a:pPr>
                        <a:buNone/>
                      </a:pPr>
                      <a:r>
                        <a:rPr lang="en-US" sz="2000" dirty="0">
                          <a:latin typeface="Times New Roman" panose="02020603050405020304" pitchFamily="18" charset="0"/>
                          <a:cs typeface="Times New Roman" panose="02020603050405020304" pitchFamily="18" charset="0"/>
                        </a:rPr>
                        <a:t>Computationally expensive for large datasets</a:t>
                      </a:r>
                      <a:endParaRPr lang="en-IN" sz="2000" dirty="0">
                        <a:latin typeface="Times New Roman" panose="02020603050405020304" pitchFamily="18" charset="0"/>
                        <a:cs typeface="Times New Roman" panose="02020603050405020304" pitchFamily="18" charset="0"/>
                      </a:endParaRPr>
                    </a:p>
                  </a:txBody>
                  <a:tcPr marL="88072" marR="88072" marT="44036" marB="44036" anchor="ctr"/>
                </a:tc>
                <a:extLst>
                  <a:ext uri="{0D108BD9-81ED-4DB2-BD59-A6C34878D82A}">
                    <a16:rowId xmlns:a16="http://schemas.microsoft.com/office/drawing/2014/main" val="3779036848"/>
                  </a:ext>
                </a:extLst>
              </a:tr>
              <a:tr h="605591">
                <a:tc>
                  <a:txBody>
                    <a:bodyPr/>
                    <a:lstStyle/>
                    <a:p>
                      <a:pPr>
                        <a:buNone/>
                      </a:pPr>
                      <a:r>
                        <a:rPr lang="en-US" sz="2000" dirty="0">
                          <a:latin typeface="Times New Roman" panose="02020603050405020304" pitchFamily="18" charset="0"/>
                          <a:cs typeface="Times New Roman" panose="02020603050405020304" pitchFamily="18" charset="0"/>
                        </a:rPr>
                        <a:t>Hu et al. (2021)</a:t>
                      </a:r>
                      <a:endParaRPr lang="en-IN" sz="2000" dirty="0">
                        <a:latin typeface="Times New Roman" panose="02020603050405020304" pitchFamily="18" charset="0"/>
                        <a:cs typeface="Times New Roman" panose="02020603050405020304" pitchFamily="18" charset="0"/>
                      </a:endParaRPr>
                    </a:p>
                  </a:txBody>
                  <a:tcPr marL="88072" marR="88072" marT="44036" marB="44036" anchor="ctr"/>
                </a:tc>
                <a:tc>
                  <a:txBody>
                    <a:bodyPr/>
                    <a:lstStyle/>
                    <a:p>
                      <a:pPr>
                        <a:buNone/>
                      </a:pPr>
                      <a:r>
                        <a:rPr lang="en-US" sz="2000" dirty="0" err="1">
                          <a:latin typeface="Times New Roman" panose="02020603050405020304" pitchFamily="18" charset="0"/>
                          <a:cs typeface="Times New Roman" panose="02020603050405020304" pitchFamily="18" charset="0"/>
                        </a:rPr>
                        <a:t>LoRA</a:t>
                      </a:r>
                      <a:r>
                        <a:rPr lang="en-US" sz="2000" dirty="0">
                          <a:latin typeface="Times New Roman" panose="02020603050405020304" pitchFamily="18" charset="0"/>
                          <a:cs typeface="Times New Roman" panose="02020603050405020304" pitchFamily="18" charset="0"/>
                        </a:rPr>
                        <a:t> Fine-Tuning</a:t>
                      </a:r>
                      <a:endParaRPr lang="en-IN" sz="2000" dirty="0">
                        <a:latin typeface="Times New Roman" panose="02020603050405020304" pitchFamily="18" charset="0"/>
                        <a:cs typeface="Times New Roman" panose="02020603050405020304" pitchFamily="18" charset="0"/>
                      </a:endParaRPr>
                    </a:p>
                  </a:txBody>
                  <a:tcPr marL="88072" marR="88072" marT="44036" marB="44036" anchor="ctr"/>
                </a:tc>
                <a:tc>
                  <a:txBody>
                    <a:bodyPr/>
                    <a:lstStyle/>
                    <a:p>
                      <a:r>
                        <a:rPr lang="en-US" dirty="0">
                          <a:latin typeface="Times New Roman" panose="02020603050405020304" pitchFamily="18" charset="0"/>
                          <a:cs typeface="Times New Roman" panose="02020603050405020304" pitchFamily="18" charset="0"/>
                        </a:rPr>
                        <a:t>~89</a:t>
                      </a:r>
                    </a:p>
                  </a:txBody>
                  <a:tcPr anchor="ctr"/>
                </a:tc>
                <a:tc>
                  <a:txBody>
                    <a:bodyPr/>
                    <a:lstStyle/>
                    <a:p>
                      <a:pPr>
                        <a:buNone/>
                      </a:pPr>
                      <a:r>
                        <a:rPr lang="en-US" sz="2000" dirty="0">
                          <a:latin typeface="Times New Roman" panose="02020603050405020304" pitchFamily="18" charset="0"/>
                          <a:cs typeface="Times New Roman" panose="02020603050405020304" pitchFamily="18" charset="0"/>
                        </a:rPr>
                        <a:t>May still require large base models</a:t>
                      </a:r>
                      <a:endParaRPr lang="en-IN" sz="2000" dirty="0">
                        <a:latin typeface="Times New Roman" panose="02020603050405020304" pitchFamily="18" charset="0"/>
                        <a:cs typeface="Times New Roman" panose="02020603050405020304" pitchFamily="18" charset="0"/>
                      </a:endParaRPr>
                    </a:p>
                  </a:txBody>
                  <a:tcPr marL="88072" marR="88072" marT="44036" marB="44036" anchor="ctr"/>
                </a:tc>
                <a:extLst>
                  <a:ext uri="{0D108BD9-81ED-4DB2-BD59-A6C34878D82A}">
                    <a16:rowId xmlns:a16="http://schemas.microsoft.com/office/drawing/2014/main" val="2429356969"/>
                  </a:ext>
                </a:extLst>
              </a:tr>
              <a:tr h="1134733">
                <a:tc>
                  <a:txBody>
                    <a:bodyPr/>
                    <a:lstStyle/>
                    <a:p>
                      <a:pPr>
                        <a:buNone/>
                      </a:pPr>
                      <a:r>
                        <a:rPr lang="en-IN" sz="2000" b="1" dirty="0">
                          <a:latin typeface="Times New Roman" panose="02020603050405020304" pitchFamily="18" charset="0"/>
                          <a:cs typeface="Times New Roman" panose="02020603050405020304" pitchFamily="18" charset="0"/>
                        </a:rPr>
                        <a:t>Proposed Model (Ours)</a:t>
                      </a:r>
                      <a:endParaRPr lang="en-IN" sz="2000" dirty="0">
                        <a:latin typeface="Times New Roman" panose="02020603050405020304" pitchFamily="18" charset="0"/>
                        <a:cs typeface="Times New Roman" panose="02020603050405020304" pitchFamily="18" charset="0"/>
                      </a:endParaRPr>
                    </a:p>
                  </a:txBody>
                  <a:tcPr marL="88072" marR="88072" marT="44036" marB="44036" anchor="ctr"/>
                </a:tc>
                <a:tc>
                  <a:txBody>
                    <a:bodyPr/>
                    <a:lstStyle/>
                    <a:p>
                      <a:pPr>
                        <a:buNone/>
                      </a:pPr>
                      <a:r>
                        <a:rPr lang="en-US" sz="2000" b="1" dirty="0">
                          <a:latin typeface="Times New Roman" panose="02020603050405020304" pitchFamily="18" charset="0"/>
                          <a:cs typeface="Times New Roman" panose="02020603050405020304" pitchFamily="18" charset="0"/>
                        </a:rPr>
                        <a:t>Hybrid RAG + </a:t>
                      </a:r>
                      <a:r>
                        <a:rPr lang="en-US" sz="2000" b="1" dirty="0" err="1">
                          <a:latin typeface="Times New Roman" panose="02020603050405020304" pitchFamily="18" charset="0"/>
                          <a:cs typeface="Times New Roman" panose="02020603050405020304" pitchFamily="18" charset="0"/>
                        </a:rPr>
                        <a:t>QLoRA</a:t>
                      </a:r>
                      <a:r>
                        <a:rPr lang="en-US" sz="2000" b="1" dirty="0">
                          <a:latin typeface="Times New Roman" panose="02020603050405020304" pitchFamily="18" charset="0"/>
                          <a:cs typeface="Times New Roman" panose="02020603050405020304" pitchFamily="18" charset="0"/>
                        </a:rPr>
                        <a:t> Framework</a:t>
                      </a:r>
                      <a:endParaRPr lang="en-IN" sz="2000" b="1" dirty="0">
                        <a:latin typeface="Times New Roman" panose="02020603050405020304" pitchFamily="18" charset="0"/>
                        <a:cs typeface="Times New Roman" panose="02020603050405020304" pitchFamily="18" charset="0"/>
                      </a:endParaRPr>
                    </a:p>
                  </a:txBody>
                  <a:tcPr marL="88072" marR="88072" marT="44036" marB="44036" anchor="ctr"/>
                </a:tc>
                <a:tc>
                  <a:txBody>
                    <a:bodyPr/>
                    <a:lstStyle/>
                    <a:p>
                      <a:pPr>
                        <a:buNone/>
                      </a:pPr>
                      <a:r>
                        <a:rPr lang="en-US" sz="2000" b="1" dirty="0">
                          <a:latin typeface="Times New Roman" panose="02020603050405020304" pitchFamily="18" charset="0"/>
                          <a:cs typeface="Times New Roman" panose="02020603050405020304" pitchFamily="18" charset="0"/>
                        </a:rPr>
                        <a:t>91–94</a:t>
                      </a:r>
                      <a:endParaRPr lang="en-IN" sz="2000" b="1" dirty="0">
                        <a:latin typeface="Times New Roman" panose="02020603050405020304" pitchFamily="18" charset="0"/>
                        <a:cs typeface="Times New Roman" panose="02020603050405020304" pitchFamily="18" charset="0"/>
                      </a:endParaRPr>
                    </a:p>
                  </a:txBody>
                  <a:tcPr marL="88072" marR="88072" marT="44036" marB="44036" anchor="ctr"/>
                </a:tc>
                <a:tc>
                  <a:txBody>
                    <a:bodyPr/>
                    <a:lstStyle/>
                    <a:p>
                      <a:pPr>
                        <a:buNone/>
                      </a:pPr>
                      <a:r>
                        <a:rPr lang="en-US" sz="2000" b="1" dirty="0">
                          <a:latin typeface="Times New Roman" panose="02020603050405020304" pitchFamily="18" charset="0"/>
                          <a:cs typeface="Times New Roman" panose="02020603050405020304" pitchFamily="18" charset="0"/>
                        </a:rPr>
                        <a:t>Improved recipe relevance, grounding, and ingredient consistency</a:t>
                      </a:r>
                      <a:endParaRPr lang="en-IN" sz="2000" b="1" dirty="0">
                        <a:latin typeface="Times New Roman" panose="02020603050405020304" pitchFamily="18" charset="0"/>
                        <a:cs typeface="Times New Roman" panose="02020603050405020304" pitchFamily="18" charset="0"/>
                      </a:endParaRPr>
                    </a:p>
                  </a:txBody>
                  <a:tcPr marL="88072" marR="88072" marT="44036" marB="44036" anchor="ctr"/>
                </a:tc>
                <a:extLst>
                  <a:ext uri="{0D108BD9-81ED-4DB2-BD59-A6C34878D82A}">
                    <a16:rowId xmlns:a16="http://schemas.microsoft.com/office/drawing/2014/main" val="2195555428"/>
                  </a:ext>
                </a:extLst>
              </a:tr>
            </a:tbl>
          </a:graphicData>
        </a:graphic>
      </p:graphicFrame>
      <p:sp>
        <p:nvSpPr>
          <p:cNvPr id="15" name="TextBox 14">
            <a:extLst>
              <a:ext uri="{FF2B5EF4-FFF2-40B4-BE49-F238E27FC236}">
                <a16:creationId xmlns:a16="http://schemas.microsoft.com/office/drawing/2014/main" id="{2A34D4BD-7AA0-A9A0-0C2A-A445C4091558}"/>
              </a:ext>
            </a:extLst>
          </p:cNvPr>
          <p:cNvSpPr txBox="1"/>
          <p:nvPr/>
        </p:nvSpPr>
        <p:spPr>
          <a:xfrm>
            <a:off x="1701800" y="0"/>
            <a:ext cx="8661400" cy="1200329"/>
          </a:xfrm>
          <a:prstGeom prst="rect">
            <a:avLst/>
          </a:prstGeom>
          <a:noFill/>
        </p:spPr>
        <p:txBody>
          <a:bodyPr wrap="square">
            <a:spAutoFit/>
          </a:bodyPr>
          <a:lstStyle/>
          <a:p>
            <a:r>
              <a:rPr lang="en-IN" sz="3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COMPARISON OF PROPOSED MODEL WITH EXISTING SYSTEMS</a:t>
            </a:r>
          </a:p>
        </p:txBody>
      </p:sp>
      <p:sp>
        <p:nvSpPr>
          <p:cNvPr id="16" name="Footer Placeholder 3">
            <a:extLst>
              <a:ext uri="{FF2B5EF4-FFF2-40B4-BE49-F238E27FC236}">
                <a16:creationId xmlns:a16="http://schemas.microsoft.com/office/drawing/2014/main" id="{3228D615-3708-8F1E-8692-4B84D29BB1C6}"/>
              </a:ext>
            </a:extLst>
          </p:cNvPr>
          <p:cNvSpPr>
            <a:spLocks noGrp="1"/>
          </p:cNvSpPr>
          <p:nvPr>
            <p:ph type="ftr" sz="quarter" idx="11"/>
          </p:nvPr>
        </p:nvSpPr>
        <p:spPr>
          <a:xfrm>
            <a:off x="2855976" y="6453243"/>
            <a:ext cx="6327648" cy="365125"/>
          </a:xfrm>
        </p:spPr>
        <p:txBody>
          <a:bodyPr/>
          <a:lstStyle/>
          <a:p>
            <a:r>
              <a:rPr lang="en-US" sz="1100" dirty="0">
                <a:solidFill>
                  <a:schemeClr val="dk1"/>
                </a:solidFill>
                <a:latin typeface="Times New Roman"/>
                <a:ea typeface="Times New Roman"/>
                <a:cs typeface="Times New Roman"/>
                <a:sym typeface="Times New Roman"/>
              </a:rPr>
              <a:t>Chef Guru: A Hybrid RAG and Fine-Tuning Framework for Personalized AI-Powered Recipe Generation</a:t>
            </a:r>
            <a:endParaRPr lang="en-US" sz="1100" dirty="0"/>
          </a:p>
        </p:txBody>
      </p:sp>
      <p:sp>
        <p:nvSpPr>
          <p:cNvPr id="17" name="Slide Number Placeholder 4">
            <a:extLst>
              <a:ext uri="{FF2B5EF4-FFF2-40B4-BE49-F238E27FC236}">
                <a16:creationId xmlns:a16="http://schemas.microsoft.com/office/drawing/2014/main" id="{D52DA2E7-6608-D161-94BE-DBA46555D8C4}"/>
              </a:ext>
            </a:extLst>
          </p:cNvPr>
          <p:cNvSpPr>
            <a:spLocks noGrp="1"/>
          </p:cNvSpPr>
          <p:nvPr>
            <p:ph type="sldNum" sz="quarter" idx="12"/>
          </p:nvPr>
        </p:nvSpPr>
        <p:spPr>
          <a:xfrm>
            <a:off x="11311128" y="6272784"/>
            <a:ext cx="640080" cy="365125"/>
          </a:xfrm>
        </p:spPr>
        <p:txBody>
          <a:bodyPr/>
          <a:lstStyle/>
          <a:p>
            <a:fld id="{FC6BEB0F-7D1A-4CFC-9A6C-0E77E068DA9D}" type="slidenum">
              <a:rPr lang="en-US" smtClean="0"/>
              <a:pPr/>
              <a:t>32</a:t>
            </a:fld>
            <a:endParaRPr lang="en-US" dirty="0"/>
          </a:p>
        </p:txBody>
      </p:sp>
    </p:spTree>
    <p:extLst>
      <p:ext uri="{BB962C8B-B14F-4D97-AF65-F5344CB8AC3E}">
        <p14:creationId xmlns:p14="http://schemas.microsoft.com/office/powerpoint/2010/main" val="28261722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16">
          <a:extLst>
            <a:ext uri="{FF2B5EF4-FFF2-40B4-BE49-F238E27FC236}">
              <a16:creationId xmlns:a16="http://schemas.microsoft.com/office/drawing/2014/main" id="{91FCAB4F-E26C-2F22-5954-CAE957C7D550}"/>
            </a:ext>
          </a:extLst>
        </p:cNvPr>
        <p:cNvGrpSpPr/>
        <p:nvPr/>
      </p:nvGrpSpPr>
      <p:grpSpPr>
        <a:xfrm>
          <a:off x="0" y="0"/>
          <a:ext cx="0" cy="0"/>
          <a:chOff x="0" y="0"/>
          <a:chExt cx="0" cy="0"/>
        </a:xfrm>
      </p:grpSpPr>
      <p:sp>
        <p:nvSpPr>
          <p:cNvPr id="217" name="Google Shape;217;p30">
            <a:extLst>
              <a:ext uri="{FF2B5EF4-FFF2-40B4-BE49-F238E27FC236}">
                <a16:creationId xmlns:a16="http://schemas.microsoft.com/office/drawing/2014/main" id="{721337B5-5FE0-C166-2934-FBCAB1B9BC18}"/>
              </a:ext>
            </a:extLst>
          </p:cNvPr>
          <p:cNvSpPr txBox="1"/>
          <p:nvPr/>
        </p:nvSpPr>
        <p:spPr>
          <a:xfrm>
            <a:off x="3564890" y="0"/>
            <a:ext cx="5062220" cy="646290"/>
          </a:xfrm>
          <a:prstGeom prst="rect">
            <a:avLst/>
          </a:prstGeom>
          <a:noFill/>
          <a:ln>
            <a:noFill/>
          </a:ln>
        </p:spPr>
        <p:txBody>
          <a:bodyPr spcFirstLastPara="1" wrap="square" lIns="91425" tIns="45700" rIns="91425" bIns="45700" anchor="t" anchorCtr="0">
            <a:spAutoFit/>
          </a:bodyPr>
          <a:lstStyle/>
          <a:p>
            <a:pPr>
              <a:buClr>
                <a:schemeClr val="lt2"/>
              </a:buClr>
              <a:buSzPts val="2400"/>
            </a:pPr>
            <a:r>
              <a:rPr lang="en-US" sz="3600" b="1" dirty="0">
                <a:solidFill>
                  <a:schemeClr val="tx1">
                    <a:lumMod val="95000"/>
                    <a:lumOff val="5000"/>
                  </a:schemeClr>
                </a:solidFill>
                <a:effectLst>
                  <a:outerShdw blurRad="38100" dist="38100" dir="2700000" algn="tl">
                    <a:srgbClr val="000000">
                      <a:alpha val="43137"/>
                    </a:srgbClr>
                  </a:outerShdw>
                </a:effectLst>
                <a:latin typeface="Times New Roman"/>
                <a:cs typeface="Times New Roman"/>
                <a:sym typeface="Times New Roman"/>
              </a:rPr>
              <a:t>CHALLENGES FACED</a:t>
            </a:r>
            <a:endParaRPr sz="3600" b="1" dirty="0">
              <a:solidFill>
                <a:schemeClr val="tx1">
                  <a:lumMod val="95000"/>
                  <a:lumOff val="5000"/>
                </a:schemeClr>
              </a:solidFill>
              <a:effectLst>
                <a:outerShdw blurRad="38100" dist="38100" dir="2700000" algn="tl">
                  <a:srgbClr val="000000">
                    <a:alpha val="43137"/>
                  </a:srgbClr>
                </a:outerShdw>
              </a:effectLst>
            </a:endParaRPr>
          </a:p>
        </p:txBody>
      </p:sp>
      <p:sp>
        <p:nvSpPr>
          <p:cNvPr id="218" name="Google Shape;218;p30">
            <a:extLst>
              <a:ext uri="{FF2B5EF4-FFF2-40B4-BE49-F238E27FC236}">
                <a16:creationId xmlns:a16="http://schemas.microsoft.com/office/drawing/2014/main" id="{D5622A87-6299-68D5-D121-413CCD2DF416}"/>
              </a:ext>
            </a:extLst>
          </p:cNvPr>
          <p:cNvSpPr txBox="1"/>
          <p:nvPr/>
        </p:nvSpPr>
        <p:spPr>
          <a:xfrm>
            <a:off x="767345" y="395772"/>
            <a:ext cx="10863823" cy="6247824"/>
          </a:xfrm>
          <a:prstGeom prst="rect">
            <a:avLst/>
          </a:prstGeom>
          <a:noFill/>
          <a:ln>
            <a:noFill/>
          </a:ln>
        </p:spPr>
        <p:txBody>
          <a:bodyPr spcFirstLastPara="1" wrap="square" lIns="91425" tIns="45700" rIns="91425" bIns="45700" anchor="t" anchorCtr="0">
            <a:spAutoFit/>
          </a:bodyPr>
          <a:lstStyle/>
          <a:p>
            <a:pPr marL="285750" indent="-28575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Technical Issues</a:t>
            </a:r>
          </a:p>
          <a:p>
            <a:r>
              <a:rPr lang="en-US" sz="2000" dirty="0">
                <a:latin typeface="Times New Roman" panose="02020603050405020304" pitchFamily="18" charset="0"/>
                <a:cs typeface="Times New Roman" panose="02020603050405020304" pitchFamily="18" charset="0"/>
              </a:rPr>
              <a:t>Faced challenges in integrating multiple components such as the retrieval system, vector database, and language model while maintaining a smooth workflow.</a:t>
            </a: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Solution:</a:t>
            </a:r>
            <a:r>
              <a:rPr lang="en-US" sz="2000" dirty="0">
                <a:latin typeface="Times New Roman" panose="02020603050405020304" pitchFamily="18" charset="0"/>
                <a:cs typeface="Times New Roman" panose="02020603050405020304" pitchFamily="18" charset="0"/>
              </a:rPr>
              <a:t> Implemented a modular architecture separating preprocessing, retrieval, and generation stages to ensure consistent data flow and easier integration..</a:t>
            </a:r>
          </a:p>
          <a:p>
            <a:pPr marL="285750" indent="-28575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Debugging Problems</a:t>
            </a:r>
          </a:p>
          <a:p>
            <a:r>
              <a:rPr lang="en-US" sz="2000" dirty="0">
                <a:latin typeface="Times New Roman" panose="02020603050405020304" pitchFamily="18" charset="0"/>
                <a:cs typeface="Times New Roman" panose="02020603050405020304" pitchFamily="18" charset="0"/>
              </a:rPr>
              <a:t>Errors occurred during API communication between the React frontend, backend services, and the AI model pipeline.</a:t>
            </a: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Solution:</a:t>
            </a:r>
            <a:r>
              <a:rPr lang="en-US" sz="2000" dirty="0">
                <a:latin typeface="Times New Roman" panose="02020603050405020304" pitchFamily="18" charset="0"/>
                <a:cs typeface="Times New Roman" panose="02020603050405020304" pitchFamily="18" charset="0"/>
              </a:rPr>
              <a:t> Applied structured logging, API validation checks, and modular debugging to identify issues in the retrieval and generation pipeline efficiently.</a:t>
            </a:r>
          </a:p>
          <a:p>
            <a:pPr marL="285750" indent="-28575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Data Limitations</a:t>
            </a:r>
          </a:p>
          <a:p>
            <a:r>
              <a:rPr lang="en-US" sz="2000" dirty="0">
                <a:latin typeface="Times New Roman" panose="02020603050405020304" pitchFamily="18" charset="0"/>
                <a:cs typeface="Times New Roman" panose="02020603050405020304" pitchFamily="18" charset="0"/>
              </a:rPr>
              <a:t>The </a:t>
            </a:r>
            <a:r>
              <a:rPr lang="en-US" sz="2000" dirty="0" err="1">
                <a:latin typeface="Times New Roman" panose="02020603050405020304" pitchFamily="18" charset="0"/>
                <a:cs typeface="Times New Roman" panose="02020603050405020304" pitchFamily="18" charset="0"/>
              </a:rPr>
              <a:t>RecipeNLG</a:t>
            </a:r>
            <a:r>
              <a:rPr lang="en-US" sz="2000" dirty="0">
                <a:latin typeface="Times New Roman" panose="02020603050405020304" pitchFamily="18" charset="0"/>
                <a:cs typeface="Times New Roman" panose="02020603050405020304" pitchFamily="18" charset="0"/>
              </a:rPr>
              <a:t> dataset contained noisy entries, inconsistent ingredient formats, and duplicate recipes; </a:t>
            </a:r>
            <a:r>
              <a:rPr lang="en-US" sz="2000" b="1" dirty="0">
                <a:latin typeface="Times New Roman" panose="02020603050405020304" pitchFamily="18" charset="0"/>
                <a:cs typeface="Times New Roman" panose="02020603050405020304" pitchFamily="18" charset="0"/>
              </a:rPr>
              <a:t>Solution:</a:t>
            </a:r>
            <a:r>
              <a:rPr lang="en-US" sz="2000" dirty="0">
                <a:latin typeface="Times New Roman" panose="02020603050405020304" pitchFamily="18" charset="0"/>
                <a:cs typeface="Times New Roman" panose="02020603050405020304" pitchFamily="18" charset="0"/>
              </a:rPr>
              <a:t> applied preprocessing techniques such as ingredient normalization, duplicate removal, filtering incomplete recipes, and format standardization.</a:t>
            </a:r>
          </a:p>
          <a:p>
            <a:pPr marL="285750" indent="-28575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Scalability &amp; Performance</a:t>
            </a:r>
          </a:p>
          <a:p>
            <a:r>
              <a:rPr lang="en-US" sz="2000" dirty="0">
                <a:latin typeface="Times New Roman" panose="02020603050405020304" pitchFamily="18" charset="0"/>
                <a:cs typeface="Times New Roman" panose="02020603050405020304" pitchFamily="18" charset="0"/>
              </a:rPr>
              <a:t>Processing large recipe datasets and running retrieval and generation models caused latency during recipe generation.</a:t>
            </a: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Solution:</a:t>
            </a:r>
            <a:r>
              <a:rPr lang="en-US" sz="2000" dirty="0">
                <a:latin typeface="Times New Roman" panose="02020603050405020304" pitchFamily="18" charset="0"/>
                <a:cs typeface="Times New Roman" panose="02020603050405020304" pitchFamily="18" charset="0"/>
              </a:rPr>
              <a:t> Optimized the pipeline using vector embeddings with </a:t>
            </a:r>
            <a:r>
              <a:rPr lang="en-US" sz="2000" dirty="0" err="1">
                <a:latin typeface="Times New Roman" panose="02020603050405020304" pitchFamily="18" charset="0"/>
                <a:cs typeface="Times New Roman" panose="02020603050405020304" pitchFamily="18" charset="0"/>
              </a:rPr>
              <a:t>ChromaDB</a:t>
            </a:r>
            <a:r>
              <a:rPr lang="en-US" sz="2000" dirty="0">
                <a:latin typeface="Times New Roman" panose="02020603050405020304" pitchFamily="18" charset="0"/>
                <a:cs typeface="Times New Roman" panose="02020603050405020304" pitchFamily="18" charset="0"/>
              </a:rPr>
              <a:t> for faster retrieval and implemented Redis caching to improve response time and system performance.</a:t>
            </a:r>
          </a:p>
          <a:p>
            <a:pPr>
              <a:buClr>
                <a:schemeClr val="dk1"/>
              </a:buClr>
              <a:buSzPts val="2000"/>
            </a:pPr>
            <a:endParaRPr lang="en-US" sz="20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
        <p:nvSpPr>
          <p:cNvPr id="3" name="Footer Placeholder 2">
            <a:extLst>
              <a:ext uri="{FF2B5EF4-FFF2-40B4-BE49-F238E27FC236}">
                <a16:creationId xmlns:a16="http://schemas.microsoft.com/office/drawing/2014/main" id="{A0B6734E-8D2A-536D-1531-9FEC699729B1}"/>
              </a:ext>
            </a:extLst>
          </p:cNvPr>
          <p:cNvSpPr>
            <a:spLocks noGrp="1"/>
          </p:cNvSpPr>
          <p:nvPr>
            <p:ph type="ftr" sz="quarter" idx="11"/>
          </p:nvPr>
        </p:nvSpPr>
        <p:spPr/>
        <p:txBody>
          <a:bodyPr/>
          <a:lstStyle/>
          <a:p>
            <a:r>
              <a:rPr lang="en-US" sz="1100" dirty="0">
                <a:solidFill>
                  <a:schemeClr val="dk1"/>
                </a:solidFill>
                <a:latin typeface="Times New Roman"/>
                <a:ea typeface="Times New Roman"/>
                <a:cs typeface="Times New Roman"/>
                <a:sym typeface="Times New Roman"/>
              </a:rPr>
              <a:t>Chef Guru: A Hybrid RAG and Fine-Tuning Framework for Personalized AI-Powered Recipe Generation</a:t>
            </a:r>
            <a:endParaRPr lang="en-US" sz="1100" dirty="0"/>
          </a:p>
        </p:txBody>
      </p:sp>
      <p:sp>
        <p:nvSpPr>
          <p:cNvPr id="2" name="Slide Number Placeholder 1">
            <a:extLst>
              <a:ext uri="{FF2B5EF4-FFF2-40B4-BE49-F238E27FC236}">
                <a16:creationId xmlns:a16="http://schemas.microsoft.com/office/drawing/2014/main" id="{9FD6533E-FF01-2C62-0DF0-0F4570C40A8C}"/>
              </a:ext>
            </a:extLst>
          </p:cNvPr>
          <p:cNvSpPr>
            <a:spLocks noGrp="1"/>
          </p:cNvSpPr>
          <p:nvPr>
            <p:ph type="sldNum" sz="quarter" idx="12"/>
          </p:nvPr>
        </p:nvSpPr>
        <p:spPr/>
        <p:txBody>
          <a:bodyPr/>
          <a:lstStyle/>
          <a:p>
            <a:fld id="{FC6BEB0F-7D1A-4CFC-9A6C-0E77E068DA9D}" type="slidenum">
              <a:rPr lang="en-US" smtClean="0"/>
              <a:t>33</a:t>
            </a:fld>
            <a:endParaRPr lang="en-US"/>
          </a:p>
        </p:txBody>
      </p:sp>
    </p:spTree>
    <p:extLst>
      <p:ext uri="{BB962C8B-B14F-4D97-AF65-F5344CB8AC3E}">
        <p14:creationId xmlns:p14="http://schemas.microsoft.com/office/powerpoint/2010/main" val="41222087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16">
          <a:extLst>
            <a:ext uri="{FF2B5EF4-FFF2-40B4-BE49-F238E27FC236}">
              <a16:creationId xmlns:a16="http://schemas.microsoft.com/office/drawing/2014/main" id="{6E1A3AF5-10D4-1512-2423-DFE10CDAC0CA}"/>
            </a:ext>
          </a:extLst>
        </p:cNvPr>
        <p:cNvGrpSpPr/>
        <p:nvPr/>
      </p:nvGrpSpPr>
      <p:grpSpPr>
        <a:xfrm>
          <a:off x="0" y="0"/>
          <a:ext cx="0" cy="0"/>
          <a:chOff x="0" y="0"/>
          <a:chExt cx="0" cy="0"/>
        </a:xfrm>
      </p:grpSpPr>
      <p:sp>
        <p:nvSpPr>
          <p:cNvPr id="217" name="Google Shape;217;p30">
            <a:extLst>
              <a:ext uri="{FF2B5EF4-FFF2-40B4-BE49-F238E27FC236}">
                <a16:creationId xmlns:a16="http://schemas.microsoft.com/office/drawing/2014/main" id="{669DE2FE-9B56-0F0A-F9D6-9AFB72E5390D}"/>
              </a:ext>
            </a:extLst>
          </p:cNvPr>
          <p:cNvSpPr txBox="1"/>
          <p:nvPr/>
        </p:nvSpPr>
        <p:spPr>
          <a:xfrm>
            <a:off x="4250690" y="0"/>
            <a:ext cx="3690620" cy="646290"/>
          </a:xfrm>
          <a:prstGeom prst="rect">
            <a:avLst/>
          </a:prstGeom>
          <a:noFill/>
          <a:ln>
            <a:noFill/>
          </a:ln>
        </p:spPr>
        <p:txBody>
          <a:bodyPr spcFirstLastPara="1" wrap="square" lIns="91425" tIns="45700" rIns="91425" bIns="45700" anchor="t" anchorCtr="0">
            <a:spAutoFit/>
          </a:bodyPr>
          <a:lstStyle/>
          <a:p>
            <a:pPr lvl="0">
              <a:buClr>
                <a:schemeClr val="lt2"/>
              </a:buClr>
              <a:buSzPts val="2400"/>
            </a:pPr>
            <a:r>
              <a:rPr lang="en-US" sz="3600" b="1" dirty="0">
                <a:solidFill>
                  <a:schemeClr val="tx1">
                    <a:lumMod val="95000"/>
                    <a:lumOff val="5000"/>
                  </a:schemeClr>
                </a:solidFill>
                <a:latin typeface="Times New Roman" panose="02020603050405020304" pitchFamily="18" charset="0"/>
                <a:cs typeface="Times New Roman" panose="02020603050405020304" pitchFamily="18" charset="0"/>
              </a:rPr>
              <a:t>APPLICATIONS</a:t>
            </a:r>
            <a:endParaRPr lang="en-US" sz="3600" b="1" dirty="0">
              <a:solidFill>
                <a:schemeClr val="tx1">
                  <a:lumMod val="95000"/>
                  <a:lumOff val="5000"/>
                </a:schemeClr>
              </a:solidFill>
            </a:endParaRPr>
          </a:p>
        </p:txBody>
      </p:sp>
      <p:sp>
        <p:nvSpPr>
          <p:cNvPr id="3" name="Footer Placeholder 2">
            <a:extLst>
              <a:ext uri="{FF2B5EF4-FFF2-40B4-BE49-F238E27FC236}">
                <a16:creationId xmlns:a16="http://schemas.microsoft.com/office/drawing/2014/main" id="{AC1ECD16-5C09-E2C9-915D-9F6388B356BD}"/>
              </a:ext>
            </a:extLst>
          </p:cNvPr>
          <p:cNvSpPr>
            <a:spLocks noGrp="1"/>
          </p:cNvSpPr>
          <p:nvPr>
            <p:ph type="ftr" sz="quarter" idx="11"/>
          </p:nvPr>
        </p:nvSpPr>
        <p:spPr/>
        <p:txBody>
          <a:bodyPr/>
          <a:lstStyle/>
          <a:p>
            <a:r>
              <a:rPr lang="en-US" sz="1100" dirty="0">
                <a:solidFill>
                  <a:schemeClr val="dk1"/>
                </a:solidFill>
                <a:latin typeface="Times New Roman"/>
                <a:ea typeface="Times New Roman"/>
                <a:cs typeface="Times New Roman"/>
                <a:sym typeface="Times New Roman"/>
              </a:rPr>
              <a:t>Chef Guru: A Hybrid RAG and Fine-Tuning Framework for Personalized AI-Powered Recipe Generation</a:t>
            </a:r>
            <a:endParaRPr lang="en-US" sz="1100" dirty="0"/>
          </a:p>
        </p:txBody>
      </p:sp>
      <p:sp>
        <p:nvSpPr>
          <p:cNvPr id="2" name="Slide Number Placeholder 1">
            <a:extLst>
              <a:ext uri="{FF2B5EF4-FFF2-40B4-BE49-F238E27FC236}">
                <a16:creationId xmlns:a16="http://schemas.microsoft.com/office/drawing/2014/main" id="{4D09DBE5-1FE5-46CE-214F-1466C07F651D}"/>
              </a:ext>
            </a:extLst>
          </p:cNvPr>
          <p:cNvSpPr>
            <a:spLocks noGrp="1"/>
          </p:cNvSpPr>
          <p:nvPr>
            <p:ph type="sldNum" sz="quarter" idx="12"/>
          </p:nvPr>
        </p:nvSpPr>
        <p:spPr/>
        <p:txBody>
          <a:bodyPr/>
          <a:lstStyle/>
          <a:p>
            <a:fld id="{FC6BEB0F-7D1A-4CFC-9A6C-0E77E068DA9D}" type="slidenum">
              <a:rPr lang="en-US" smtClean="0"/>
              <a:t>34</a:t>
            </a:fld>
            <a:endParaRPr lang="en-US"/>
          </a:p>
        </p:txBody>
      </p:sp>
      <p:sp>
        <p:nvSpPr>
          <p:cNvPr id="5" name="TextBox 4">
            <a:extLst>
              <a:ext uri="{FF2B5EF4-FFF2-40B4-BE49-F238E27FC236}">
                <a16:creationId xmlns:a16="http://schemas.microsoft.com/office/drawing/2014/main" id="{BDB32C97-3339-A5CE-25B8-1567D3717186}"/>
              </a:ext>
            </a:extLst>
          </p:cNvPr>
          <p:cNvSpPr txBox="1"/>
          <p:nvPr/>
        </p:nvSpPr>
        <p:spPr>
          <a:xfrm>
            <a:off x="858520" y="612844"/>
            <a:ext cx="10474960" cy="5632311"/>
          </a:xfrm>
          <a:prstGeom prst="rect">
            <a:avLst/>
          </a:prstGeom>
          <a:noFill/>
        </p:spPr>
        <p:txBody>
          <a:bodyPr wrap="square">
            <a:spAutoFit/>
          </a:bodyPr>
          <a:lstStyle/>
          <a:p>
            <a:pPr marL="285750" indent="-28575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Home Cooking Assistance:</a:t>
            </a:r>
          </a:p>
          <a:p>
            <a:r>
              <a:rPr lang="en-US" sz="2000" dirty="0">
                <a:latin typeface="Times New Roman" panose="02020603050405020304" pitchFamily="18" charset="0"/>
                <a:cs typeface="Times New Roman" panose="02020603050405020304" pitchFamily="18" charset="0"/>
              </a:rPr>
              <a:t>The system helps users decide what to cook using the ingredients already available in their kitchen by generating personalized recipes. </a:t>
            </a:r>
          </a:p>
          <a:p>
            <a:pPr marL="285750" indent="-28575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Dietary Planning &amp; Nutrition:</a:t>
            </a:r>
          </a:p>
          <a:p>
            <a:r>
              <a:rPr lang="en-US" sz="2000" dirty="0">
                <a:latin typeface="Times New Roman" panose="02020603050405020304" pitchFamily="18" charset="0"/>
                <a:cs typeface="Times New Roman" panose="02020603050405020304" pitchFamily="18" charset="0"/>
              </a:rPr>
              <a:t>It can be used to examine historical data from medical devices and wearable systems to identify potential cyber threats and ensure the security of sensitive patient information. </a:t>
            </a:r>
          </a:p>
          <a:p>
            <a:pPr marL="285750" indent="-28575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Culinary Learning &amp; Education:</a:t>
            </a:r>
          </a:p>
          <a:p>
            <a:r>
              <a:rPr lang="en-US" sz="2000" dirty="0">
                <a:latin typeface="Times New Roman" panose="02020603050405020304" pitchFamily="18" charset="0"/>
                <a:cs typeface="Times New Roman" panose="02020603050405020304" pitchFamily="18" charset="0"/>
              </a:rPr>
              <a:t>The platform provides step-by-step cooking instructions and explanations, helping beginners understand cooking techniques and ingredient interactions.</a:t>
            </a:r>
          </a:p>
          <a:p>
            <a:pPr marL="285750" indent="-28575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Restaurant &amp; Food Service Innovation:</a:t>
            </a:r>
          </a:p>
          <a:p>
            <a:r>
              <a:rPr lang="en-US" sz="2000" dirty="0">
                <a:latin typeface="Times New Roman" panose="02020603050405020304" pitchFamily="18" charset="0"/>
                <a:cs typeface="Times New Roman" panose="02020603050405020304" pitchFamily="18" charset="0"/>
              </a:rPr>
              <a:t>Chefs and food service professionals can experiment with new dish ideas by generating recipes from different ingredient combinations.</a:t>
            </a:r>
          </a:p>
          <a:p>
            <a:pPr marL="285750" indent="-28575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Recipe Recommendation Platforms:</a:t>
            </a:r>
          </a:p>
          <a:p>
            <a:r>
              <a:rPr lang="en-US" sz="2000" dirty="0">
                <a:latin typeface="Times New Roman" panose="02020603050405020304" pitchFamily="18" charset="0"/>
                <a:cs typeface="Times New Roman" panose="02020603050405020304" pitchFamily="18" charset="0"/>
              </a:rPr>
              <a:t>The system can be integrated into food applications and recipe platforms to provide intelligent ingredient-based recipe recommendations.</a:t>
            </a:r>
          </a:p>
          <a:p>
            <a:pPr marL="285750" indent="-28575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AI Research &amp; Development:</a:t>
            </a:r>
          </a:p>
          <a:p>
            <a:r>
              <a:rPr lang="en-US" sz="2000" dirty="0">
                <a:latin typeface="Times New Roman" panose="02020603050405020304" pitchFamily="18" charset="0"/>
                <a:cs typeface="Times New Roman" panose="02020603050405020304" pitchFamily="18" charset="0"/>
              </a:rPr>
              <a:t>The framework can support research in </a:t>
            </a:r>
            <a:r>
              <a:rPr lang="en-US" sz="2000" b="1" dirty="0">
                <a:latin typeface="Times New Roman" panose="02020603050405020304" pitchFamily="18" charset="0"/>
                <a:cs typeface="Times New Roman" panose="02020603050405020304" pitchFamily="18" charset="0"/>
              </a:rPr>
              <a:t>AI-driven recipe generation, Retrieval-Augmented Generation (RAG), and domain-specific language model fine-tuning</a:t>
            </a:r>
            <a:r>
              <a:rPr lang="en-US"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4048905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16">
          <a:extLst>
            <a:ext uri="{FF2B5EF4-FFF2-40B4-BE49-F238E27FC236}">
              <a16:creationId xmlns:a16="http://schemas.microsoft.com/office/drawing/2014/main" id="{24C10CEC-8C4B-BD72-5BA3-3BD2BB5896A3}"/>
            </a:ext>
          </a:extLst>
        </p:cNvPr>
        <p:cNvGrpSpPr/>
        <p:nvPr/>
      </p:nvGrpSpPr>
      <p:grpSpPr>
        <a:xfrm>
          <a:off x="0" y="0"/>
          <a:ext cx="0" cy="0"/>
          <a:chOff x="0" y="0"/>
          <a:chExt cx="0" cy="0"/>
        </a:xfrm>
      </p:grpSpPr>
      <p:sp>
        <p:nvSpPr>
          <p:cNvPr id="217" name="Google Shape;217;p30">
            <a:extLst>
              <a:ext uri="{FF2B5EF4-FFF2-40B4-BE49-F238E27FC236}">
                <a16:creationId xmlns:a16="http://schemas.microsoft.com/office/drawing/2014/main" id="{99D3B385-CDC3-1C13-36F3-15DFE6DC353B}"/>
              </a:ext>
            </a:extLst>
          </p:cNvPr>
          <p:cNvSpPr txBox="1"/>
          <p:nvPr/>
        </p:nvSpPr>
        <p:spPr>
          <a:xfrm>
            <a:off x="4144010" y="0"/>
            <a:ext cx="3903980" cy="646290"/>
          </a:xfrm>
          <a:prstGeom prst="rect">
            <a:avLst/>
          </a:prstGeom>
          <a:noFill/>
          <a:ln>
            <a:noFill/>
          </a:ln>
        </p:spPr>
        <p:txBody>
          <a:bodyPr spcFirstLastPara="1" wrap="square" lIns="91425" tIns="45700" rIns="91425" bIns="45700" anchor="t" anchorCtr="0">
            <a:spAutoFit/>
          </a:bodyPr>
          <a:lstStyle/>
          <a:p>
            <a:pPr>
              <a:buClr>
                <a:schemeClr val="lt2"/>
              </a:buClr>
              <a:buSzPts val="2400"/>
            </a:pPr>
            <a:r>
              <a:rPr lang="en-US" sz="3600" b="1" dirty="0">
                <a:solidFill>
                  <a:schemeClr val="tx1">
                    <a:lumMod val="95000"/>
                    <a:lumOff val="5000"/>
                  </a:schemeClr>
                </a:solidFill>
                <a:effectLst>
                  <a:outerShdw blurRad="38100" dist="38100" dir="2700000" algn="tl">
                    <a:srgbClr val="000000">
                      <a:alpha val="43137"/>
                    </a:srgbClr>
                  </a:outerShdw>
                </a:effectLst>
                <a:latin typeface="Times New Roman"/>
                <a:cs typeface="Times New Roman"/>
                <a:sym typeface="Times New Roman"/>
              </a:rPr>
              <a:t>FUTURE SCOPE</a:t>
            </a:r>
            <a:endParaRPr sz="3600" b="1" dirty="0">
              <a:solidFill>
                <a:schemeClr val="tx1">
                  <a:lumMod val="95000"/>
                  <a:lumOff val="5000"/>
                </a:schemeClr>
              </a:solidFill>
              <a:effectLst>
                <a:outerShdw blurRad="38100" dist="38100" dir="2700000" algn="tl">
                  <a:srgbClr val="000000">
                    <a:alpha val="43137"/>
                  </a:srgbClr>
                </a:outerShdw>
              </a:effectLst>
            </a:endParaRPr>
          </a:p>
        </p:txBody>
      </p:sp>
      <p:sp>
        <p:nvSpPr>
          <p:cNvPr id="3" name="Footer Placeholder 2">
            <a:extLst>
              <a:ext uri="{FF2B5EF4-FFF2-40B4-BE49-F238E27FC236}">
                <a16:creationId xmlns:a16="http://schemas.microsoft.com/office/drawing/2014/main" id="{14E5587C-5EF2-AF5A-6CA4-BAC311423E40}"/>
              </a:ext>
            </a:extLst>
          </p:cNvPr>
          <p:cNvSpPr>
            <a:spLocks noGrp="1"/>
          </p:cNvSpPr>
          <p:nvPr>
            <p:ph type="ftr" sz="quarter" idx="11"/>
          </p:nvPr>
        </p:nvSpPr>
        <p:spPr/>
        <p:txBody>
          <a:bodyPr/>
          <a:lstStyle/>
          <a:p>
            <a:r>
              <a:rPr lang="en-US" sz="1100" dirty="0">
                <a:solidFill>
                  <a:schemeClr val="dk1"/>
                </a:solidFill>
                <a:latin typeface="Times New Roman"/>
                <a:ea typeface="Times New Roman"/>
                <a:cs typeface="Times New Roman"/>
                <a:sym typeface="Times New Roman"/>
              </a:rPr>
              <a:t>Chef Guru: A Hybrid RAG and Fine-Tuning Framework for Personalized AI-Powered Recipe Generation</a:t>
            </a:r>
            <a:endParaRPr lang="en-US" sz="1100" dirty="0"/>
          </a:p>
        </p:txBody>
      </p:sp>
      <p:sp>
        <p:nvSpPr>
          <p:cNvPr id="2" name="Slide Number Placeholder 1">
            <a:extLst>
              <a:ext uri="{FF2B5EF4-FFF2-40B4-BE49-F238E27FC236}">
                <a16:creationId xmlns:a16="http://schemas.microsoft.com/office/drawing/2014/main" id="{F9E77971-B173-CB54-A5F8-44638E4664D0}"/>
              </a:ext>
            </a:extLst>
          </p:cNvPr>
          <p:cNvSpPr>
            <a:spLocks noGrp="1"/>
          </p:cNvSpPr>
          <p:nvPr>
            <p:ph type="sldNum" sz="quarter" idx="12"/>
          </p:nvPr>
        </p:nvSpPr>
        <p:spPr/>
        <p:txBody>
          <a:bodyPr/>
          <a:lstStyle/>
          <a:p>
            <a:fld id="{FC6BEB0F-7D1A-4CFC-9A6C-0E77E068DA9D}" type="slidenum">
              <a:rPr lang="en-US" smtClean="0"/>
              <a:t>35</a:t>
            </a:fld>
            <a:endParaRPr lang="en-US"/>
          </a:p>
        </p:txBody>
      </p:sp>
      <p:sp>
        <p:nvSpPr>
          <p:cNvPr id="5" name="TextBox 4">
            <a:extLst>
              <a:ext uri="{FF2B5EF4-FFF2-40B4-BE49-F238E27FC236}">
                <a16:creationId xmlns:a16="http://schemas.microsoft.com/office/drawing/2014/main" id="{03221072-242F-1DBD-2EC6-E67F71317A72}"/>
              </a:ext>
            </a:extLst>
          </p:cNvPr>
          <p:cNvSpPr txBox="1"/>
          <p:nvPr/>
        </p:nvSpPr>
        <p:spPr>
          <a:xfrm>
            <a:off x="1012721" y="612844"/>
            <a:ext cx="9681464" cy="5632311"/>
          </a:xfrm>
          <a:prstGeom prst="rect">
            <a:avLst/>
          </a:prstGeom>
          <a:noFill/>
        </p:spPr>
        <p:txBody>
          <a:bodyPr wrap="square">
            <a:spAutoFit/>
          </a:bodyPr>
          <a:lstStyle/>
          <a:p>
            <a:pPr marL="285750" indent="-28575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Real-Time Data Integration:</a:t>
            </a:r>
          </a:p>
          <a:p>
            <a:r>
              <a:rPr lang="en-US" sz="2000" dirty="0">
                <a:latin typeface="Times New Roman" panose="02020603050405020304" pitchFamily="18" charset="0"/>
                <a:cs typeface="Times New Roman" panose="02020603050405020304" pitchFamily="18" charset="0"/>
              </a:rPr>
              <a:t>Extend the system to support real-time ingredient data from smart kitchen devices or inventory systems to generate recipes dynamically based on available ingredients.</a:t>
            </a:r>
          </a:p>
          <a:p>
            <a:pPr marL="285750" indent="-28575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Advanced AI Models:</a:t>
            </a:r>
          </a:p>
          <a:p>
            <a:r>
              <a:rPr lang="en-US" sz="2000" dirty="0">
                <a:latin typeface="Times New Roman" panose="02020603050405020304" pitchFamily="18" charset="0"/>
                <a:cs typeface="Times New Roman" panose="02020603050405020304" pitchFamily="18" charset="0"/>
              </a:rPr>
              <a:t>Incorporate more advanced models such as larger transformer-based architectures or multimodal AI to improve recipe generation quality and contextual understanding.</a:t>
            </a:r>
          </a:p>
          <a:p>
            <a:pPr marL="285750" indent="-28575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Enhanced </a:t>
            </a:r>
            <a:r>
              <a:rPr lang="en-US" sz="2000" b="1" dirty="0" err="1">
                <a:latin typeface="Times New Roman" panose="02020603050405020304" pitchFamily="18" charset="0"/>
                <a:cs typeface="Times New Roman" panose="02020603050405020304" pitchFamily="18" charset="0"/>
              </a:rPr>
              <a:t>Explainability</a:t>
            </a:r>
            <a:endParaRPr lang="en-US" sz="2000" b="1"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Integrate additional explainable AI techniques to provide deeper insights into how the system selects ingredients, cooking methods, and recipe steps.</a:t>
            </a:r>
          </a:p>
          <a:p>
            <a:pPr marL="285750" indent="-28575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Nutritional &amp; Dietary Intelligence:</a:t>
            </a:r>
          </a:p>
          <a:p>
            <a:r>
              <a:rPr lang="en-US" sz="2000" dirty="0">
                <a:latin typeface="Times New Roman" panose="02020603050405020304" pitchFamily="18" charset="0"/>
                <a:cs typeface="Times New Roman" panose="02020603050405020304" pitchFamily="18" charset="0"/>
              </a:rPr>
              <a:t>Extend the system to include nutritional analysis, calorie estimation, allergen detection, and personalized dietary recommendations.</a:t>
            </a:r>
          </a:p>
          <a:p>
            <a:pPr marL="285750" indent="-28575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Edge &amp; Smart Kitchen Integration:</a:t>
            </a:r>
          </a:p>
          <a:p>
            <a:r>
              <a:rPr lang="en-US" sz="2000" dirty="0">
                <a:latin typeface="Times New Roman" panose="02020603050405020304" pitchFamily="18" charset="0"/>
                <a:cs typeface="Times New Roman" panose="02020603050405020304" pitchFamily="18" charset="0"/>
              </a:rPr>
              <a:t>Optimize the system to run on edge devices or integrate with smart kitchen appliances to assist users during real-time cooking.</a:t>
            </a:r>
            <a:endParaRPr lang="en-US" sz="20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Mobile/Web Application Expansion:</a:t>
            </a:r>
          </a:p>
          <a:p>
            <a:r>
              <a:rPr lang="en-US" sz="2000" dirty="0">
                <a:latin typeface="Times New Roman" panose="02020603050405020304" pitchFamily="18" charset="0"/>
                <a:cs typeface="Times New Roman" panose="02020603050405020304" pitchFamily="18" charset="0"/>
              </a:rPr>
              <a:t>Develop a mobile application or enhanced web interface for easier ingredient input, recipe browsing, and personalized cooking assistance.</a:t>
            </a:r>
          </a:p>
        </p:txBody>
      </p:sp>
    </p:spTree>
    <p:extLst>
      <p:ext uri="{BB962C8B-B14F-4D97-AF65-F5344CB8AC3E}">
        <p14:creationId xmlns:p14="http://schemas.microsoft.com/office/powerpoint/2010/main" val="6263346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31"/>
          <p:cNvSpPr txBox="1"/>
          <p:nvPr/>
        </p:nvSpPr>
        <p:spPr>
          <a:xfrm>
            <a:off x="4443730" y="0"/>
            <a:ext cx="3304540" cy="646290"/>
          </a:xfrm>
          <a:prstGeom prst="rect">
            <a:avLst/>
          </a:prstGeom>
          <a:noFill/>
          <a:ln>
            <a:noFill/>
          </a:ln>
        </p:spPr>
        <p:txBody>
          <a:bodyPr spcFirstLastPara="1" wrap="square" lIns="91425" tIns="45700" rIns="91425" bIns="45700" anchor="t" anchorCtr="0">
            <a:spAutoFit/>
          </a:bodyPr>
          <a:lstStyle/>
          <a:p>
            <a:pPr>
              <a:buClr>
                <a:schemeClr val="lt2"/>
              </a:buClr>
              <a:buSzPts val="2400"/>
            </a:pPr>
            <a:r>
              <a:rPr lang="en-US" sz="3600" b="1">
                <a:solidFill>
                  <a:schemeClr val="tx1">
                    <a:lumMod val="95000"/>
                    <a:lumOff val="5000"/>
                  </a:schemeClr>
                </a:solidFill>
                <a:effectLst>
                  <a:outerShdw blurRad="38100" dist="38100" dir="2700000" algn="tl">
                    <a:srgbClr val="000000">
                      <a:alpha val="43137"/>
                    </a:srgbClr>
                  </a:outerShdw>
                </a:effectLst>
                <a:latin typeface="Times New Roman"/>
                <a:ea typeface="Times New Roman"/>
                <a:cs typeface="Times New Roman"/>
                <a:sym typeface="Times New Roman"/>
              </a:rPr>
              <a:t>CONCLUSION</a:t>
            </a:r>
            <a:endParaRPr sz="3600" b="1">
              <a:solidFill>
                <a:schemeClr val="tx1">
                  <a:lumMod val="95000"/>
                  <a:lumOff val="5000"/>
                </a:schemeClr>
              </a:solidFill>
              <a:effectLst>
                <a:outerShdw blurRad="38100" dist="38100" dir="2700000" algn="tl">
                  <a:srgbClr val="000000">
                    <a:alpha val="43137"/>
                  </a:srgbClr>
                </a:outerShdw>
              </a:effectLst>
            </a:endParaRPr>
          </a:p>
        </p:txBody>
      </p:sp>
      <p:sp>
        <p:nvSpPr>
          <p:cNvPr id="3" name="Footer Placeholder 2">
            <a:extLst>
              <a:ext uri="{FF2B5EF4-FFF2-40B4-BE49-F238E27FC236}">
                <a16:creationId xmlns:a16="http://schemas.microsoft.com/office/drawing/2014/main" id="{71BA3FDB-7B10-B647-D63C-5A4E62389664}"/>
              </a:ext>
            </a:extLst>
          </p:cNvPr>
          <p:cNvSpPr>
            <a:spLocks noGrp="1"/>
          </p:cNvSpPr>
          <p:nvPr>
            <p:ph type="ftr" sz="quarter" idx="11"/>
          </p:nvPr>
        </p:nvSpPr>
        <p:spPr/>
        <p:txBody>
          <a:bodyPr/>
          <a:lstStyle/>
          <a:p>
            <a:r>
              <a:rPr lang="en-US" sz="1100" dirty="0">
                <a:solidFill>
                  <a:schemeClr val="dk1"/>
                </a:solidFill>
                <a:latin typeface="Times New Roman"/>
                <a:ea typeface="Times New Roman"/>
                <a:cs typeface="Times New Roman"/>
                <a:sym typeface="Times New Roman"/>
              </a:rPr>
              <a:t>Chef Guru: A Hybrid RAG and Fine-Tuning Framework for Personalized AI-Powered Recipe Generation</a:t>
            </a:r>
            <a:endParaRPr lang="en-US" sz="1100" dirty="0"/>
          </a:p>
        </p:txBody>
      </p:sp>
      <p:sp>
        <p:nvSpPr>
          <p:cNvPr id="2" name="Slide Number Placeholder 1">
            <a:extLst>
              <a:ext uri="{FF2B5EF4-FFF2-40B4-BE49-F238E27FC236}">
                <a16:creationId xmlns:a16="http://schemas.microsoft.com/office/drawing/2014/main" id="{7F44F174-8051-8667-1D61-1A728F101844}"/>
              </a:ext>
            </a:extLst>
          </p:cNvPr>
          <p:cNvSpPr>
            <a:spLocks noGrp="1"/>
          </p:cNvSpPr>
          <p:nvPr>
            <p:ph type="sldNum" sz="quarter" idx="12"/>
          </p:nvPr>
        </p:nvSpPr>
        <p:spPr/>
        <p:txBody>
          <a:bodyPr/>
          <a:lstStyle/>
          <a:p>
            <a:fld id="{FC6BEB0F-7D1A-4CFC-9A6C-0E77E068DA9D}" type="slidenum">
              <a:rPr lang="en-US" smtClean="0"/>
              <a:t>36</a:t>
            </a:fld>
            <a:endParaRPr lang="en-US"/>
          </a:p>
        </p:txBody>
      </p:sp>
      <p:sp>
        <p:nvSpPr>
          <p:cNvPr id="5" name="TextBox 4">
            <a:extLst>
              <a:ext uri="{FF2B5EF4-FFF2-40B4-BE49-F238E27FC236}">
                <a16:creationId xmlns:a16="http://schemas.microsoft.com/office/drawing/2014/main" id="{E1524E66-41B4-1F86-D9A0-DD793465ADCB}"/>
              </a:ext>
            </a:extLst>
          </p:cNvPr>
          <p:cNvSpPr txBox="1"/>
          <p:nvPr/>
        </p:nvSpPr>
        <p:spPr>
          <a:xfrm>
            <a:off x="1386840" y="416705"/>
            <a:ext cx="9418320" cy="6038641"/>
          </a:xfrm>
          <a:prstGeom prst="rect">
            <a:avLst/>
          </a:prstGeom>
          <a:noFill/>
        </p:spPr>
        <p:txBody>
          <a:bodyPr wrap="square">
            <a:spAutoFit/>
          </a:bodyPr>
          <a:lstStyle/>
          <a:p>
            <a:pPr>
              <a:lnSpc>
                <a:spcPct val="150000"/>
              </a:lnSpc>
            </a:pPr>
            <a:r>
              <a:rPr lang="en-US" sz="2000" dirty="0">
                <a:latin typeface="Times New Roman" panose="02020603050405020304" pitchFamily="18" charset="0"/>
                <a:cs typeface="Times New Roman" panose="02020603050405020304" pitchFamily="18" charset="0"/>
              </a:rPr>
              <a:t>The project successfully develops an advanced AI-powered recipe generation system by integrating Retrieval-Augmented Generation (RAG) with </a:t>
            </a:r>
            <a:r>
              <a:rPr lang="en-US" sz="2000" dirty="0" err="1">
                <a:latin typeface="Times New Roman" panose="02020603050405020304" pitchFamily="18" charset="0"/>
                <a:cs typeface="Times New Roman" panose="02020603050405020304" pitchFamily="18" charset="0"/>
              </a:rPr>
              <a:t>QLoRA</a:t>
            </a:r>
            <a:r>
              <a:rPr lang="en-US" sz="2000" dirty="0">
                <a:latin typeface="Times New Roman" panose="02020603050405020304" pitchFamily="18" charset="0"/>
                <a:cs typeface="Times New Roman" panose="02020603050405020304" pitchFamily="18" charset="0"/>
              </a:rPr>
              <a:t>-based fine-tuning of the Phi-3 Mini language model. By combining semantic retrieval using </a:t>
            </a:r>
            <a:r>
              <a:rPr lang="en-US" sz="2000" dirty="0" err="1">
                <a:latin typeface="Times New Roman" panose="02020603050405020304" pitchFamily="18" charset="0"/>
                <a:cs typeface="Times New Roman" panose="02020603050405020304" pitchFamily="18" charset="0"/>
              </a:rPr>
              <a:t>SentenceTransformer</a:t>
            </a:r>
            <a:r>
              <a:rPr lang="en-US" sz="2000" dirty="0">
                <a:latin typeface="Times New Roman" panose="02020603050405020304" pitchFamily="18" charset="0"/>
                <a:cs typeface="Times New Roman" panose="02020603050405020304" pitchFamily="18" charset="0"/>
              </a:rPr>
              <a:t> embeddings and </a:t>
            </a:r>
            <a:r>
              <a:rPr lang="en-US" sz="2000" dirty="0" err="1">
                <a:latin typeface="Times New Roman" panose="02020603050405020304" pitchFamily="18" charset="0"/>
                <a:cs typeface="Times New Roman" panose="02020603050405020304" pitchFamily="18" charset="0"/>
              </a:rPr>
              <a:t>ChromaDB</a:t>
            </a:r>
            <a:r>
              <a:rPr lang="en-US" sz="2000" dirty="0">
                <a:latin typeface="Times New Roman" panose="02020603050405020304" pitchFamily="18" charset="0"/>
                <a:cs typeface="Times New Roman" panose="02020603050405020304" pitchFamily="18" charset="0"/>
              </a:rPr>
              <a:t> with a fine-tuned generative model, the system improves recipe relevance, coherence, and ingredient consistency. The use of cross-encoder re-ranking further refines the retrieval process by selecting the most relevant recipes from the dataset, ensuring that the generated outputs are contextually grounded and practically usable. The system also provides step-level culinary explanations, offering insights into cooking techniques and ingredient interactions to enhance user understanding. Furthermore, a React-based dashboard interface allows users to input ingredients, generate recipes, and view structured results through an interactive platform. Overall, the system demonstrates a practical and scalable approach to AI-driven recipe generation, effectively bridging the gap between ingredient availability and personalized meal preparation.</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23">
          <a:extLst>
            <a:ext uri="{FF2B5EF4-FFF2-40B4-BE49-F238E27FC236}">
              <a16:creationId xmlns:a16="http://schemas.microsoft.com/office/drawing/2014/main" id="{8B287930-85A7-27CD-FC31-164FD61C7A71}"/>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CE4211B4-4D6C-93D7-34BA-39A49FDA74B9}"/>
              </a:ext>
            </a:extLst>
          </p:cNvPr>
          <p:cNvSpPr>
            <a:spLocks noGrp="1"/>
          </p:cNvSpPr>
          <p:nvPr>
            <p:ph type="ftr" sz="quarter" idx="11"/>
          </p:nvPr>
        </p:nvSpPr>
        <p:spPr/>
        <p:txBody>
          <a:bodyPr/>
          <a:lstStyle/>
          <a:p>
            <a:r>
              <a:rPr lang="en-US" sz="1100" dirty="0">
                <a:solidFill>
                  <a:schemeClr val="dk1"/>
                </a:solidFill>
                <a:latin typeface="Times New Roman"/>
                <a:ea typeface="Times New Roman"/>
                <a:cs typeface="Times New Roman"/>
                <a:sym typeface="Times New Roman"/>
              </a:rPr>
              <a:t>Chef Guru: A Hybrid RAG and Fine-Tuning Framework for Personalized AI-Powered Recipe Generation</a:t>
            </a:r>
            <a:endParaRPr lang="en-US" sz="1100" dirty="0"/>
          </a:p>
        </p:txBody>
      </p:sp>
      <p:sp>
        <p:nvSpPr>
          <p:cNvPr id="2" name="Slide Number Placeholder 1">
            <a:extLst>
              <a:ext uri="{FF2B5EF4-FFF2-40B4-BE49-F238E27FC236}">
                <a16:creationId xmlns:a16="http://schemas.microsoft.com/office/drawing/2014/main" id="{6912BE70-CBBD-2F5D-DB82-2B3242F922D8}"/>
              </a:ext>
            </a:extLst>
          </p:cNvPr>
          <p:cNvSpPr>
            <a:spLocks noGrp="1"/>
          </p:cNvSpPr>
          <p:nvPr>
            <p:ph type="sldNum" sz="quarter" idx="12"/>
          </p:nvPr>
        </p:nvSpPr>
        <p:spPr/>
        <p:txBody>
          <a:bodyPr/>
          <a:lstStyle/>
          <a:p>
            <a:fld id="{FC6BEB0F-7D1A-4CFC-9A6C-0E77E068DA9D}" type="slidenum">
              <a:rPr lang="en-US" smtClean="0"/>
              <a:t>37</a:t>
            </a:fld>
            <a:endParaRPr lang="en-US"/>
          </a:p>
        </p:txBody>
      </p:sp>
      <p:sp>
        <p:nvSpPr>
          <p:cNvPr id="7" name="TextBox 6">
            <a:extLst>
              <a:ext uri="{FF2B5EF4-FFF2-40B4-BE49-F238E27FC236}">
                <a16:creationId xmlns:a16="http://schemas.microsoft.com/office/drawing/2014/main" id="{5200AB29-C2CF-BE26-0828-503E45304FB7}"/>
              </a:ext>
            </a:extLst>
          </p:cNvPr>
          <p:cNvSpPr txBox="1"/>
          <p:nvPr/>
        </p:nvSpPr>
        <p:spPr>
          <a:xfrm>
            <a:off x="1219200" y="766732"/>
            <a:ext cx="8930640" cy="5016758"/>
          </a:xfrm>
          <a:prstGeom prst="rect">
            <a:avLst/>
          </a:prstGeom>
          <a:noFill/>
        </p:spPr>
        <p:txBody>
          <a:bodyPr wrap="square">
            <a:spAutoFit/>
          </a:bodyPr>
          <a:lstStyle/>
          <a:p>
            <a:pPr marL="285750" indent="-28575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Lack of Real-Time Processing:</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The system currently relies on user-provided ingredient inputs and a pre-collected recipe dataset. It does not integrate with real-time kitchen inventory systems or smart appliances to automatically detect available ingredients.</a:t>
            </a:r>
          </a:p>
          <a:p>
            <a:pPr marL="285750" indent="-28575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Limited Edge Deployment: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The current implementation depends on backend servers and AI model inference resources, making it challenging to deploy directly on low-power devices or run fully offline without sufficient computational support.</a:t>
            </a:r>
          </a:p>
          <a:p>
            <a:pPr marL="285750" indent="-28575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No Automated Response Mechanism:</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The performance of the system depends heavily on the quality and diversity of the </a:t>
            </a:r>
            <a:r>
              <a:rPr lang="en-US" sz="2000" dirty="0" err="1">
                <a:latin typeface="Times New Roman" panose="02020603050405020304" pitchFamily="18" charset="0"/>
                <a:cs typeface="Times New Roman" panose="02020603050405020304" pitchFamily="18" charset="0"/>
              </a:rPr>
              <a:t>RecipeNLG</a:t>
            </a:r>
            <a:r>
              <a:rPr lang="en-US" sz="2000" dirty="0">
                <a:latin typeface="Times New Roman" panose="02020603050405020304" pitchFamily="18" charset="0"/>
                <a:cs typeface="Times New Roman" panose="02020603050405020304" pitchFamily="18" charset="0"/>
              </a:rPr>
              <a:t> dataset. Rare or culturally specific ingredient combinations that are underrepresented in the dataset may affect recipe relevance.</a:t>
            </a:r>
          </a:p>
          <a:p>
            <a:pPr marL="285750" indent="-28575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Dependence on Data Quality:</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Certain components such as language models and translation services rely on external APIs or hosted inference services, which may introduce latency or availability constraints..</a:t>
            </a:r>
          </a:p>
        </p:txBody>
      </p:sp>
      <p:sp>
        <p:nvSpPr>
          <p:cNvPr id="10" name="TextBox 9">
            <a:extLst>
              <a:ext uri="{FF2B5EF4-FFF2-40B4-BE49-F238E27FC236}">
                <a16:creationId xmlns:a16="http://schemas.microsoft.com/office/drawing/2014/main" id="{6A154954-366B-B261-1BF3-8CE521ADA2DB}"/>
              </a:ext>
            </a:extLst>
          </p:cNvPr>
          <p:cNvSpPr txBox="1"/>
          <p:nvPr/>
        </p:nvSpPr>
        <p:spPr>
          <a:xfrm>
            <a:off x="3947160" y="0"/>
            <a:ext cx="4297680" cy="646331"/>
          </a:xfrm>
          <a:prstGeom prst="rect">
            <a:avLst/>
          </a:prstGeom>
          <a:noFill/>
        </p:spPr>
        <p:txBody>
          <a:bodyPr wrap="square">
            <a:spAutoFit/>
          </a:bodyPr>
          <a:lstStyle/>
          <a:p>
            <a:r>
              <a:rPr lang="en-IN" sz="3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Current Limitations</a:t>
            </a:r>
          </a:p>
        </p:txBody>
      </p:sp>
    </p:spTree>
    <p:extLst>
      <p:ext uri="{BB962C8B-B14F-4D97-AF65-F5344CB8AC3E}">
        <p14:creationId xmlns:p14="http://schemas.microsoft.com/office/powerpoint/2010/main" val="3908552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32"/>
          <p:cNvSpPr txBox="1"/>
          <p:nvPr/>
        </p:nvSpPr>
        <p:spPr>
          <a:xfrm>
            <a:off x="1524000" y="0"/>
            <a:ext cx="5715000" cy="462000"/>
          </a:xfrm>
          <a:prstGeom prst="rect">
            <a:avLst/>
          </a:prstGeom>
          <a:solidFill>
            <a:srgbClr val="604A7B"/>
          </a:solidFill>
          <a:ln>
            <a:noFill/>
          </a:ln>
        </p:spPr>
        <p:txBody>
          <a:bodyPr spcFirstLastPara="1" wrap="square" lIns="91425" tIns="45700" rIns="91425" bIns="45700" anchor="t" anchorCtr="0">
            <a:spAutoFit/>
          </a:bodyPr>
          <a:lstStyle/>
          <a:p>
            <a:pPr>
              <a:buClr>
                <a:schemeClr val="lt2"/>
              </a:buClr>
              <a:buSzPts val="2400"/>
            </a:pPr>
            <a:r>
              <a:rPr lang="en-US" sz="2400">
                <a:solidFill>
                  <a:schemeClr val="lt2"/>
                </a:solidFill>
                <a:latin typeface="Times New Roman"/>
                <a:ea typeface="Times New Roman"/>
                <a:cs typeface="Times New Roman"/>
                <a:sym typeface="Times New Roman"/>
              </a:rPr>
              <a:t>REFERENCES</a:t>
            </a:r>
            <a:endParaRPr/>
          </a:p>
        </p:txBody>
      </p:sp>
      <p:sp>
        <p:nvSpPr>
          <p:cNvPr id="3" name="Footer Placeholder 2">
            <a:extLst>
              <a:ext uri="{FF2B5EF4-FFF2-40B4-BE49-F238E27FC236}">
                <a16:creationId xmlns:a16="http://schemas.microsoft.com/office/drawing/2014/main" id="{5D0C5C9D-6EE9-5FDC-E2E7-D06722A67C99}"/>
              </a:ext>
            </a:extLst>
          </p:cNvPr>
          <p:cNvSpPr>
            <a:spLocks noGrp="1"/>
          </p:cNvSpPr>
          <p:nvPr>
            <p:ph type="ftr" sz="quarter" idx="11"/>
          </p:nvPr>
        </p:nvSpPr>
        <p:spPr/>
        <p:txBody>
          <a:bodyPr/>
          <a:lstStyle/>
          <a:p>
            <a:r>
              <a:rPr lang="en-US" sz="1100" dirty="0">
                <a:solidFill>
                  <a:schemeClr val="dk1"/>
                </a:solidFill>
                <a:latin typeface="Times New Roman"/>
                <a:ea typeface="Times New Roman"/>
                <a:cs typeface="Times New Roman"/>
                <a:sym typeface="Times New Roman"/>
              </a:rPr>
              <a:t>Chef Guru: A Hybrid RAG and Fine-Tuning Framework for Personalized AI-Powered Recipe Generation</a:t>
            </a:r>
            <a:endParaRPr lang="en-US" sz="1100" dirty="0"/>
          </a:p>
        </p:txBody>
      </p:sp>
      <p:sp>
        <p:nvSpPr>
          <p:cNvPr id="2" name="Slide Number Placeholder 1">
            <a:extLst>
              <a:ext uri="{FF2B5EF4-FFF2-40B4-BE49-F238E27FC236}">
                <a16:creationId xmlns:a16="http://schemas.microsoft.com/office/drawing/2014/main" id="{A4BFB16E-FC77-D7C0-E965-920D89E30C0A}"/>
              </a:ext>
            </a:extLst>
          </p:cNvPr>
          <p:cNvSpPr>
            <a:spLocks noGrp="1"/>
          </p:cNvSpPr>
          <p:nvPr>
            <p:ph type="sldNum" sz="quarter" idx="12"/>
          </p:nvPr>
        </p:nvSpPr>
        <p:spPr/>
        <p:txBody>
          <a:bodyPr/>
          <a:lstStyle/>
          <a:p>
            <a:fld id="{FC6BEB0F-7D1A-4CFC-9A6C-0E77E068DA9D}" type="slidenum">
              <a:rPr lang="en-US" smtClean="0"/>
              <a:t>38</a:t>
            </a:fld>
            <a:endParaRPr lang="en-US"/>
          </a:p>
        </p:txBody>
      </p:sp>
      <p:sp>
        <p:nvSpPr>
          <p:cNvPr id="5" name="TextBox 4">
            <a:extLst>
              <a:ext uri="{FF2B5EF4-FFF2-40B4-BE49-F238E27FC236}">
                <a16:creationId xmlns:a16="http://schemas.microsoft.com/office/drawing/2014/main" id="{7606E730-A9C8-EC2C-F9D2-16CDE72E41E2}"/>
              </a:ext>
            </a:extLst>
          </p:cNvPr>
          <p:cNvSpPr txBox="1"/>
          <p:nvPr/>
        </p:nvSpPr>
        <p:spPr>
          <a:xfrm>
            <a:off x="1351280" y="568961"/>
            <a:ext cx="9022080" cy="5324535"/>
          </a:xfrm>
          <a:prstGeom prst="rect">
            <a:avLst/>
          </a:prstGeom>
          <a:noFill/>
        </p:spPr>
        <p:txBody>
          <a:bodyPr wrap="square">
            <a:spAutoFit/>
          </a:bodyPr>
          <a:lstStyle/>
          <a:p>
            <a:r>
              <a:rPr lang="en-IN" sz="2000" dirty="0">
                <a:latin typeface="Times New Roman" panose="02020603050405020304" pitchFamily="18" charset="0"/>
                <a:cs typeface="Times New Roman" panose="02020603050405020304" pitchFamily="18" charset="0"/>
              </a:rPr>
              <a:t>[1] </a:t>
            </a:r>
            <a:r>
              <a:rPr lang="en-US" sz="2000" dirty="0">
                <a:latin typeface="Times New Roman" panose="02020603050405020304" pitchFamily="18" charset="0"/>
                <a:cs typeface="Times New Roman" panose="02020603050405020304" pitchFamily="18" charset="0"/>
              </a:rPr>
              <a:t>T. </a:t>
            </a:r>
            <a:r>
              <a:rPr lang="en-US" sz="2000" dirty="0" err="1">
                <a:latin typeface="Times New Roman" panose="02020603050405020304" pitchFamily="18" charset="0"/>
                <a:cs typeface="Times New Roman" panose="02020603050405020304" pitchFamily="18" charset="0"/>
              </a:rPr>
              <a:t>Dettmers</a:t>
            </a:r>
            <a:r>
              <a:rPr lang="en-US" sz="2000" dirty="0">
                <a:latin typeface="Times New Roman" panose="02020603050405020304" pitchFamily="18" charset="0"/>
                <a:cs typeface="Times New Roman" panose="02020603050405020304" pitchFamily="18" charset="0"/>
              </a:rPr>
              <a:t> et al., </a:t>
            </a:r>
            <a:r>
              <a:rPr lang="en-US" sz="2000" i="1" dirty="0">
                <a:latin typeface="Times New Roman" panose="02020603050405020304" pitchFamily="18" charset="0"/>
                <a:cs typeface="Times New Roman" panose="02020603050405020304" pitchFamily="18" charset="0"/>
              </a:rPr>
              <a:t>“</a:t>
            </a:r>
            <a:r>
              <a:rPr lang="en-US" sz="2000" i="1" dirty="0" err="1">
                <a:latin typeface="Times New Roman" panose="02020603050405020304" pitchFamily="18" charset="0"/>
                <a:cs typeface="Times New Roman" panose="02020603050405020304" pitchFamily="18" charset="0"/>
              </a:rPr>
              <a:t>QLoRA</a:t>
            </a:r>
            <a:r>
              <a:rPr lang="en-US" sz="2000" i="1" dirty="0">
                <a:latin typeface="Times New Roman" panose="02020603050405020304" pitchFamily="18" charset="0"/>
                <a:cs typeface="Times New Roman" panose="02020603050405020304" pitchFamily="18" charset="0"/>
              </a:rPr>
              <a:t>: Efficient Finetuning of Quantized LLMs,”</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NeurIPS</a:t>
            </a:r>
            <a:r>
              <a:rPr lang="en-US" sz="2000" dirty="0">
                <a:latin typeface="Times New Roman" panose="02020603050405020304" pitchFamily="18" charset="0"/>
                <a:cs typeface="Times New Roman" panose="02020603050405020304" pitchFamily="18" charset="0"/>
              </a:rPr>
              <a:t>, 2023. Introduces </a:t>
            </a:r>
            <a:r>
              <a:rPr lang="en-US" sz="2000" dirty="0" err="1">
                <a:latin typeface="Times New Roman" panose="02020603050405020304" pitchFamily="18" charset="0"/>
                <a:cs typeface="Times New Roman" panose="02020603050405020304" pitchFamily="18" charset="0"/>
              </a:rPr>
              <a:t>QLoRA</a:t>
            </a:r>
            <a:r>
              <a:rPr lang="en-US" sz="2000" dirty="0">
                <a:latin typeface="Times New Roman" panose="02020603050405020304" pitchFamily="18" charset="0"/>
                <a:cs typeface="Times New Roman" panose="02020603050405020304" pitchFamily="18" charset="0"/>
              </a:rPr>
              <a:t>, a parameter-efficient method for fine-tuning large language models with reduced memory and computational requirements.</a:t>
            </a:r>
          </a:p>
          <a:p>
            <a:r>
              <a:rPr lang="en-IN" sz="2000" dirty="0">
                <a:latin typeface="Times New Roman" panose="02020603050405020304" pitchFamily="18" charset="0"/>
                <a:cs typeface="Times New Roman" panose="02020603050405020304" pitchFamily="18" charset="0"/>
              </a:rPr>
              <a:t>[2] </a:t>
            </a:r>
            <a:r>
              <a:rPr lang="en-US" sz="2000" dirty="0">
                <a:latin typeface="Times New Roman" panose="02020603050405020304" pitchFamily="18" charset="0"/>
                <a:cs typeface="Times New Roman" panose="02020603050405020304" pitchFamily="18" charset="0"/>
              </a:rPr>
              <a:t>Y. Gao et al., </a:t>
            </a:r>
            <a:r>
              <a:rPr lang="en-US" sz="2000" i="1" dirty="0">
                <a:latin typeface="Times New Roman" panose="02020603050405020304" pitchFamily="18" charset="0"/>
                <a:cs typeface="Times New Roman" panose="02020603050405020304" pitchFamily="18" charset="0"/>
              </a:rPr>
              <a:t>“Retrieval-Augmented Generation for LLMs: A Survey,”</a:t>
            </a:r>
            <a:r>
              <a:rPr lang="en-US" sz="2000" dirty="0">
                <a:latin typeface="Times New Roman" panose="02020603050405020304" pitchFamily="18" charset="0"/>
                <a:cs typeface="Times New Roman" panose="02020603050405020304" pitchFamily="18" charset="0"/>
              </a:rPr>
              <a:t> 2024. Provides an overview of RAG architectures that combine retrieval mechanisms with language models to improve contextual grounding.</a:t>
            </a:r>
          </a:p>
          <a:p>
            <a:r>
              <a:rPr lang="en-IN" sz="2000" dirty="0">
                <a:latin typeface="Times New Roman" panose="02020603050405020304" pitchFamily="18" charset="0"/>
                <a:cs typeface="Times New Roman" panose="02020603050405020304" pitchFamily="18" charset="0"/>
              </a:rPr>
              <a:t>[3] </a:t>
            </a:r>
            <a:r>
              <a:rPr lang="en-US" sz="2000" dirty="0">
                <a:latin typeface="Times New Roman" panose="02020603050405020304" pitchFamily="18" charset="0"/>
                <a:cs typeface="Times New Roman" panose="02020603050405020304" pitchFamily="18" charset="0"/>
              </a:rPr>
              <a:t>L. Wang et al., </a:t>
            </a:r>
            <a:r>
              <a:rPr lang="en-US" sz="2000" i="1" dirty="0">
                <a:latin typeface="Times New Roman" panose="02020603050405020304" pitchFamily="18" charset="0"/>
                <a:cs typeface="Times New Roman" panose="02020603050405020304" pitchFamily="18" charset="0"/>
              </a:rPr>
              <a:t>“Query2doc: Query Expansion with Large Language Models,”</a:t>
            </a:r>
            <a:r>
              <a:rPr lang="en-US" sz="2000" dirty="0">
                <a:latin typeface="Times New Roman" panose="02020603050405020304" pitchFamily="18" charset="0"/>
                <a:cs typeface="Times New Roman" panose="02020603050405020304" pitchFamily="18" charset="0"/>
              </a:rPr>
              <a:t> 2023. Proposes a query expansion technique using LLMs to improve semantic retrieval performance.</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[4] </a:t>
            </a:r>
            <a:r>
              <a:rPr lang="en-US" sz="2000" dirty="0">
                <a:latin typeface="Times New Roman" panose="02020603050405020304" pitchFamily="18" charset="0"/>
                <a:cs typeface="Times New Roman" panose="02020603050405020304" pitchFamily="18" charset="0"/>
              </a:rPr>
              <a:t>R. Nogueira and K. Cho, </a:t>
            </a:r>
            <a:r>
              <a:rPr lang="en-US" sz="2000" i="1" dirty="0">
                <a:latin typeface="Times New Roman" panose="02020603050405020304" pitchFamily="18" charset="0"/>
                <a:cs typeface="Times New Roman" panose="02020603050405020304" pitchFamily="18" charset="0"/>
              </a:rPr>
              <a:t>“Passage Re-ranking with BERT,”</a:t>
            </a:r>
            <a:r>
              <a:rPr lang="en-US" sz="2000" dirty="0">
                <a:latin typeface="Times New Roman" panose="02020603050405020304" pitchFamily="18" charset="0"/>
                <a:cs typeface="Times New Roman" panose="02020603050405020304" pitchFamily="18" charset="0"/>
              </a:rPr>
              <a:t> 2020. Introduces cross-encoder re-ranking to improve retrieval accuracy by evaluating query-document relevance.</a:t>
            </a:r>
            <a:r>
              <a:rPr lang="en-IN" sz="2000" dirty="0">
                <a:latin typeface="Times New Roman" panose="02020603050405020304" pitchFamily="18" charset="0"/>
                <a:cs typeface="Times New Roman" panose="02020603050405020304" pitchFamily="18" charset="0"/>
              </a:rPr>
              <a:t> </a:t>
            </a:r>
          </a:p>
          <a:p>
            <a:r>
              <a:rPr lang="en-IN" sz="2000" dirty="0">
                <a:latin typeface="Times New Roman" panose="02020603050405020304" pitchFamily="18" charset="0"/>
                <a:cs typeface="Times New Roman" panose="02020603050405020304" pitchFamily="18" charset="0"/>
              </a:rPr>
              <a:t>[5] </a:t>
            </a:r>
            <a:r>
              <a:rPr lang="en-US" sz="2000" dirty="0">
                <a:latin typeface="Times New Roman" panose="02020603050405020304" pitchFamily="18" charset="0"/>
                <a:cs typeface="Times New Roman" panose="02020603050405020304" pitchFamily="18" charset="0"/>
              </a:rPr>
              <a:t>M. </a:t>
            </a:r>
            <a:r>
              <a:rPr lang="en-US" sz="2000" dirty="0" err="1">
                <a:latin typeface="Times New Roman" panose="02020603050405020304" pitchFamily="18" charset="0"/>
                <a:cs typeface="Times New Roman" panose="02020603050405020304" pitchFamily="18" charset="0"/>
              </a:rPr>
              <a:t>Bień</a:t>
            </a:r>
            <a:r>
              <a:rPr lang="en-US" sz="2000" dirty="0">
                <a:latin typeface="Times New Roman" panose="02020603050405020304" pitchFamily="18" charset="0"/>
                <a:cs typeface="Times New Roman" panose="02020603050405020304" pitchFamily="18" charset="0"/>
              </a:rPr>
              <a:t> et al., </a:t>
            </a:r>
            <a:r>
              <a:rPr lang="en-US" sz="2000" i="1" dirty="0">
                <a:latin typeface="Times New Roman" panose="02020603050405020304" pitchFamily="18" charset="0"/>
                <a:cs typeface="Times New Roman" panose="02020603050405020304" pitchFamily="18" charset="0"/>
              </a:rPr>
              <a:t>“</a:t>
            </a:r>
            <a:r>
              <a:rPr lang="en-US" sz="2000" i="1" dirty="0" err="1">
                <a:latin typeface="Times New Roman" panose="02020603050405020304" pitchFamily="18" charset="0"/>
                <a:cs typeface="Times New Roman" panose="02020603050405020304" pitchFamily="18" charset="0"/>
              </a:rPr>
              <a:t>RecipeNLG</a:t>
            </a:r>
            <a:r>
              <a:rPr lang="en-US" sz="2000" i="1" dirty="0">
                <a:latin typeface="Times New Roman" panose="02020603050405020304" pitchFamily="18" charset="0"/>
                <a:cs typeface="Times New Roman" panose="02020603050405020304" pitchFamily="18" charset="0"/>
              </a:rPr>
              <a:t>: A Cooking Recipes Dataset,”</a:t>
            </a:r>
            <a:r>
              <a:rPr lang="en-US" sz="2000" dirty="0">
                <a:latin typeface="Times New Roman" panose="02020603050405020304" pitchFamily="18" charset="0"/>
                <a:cs typeface="Times New Roman" panose="02020603050405020304" pitchFamily="18" charset="0"/>
              </a:rPr>
              <a:t> 2020. Presents the </a:t>
            </a:r>
            <a:r>
              <a:rPr lang="en-US" sz="2000" dirty="0" err="1">
                <a:latin typeface="Times New Roman" panose="02020603050405020304" pitchFamily="18" charset="0"/>
                <a:cs typeface="Times New Roman" panose="02020603050405020304" pitchFamily="18" charset="0"/>
              </a:rPr>
              <a:t>RecipeNLG</a:t>
            </a:r>
            <a:r>
              <a:rPr lang="en-US" sz="2000" dirty="0">
                <a:latin typeface="Times New Roman" panose="02020603050405020304" pitchFamily="18" charset="0"/>
                <a:cs typeface="Times New Roman" panose="02020603050405020304" pitchFamily="18" charset="0"/>
              </a:rPr>
              <a:t> dataset used for training and evaluating recipe generation models.</a:t>
            </a:r>
          </a:p>
          <a:p>
            <a:r>
              <a:rPr lang="en-IN" sz="2000" dirty="0">
                <a:latin typeface="Times New Roman" panose="02020603050405020304" pitchFamily="18" charset="0"/>
                <a:cs typeface="Times New Roman" panose="02020603050405020304" pitchFamily="18" charset="0"/>
              </a:rPr>
              <a:t>[6]</a:t>
            </a:r>
            <a:r>
              <a:rPr lang="en-US" sz="2000" dirty="0">
                <a:latin typeface="Times New Roman" panose="02020603050405020304" pitchFamily="18" charset="0"/>
                <a:cs typeface="Times New Roman" panose="02020603050405020304" pitchFamily="18" charset="0"/>
              </a:rPr>
              <a:t> E. J. Hu et al., </a:t>
            </a:r>
            <a:r>
              <a:rPr lang="en-US" sz="2000" i="1" dirty="0">
                <a:latin typeface="Times New Roman" panose="02020603050405020304" pitchFamily="18" charset="0"/>
                <a:cs typeface="Times New Roman" panose="02020603050405020304" pitchFamily="18" charset="0"/>
              </a:rPr>
              <a:t>“</a:t>
            </a:r>
            <a:r>
              <a:rPr lang="en-US" sz="2000" i="1" dirty="0" err="1">
                <a:latin typeface="Times New Roman" panose="02020603050405020304" pitchFamily="18" charset="0"/>
                <a:cs typeface="Times New Roman" panose="02020603050405020304" pitchFamily="18" charset="0"/>
              </a:rPr>
              <a:t>LoRA</a:t>
            </a:r>
            <a:r>
              <a:rPr lang="en-US" sz="2000" i="1" dirty="0">
                <a:latin typeface="Times New Roman" panose="02020603050405020304" pitchFamily="18" charset="0"/>
                <a:cs typeface="Times New Roman" panose="02020603050405020304" pitchFamily="18" charset="0"/>
              </a:rPr>
              <a:t>: Low-Rank Adaptation of Large Language Models,”</a:t>
            </a:r>
            <a:r>
              <a:rPr lang="en-US" sz="2000" dirty="0">
                <a:latin typeface="Times New Roman" panose="02020603050405020304" pitchFamily="18" charset="0"/>
                <a:cs typeface="Times New Roman" panose="02020603050405020304" pitchFamily="18" charset="0"/>
              </a:rPr>
              <a:t> ICLR, 2021. Introduces </a:t>
            </a:r>
            <a:r>
              <a:rPr lang="en-US" sz="2000" dirty="0" err="1">
                <a:latin typeface="Times New Roman" panose="02020603050405020304" pitchFamily="18" charset="0"/>
                <a:cs typeface="Times New Roman" panose="02020603050405020304" pitchFamily="18" charset="0"/>
              </a:rPr>
              <a:t>LoRA</a:t>
            </a:r>
            <a:r>
              <a:rPr lang="en-US" sz="2000" dirty="0">
                <a:latin typeface="Times New Roman" panose="02020603050405020304" pitchFamily="18" charset="0"/>
                <a:cs typeface="Times New Roman" panose="02020603050405020304" pitchFamily="18" charset="0"/>
              </a:rPr>
              <a:t>, a parameter-efficient technique for adapting large language models using low-rank matrices.</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34"/>
          <p:cNvSpPr txBox="1"/>
          <p:nvPr/>
        </p:nvSpPr>
        <p:spPr>
          <a:xfrm>
            <a:off x="4267200" y="1828800"/>
            <a:ext cx="4038600" cy="1446300"/>
          </a:xfrm>
          <a:prstGeom prst="rect">
            <a:avLst/>
          </a:prstGeom>
          <a:noFill/>
          <a:ln>
            <a:noFill/>
          </a:ln>
        </p:spPr>
        <p:txBody>
          <a:bodyPr spcFirstLastPara="1" wrap="square" lIns="91425" tIns="45700" rIns="91425" bIns="45700" anchor="t" anchorCtr="0">
            <a:spAutoFit/>
          </a:bodyPr>
          <a:lstStyle/>
          <a:p>
            <a:pPr>
              <a:buClr>
                <a:srgbClr val="7030A0"/>
              </a:buClr>
              <a:buSzPts val="4400"/>
            </a:pPr>
            <a:r>
              <a:rPr lang="en-US" sz="4400">
                <a:solidFill>
                  <a:srgbClr val="7030A0"/>
                </a:solidFill>
                <a:latin typeface="Times New Roman"/>
                <a:ea typeface="Times New Roman"/>
                <a:cs typeface="Times New Roman"/>
                <a:sym typeface="Times New Roman"/>
              </a:rPr>
              <a:t>ANY</a:t>
            </a:r>
            <a:endParaRPr/>
          </a:p>
          <a:p>
            <a:pPr lvl="1">
              <a:buClr>
                <a:srgbClr val="7030A0"/>
              </a:buClr>
              <a:buSzPts val="4400"/>
            </a:pPr>
            <a:r>
              <a:rPr lang="en-US" sz="4400">
                <a:solidFill>
                  <a:srgbClr val="7030A0"/>
                </a:solidFill>
                <a:latin typeface="Times New Roman"/>
                <a:ea typeface="Times New Roman"/>
                <a:cs typeface="Times New Roman"/>
                <a:sym typeface="Times New Roman"/>
              </a:rPr>
              <a:t>QUESTIONS?</a:t>
            </a:r>
            <a:endParaRPr/>
          </a:p>
        </p:txBody>
      </p:sp>
      <p:sp>
        <p:nvSpPr>
          <p:cNvPr id="2" name="Footer Placeholder 1">
            <a:extLst>
              <a:ext uri="{FF2B5EF4-FFF2-40B4-BE49-F238E27FC236}">
                <a16:creationId xmlns:a16="http://schemas.microsoft.com/office/drawing/2014/main" id="{3B642F20-7A11-386C-E16F-8581AEF65B0B}"/>
              </a:ext>
            </a:extLst>
          </p:cNvPr>
          <p:cNvSpPr>
            <a:spLocks noGrp="1"/>
          </p:cNvSpPr>
          <p:nvPr>
            <p:ph type="ftr" sz="quarter" idx="11"/>
          </p:nvPr>
        </p:nvSpPr>
        <p:spPr/>
        <p:txBody>
          <a:bodyPr/>
          <a:lstStyle/>
          <a:p>
            <a:r>
              <a:rPr lang="en-US" sz="1100" dirty="0">
                <a:solidFill>
                  <a:schemeClr val="dk1"/>
                </a:solidFill>
                <a:latin typeface="Times New Roman"/>
                <a:ea typeface="Times New Roman"/>
                <a:cs typeface="Times New Roman"/>
                <a:sym typeface="Times New Roman"/>
              </a:rPr>
              <a:t>Chef Guru: A Hybrid RAG and Fine-Tuning Framework for Personalized AI-Powered Recipe Generation</a:t>
            </a:r>
            <a:endParaRPr lang="en-US" sz="1100" dirty="0"/>
          </a:p>
        </p:txBody>
      </p:sp>
      <p:sp>
        <p:nvSpPr>
          <p:cNvPr id="3" name="Slide Number Placeholder 2">
            <a:extLst>
              <a:ext uri="{FF2B5EF4-FFF2-40B4-BE49-F238E27FC236}">
                <a16:creationId xmlns:a16="http://schemas.microsoft.com/office/drawing/2014/main" id="{37E4865D-3BDB-2C3C-780A-744A0E62EC7C}"/>
              </a:ext>
            </a:extLst>
          </p:cNvPr>
          <p:cNvSpPr>
            <a:spLocks noGrp="1"/>
          </p:cNvSpPr>
          <p:nvPr>
            <p:ph type="sldNum" sz="quarter" idx="12"/>
          </p:nvPr>
        </p:nvSpPr>
        <p:spPr/>
        <p:txBody>
          <a:bodyPr/>
          <a:lstStyle/>
          <a:p>
            <a:fld id="{FC6BEB0F-7D1A-4CFC-9A6C-0E77E068DA9D}" type="slidenum">
              <a:rPr lang="en-US" smtClean="0"/>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35"/>
          <p:cNvSpPr txBox="1"/>
          <p:nvPr/>
        </p:nvSpPr>
        <p:spPr>
          <a:xfrm>
            <a:off x="4191000" y="2590800"/>
            <a:ext cx="4572000" cy="769800"/>
          </a:xfrm>
          <a:prstGeom prst="rect">
            <a:avLst/>
          </a:prstGeom>
          <a:noFill/>
          <a:ln>
            <a:noFill/>
          </a:ln>
        </p:spPr>
        <p:txBody>
          <a:bodyPr spcFirstLastPara="1" wrap="square" lIns="91425" tIns="45700" rIns="91425" bIns="45700" anchor="t" anchorCtr="0">
            <a:spAutoFit/>
          </a:bodyPr>
          <a:lstStyle/>
          <a:p>
            <a:pPr>
              <a:buClr>
                <a:srgbClr val="7030A0"/>
              </a:buClr>
              <a:buSzPts val="4400"/>
            </a:pPr>
            <a:r>
              <a:rPr lang="en-US" sz="4400" dirty="0">
                <a:solidFill>
                  <a:srgbClr val="7030A0"/>
                </a:solidFill>
                <a:latin typeface="Times New Roman"/>
                <a:ea typeface="Times New Roman"/>
                <a:cs typeface="Times New Roman"/>
                <a:sym typeface="Times New Roman"/>
              </a:rPr>
              <a:t>THANK YOU</a:t>
            </a:r>
            <a:endParaRPr dirty="0"/>
          </a:p>
        </p:txBody>
      </p:sp>
      <p:sp>
        <p:nvSpPr>
          <p:cNvPr id="2" name="Slide Number Placeholder 1">
            <a:extLst>
              <a:ext uri="{FF2B5EF4-FFF2-40B4-BE49-F238E27FC236}">
                <a16:creationId xmlns:a16="http://schemas.microsoft.com/office/drawing/2014/main" id="{2C3E5B75-B170-943C-BBD5-5EA4EF7519C0}"/>
              </a:ext>
            </a:extLst>
          </p:cNvPr>
          <p:cNvSpPr>
            <a:spLocks noGrp="1"/>
          </p:cNvSpPr>
          <p:nvPr>
            <p:ph type="sldNum" sz="quarter" idx="12"/>
          </p:nvPr>
        </p:nvSpPr>
        <p:spPr/>
        <p:txBody>
          <a:bodyPr/>
          <a:lstStyle/>
          <a:p>
            <a:fld id="{FC6BEB0F-7D1A-4CFC-9A6C-0E77E068DA9D}" type="slidenum">
              <a:rPr lang="en-US" smtClean="0"/>
              <a:t>40</a:t>
            </a:fld>
            <a:endParaRPr lang="en-US" dirty="0"/>
          </a:p>
        </p:txBody>
      </p:sp>
      <p:sp>
        <p:nvSpPr>
          <p:cNvPr id="3" name="Footer Placeholder 2">
            <a:extLst>
              <a:ext uri="{FF2B5EF4-FFF2-40B4-BE49-F238E27FC236}">
                <a16:creationId xmlns:a16="http://schemas.microsoft.com/office/drawing/2014/main" id="{1476D658-D550-F7A3-8532-561E65CF7DF5}"/>
              </a:ext>
            </a:extLst>
          </p:cNvPr>
          <p:cNvSpPr>
            <a:spLocks noGrp="1"/>
          </p:cNvSpPr>
          <p:nvPr>
            <p:ph type="ftr" sz="quarter" idx="11"/>
          </p:nvPr>
        </p:nvSpPr>
        <p:spPr/>
        <p:txBody>
          <a:bodyPr/>
          <a:lstStyle/>
          <a:p>
            <a:r>
              <a:rPr lang="en-US" sz="1100" dirty="0">
                <a:solidFill>
                  <a:schemeClr val="dk1"/>
                </a:solidFill>
                <a:latin typeface="Times New Roman"/>
                <a:ea typeface="Times New Roman"/>
                <a:cs typeface="Times New Roman"/>
                <a:sym typeface="Times New Roman"/>
              </a:rPr>
              <a:t>Chef Guru: A Hybrid RAG and Fine-Tuning Framework for Personalized AI-Powered Recipe Generation</a:t>
            </a:r>
            <a:endParaRPr lang="en-US" sz="1100"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Damask</Template>
  <TotalTime>984</TotalTime>
  <Words>4375</Words>
  <Application>Microsoft Office PowerPoint</Application>
  <PresentationFormat>Widescreen</PresentationFormat>
  <Paragraphs>438</Paragraphs>
  <Slides>40</Slides>
  <Notes>25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40</vt:i4>
      </vt:variant>
    </vt:vector>
  </HeadingPairs>
  <TitlesOfParts>
    <vt:vector size="48" baseType="lpstr">
      <vt:lpstr>Arial</vt:lpstr>
      <vt:lpstr>Calibri</vt:lpstr>
      <vt:lpstr>Carlito</vt:lpstr>
      <vt:lpstr>Rockwell</vt:lpstr>
      <vt:lpstr>Rockwell Condensed</vt:lpstr>
      <vt:lpstr>Times New Roman</vt:lpstr>
      <vt:lpstr>Wingdings</vt:lpstr>
      <vt:lpstr>Wood Type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Srinivas</dc:creator>
  <cp:lastModifiedBy>Nishanth Marineni</cp:lastModifiedBy>
  <cp:revision>36</cp:revision>
  <dcterms:created xsi:type="dcterms:W3CDTF">2026-04-07T09:02:35Z</dcterms:created>
  <dcterms:modified xsi:type="dcterms:W3CDTF">2026-04-18T06:46:56Z</dcterms:modified>
</cp:coreProperties>
</file>